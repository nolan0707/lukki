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16256000" cy="9144000"/>
  <p:notesSz cx="9144000" cy="16256000"/>
  <p:embeddedFontLst>
    <p:embeddedFont>
      <p:font typeface="Quattrocento Sans" charset="-122" pitchFamily="34"/>
      <p:regular r:id="rId76"/>
    </p:embeddedFont>
    <p:embeddedFont>
      <p:font typeface="Liter" charset="-122" pitchFamily="34"/>
      <p:regular r:id="rId7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 Id="rId76" Type="http://schemas.openxmlformats.org/officeDocument/2006/relationships/font" Target="fonts/font1.fntdata"/><Relationship Id="rId7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6858000" y="3048000"/>
            <a:ext cx="2540000" cy="25400"/>
          </a:xfrm>
          <a:prstGeom prst="rect">
            <a:avLst/>
          </a:prstGeom>
          <a:solidFill>
            <a:srgbClr val="C4A265"/>
          </a:solidFill>
          <a:ln/>
        </p:spPr>
      </p:sp>
      <p:sp>
        <p:nvSpPr>
          <p:cNvPr id="3" name="Text 1"/>
          <p:cNvSpPr/>
          <p:nvPr/>
        </p:nvSpPr>
        <p:spPr>
          <a:xfrm>
            <a:off x="1778000" y="3302000"/>
            <a:ext cx="12700000" cy="762000"/>
          </a:xfrm>
          <a:prstGeom prst="rect">
            <a:avLst/>
          </a:prstGeom>
          <a:noFill/>
          <a:ln/>
        </p:spPr>
        <p:txBody>
          <a:bodyPr wrap="none" lIns="0" tIns="0" rIns="0" bIns="0" rtlCol="0" anchor="ctr"/>
          <a:lstStyle/>
          <a:p>
            <a:pPr algn="ctr">
              <a:lnSpc>
                <a:spcPct val="120000"/>
              </a:lnSpc>
            </a:pPr>
            <a:r>
              <a:rPr lang="en-US" sz="4200" b="1" dirty="0">
                <a:solidFill>
                  <a:srgbClr val="E8DCC8"/>
                </a:solidFill>
                <a:latin typeface="Liter" pitchFamily="34" charset="0"/>
                <a:ea typeface="Liter" pitchFamily="34" charset="-122"/>
                <a:cs typeface="Liter" pitchFamily="34" charset="-120"/>
              </a:rPr>
              <a:t>Claude Code Harness Design Philosophy</a:t>
            </a:r>
            <a:endParaRPr lang="en-US" sz="4200" dirty="0"/>
          </a:p>
        </p:txBody>
      </p:sp>
      <p:sp>
        <p:nvSpPr>
          <p:cNvPr id="4" name="Text 2"/>
          <p:cNvSpPr/>
          <p:nvPr/>
        </p:nvSpPr>
        <p:spPr>
          <a:xfrm>
            <a:off x="2413000" y="4318000"/>
            <a:ext cx="11430000" cy="457200"/>
          </a:xfrm>
          <a:prstGeom prst="rect">
            <a:avLst/>
          </a:prstGeom>
          <a:noFill/>
          <a:ln/>
        </p:spPr>
        <p:txBody>
          <a:bodyPr wrap="none" lIns="0" tIns="0" rIns="0" bIns="0" rtlCol="0" anchor="ctr"/>
          <a:lstStyle/>
          <a:p>
            <a:pPr algn="ct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From Architecture Perspective, Deep Source Code Analysis, Layer-by-Layer Decomposition</a:t>
            </a:r>
            <a:endParaRPr lang="en-US" sz="2200" dirty="0"/>
          </a:p>
        </p:txBody>
      </p:sp>
      <p:sp>
        <p:nvSpPr>
          <p:cNvPr id="5" name="Shape 3"/>
          <p:cNvSpPr/>
          <p:nvPr/>
        </p:nvSpPr>
        <p:spPr>
          <a:xfrm>
            <a:off x="6858000" y="5080000"/>
            <a:ext cx="2540000" cy="25400"/>
          </a:xfrm>
          <a:prstGeom prst="rect">
            <a:avLst/>
          </a:prstGeom>
          <a:solidFill>
            <a:srgbClr val="C4A265"/>
          </a:solidFill>
          <a:ln/>
        </p:spPr>
      </p:sp>
      <p:sp>
        <p:nvSpPr>
          <p:cNvPr id="6" name="Text 4"/>
          <p:cNvSpPr/>
          <p:nvPr/>
        </p:nvSpPr>
        <p:spPr>
          <a:xfrm>
            <a:off x="3683000" y="5461000"/>
            <a:ext cx="8890000" cy="355600"/>
          </a:xfrm>
          <a:prstGeom prst="rect">
            <a:avLst/>
          </a:prstGeom>
          <a:noFill/>
          <a:ln/>
        </p:spPr>
        <p:txBody>
          <a:bodyPr wrap="none" lIns="0" tIns="0" rIns="0" bIns="0" rtlCol="0" anchor="ctr"/>
          <a:lstStyle/>
          <a:p>
            <a:pPr algn="ctr">
              <a:lnSpc>
                <a:spcPct val="100000"/>
              </a:lnSpc>
            </a:pPr>
            <a:r>
              <a:rPr lang="en-US" sz="1800" dirty="0">
                <a:solidFill>
                  <a:srgbClr val="9A9590"/>
                </a:solidFill>
                <a:latin typeface="Quattrocento Sans" pitchFamily="34" charset="0"/>
                <a:ea typeface="Quattrocento Sans" pitchFamily="34" charset="-122"/>
                <a:cs typeface="Quattrocento Sans" pitchFamily="34" charset="-120"/>
              </a:rPr>
              <a:t>A 4-Hour Technical Deep Dive for Architects and Senior Engineers</a:t>
            </a:r>
            <a:endParaRPr lang="en-US" sz="1600" dirty="0"/>
          </a:p>
        </p:txBody>
      </p:sp>
      <p:sp>
        <p:nvSpPr>
          <p:cNvPr id="7" name="Text 5"/>
          <p:cNvSpPr/>
          <p:nvPr/>
        </p:nvSpPr>
        <p:spPr>
          <a:xfrm>
            <a:off x="4318000" y="5969000"/>
            <a:ext cx="7620000" cy="304800"/>
          </a:xfrm>
          <a:prstGeom prst="rect">
            <a:avLst/>
          </a:prstGeom>
          <a:noFill/>
          <a:ln/>
        </p:spPr>
        <p:txBody>
          <a:bodyPr wrap="none" lIns="0" tIns="0" rIns="0" bIns="0" rtlCol="0" anchor="ctr"/>
          <a:lstStyle/>
          <a:p>
            <a:pPr algn="ctr">
              <a:lnSpc>
                <a:spcPct val="100000"/>
              </a:lnSpc>
            </a:pPr>
            <a:r>
              <a:rPr lang="en-US" sz="1600" dirty="0">
                <a:solidFill>
                  <a:srgbClr val="9A9590"/>
                </a:solidFill>
                <a:latin typeface="Quattrocento Sans" pitchFamily="34" charset="0"/>
                <a:ea typeface="Quattrocento Sans" pitchFamily="34" charset="-122"/>
                <a:cs typeface="Quattrocento Sans" pitchFamily="34" charset="-120"/>
              </a:rPr>
              <a:t>Based on vendor/Claude-code-open/src/ Source Code Analysis</a:t>
            </a:r>
            <a:endParaRPr lang="en-US" sz="1600" dirty="0"/>
          </a:p>
        </p:txBody>
      </p:sp>
      <p:sp>
        <p:nvSpPr>
          <p:cNvPr id="8" name="Shape 6"/>
          <p:cNvSpPr/>
          <p:nvPr/>
        </p:nvSpPr>
        <p:spPr>
          <a:xfrm>
            <a:off x="762000" y="7874000"/>
            <a:ext cx="508000" cy="25400"/>
          </a:xfrm>
          <a:prstGeom prst="rect">
            <a:avLst/>
          </a:prstGeom>
          <a:solidFill>
            <a:srgbClr val="3A3A3E"/>
          </a:solidFill>
          <a:ln/>
        </p:spPr>
      </p:sp>
      <p:sp>
        <p:nvSpPr>
          <p:cNvPr id="9" name="Shape 7"/>
          <p:cNvSpPr/>
          <p:nvPr/>
        </p:nvSpPr>
        <p:spPr>
          <a:xfrm>
            <a:off x="14986000" y="7874000"/>
            <a:ext cx="508000" cy="25400"/>
          </a:xfrm>
          <a:prstGeom prst="rect">
            <a:avLst/>
          </a:prstGeom>
          <a:solidFill>
            <a:srgbClr val="3A3A3E"/>
          </a:solidFill>
          <a:ln/>
        </p:spPr>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635000"/>
            <a:ext cx="3810000" cy="2794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CONTENTS</a:t>
            </a:r>
            <a:endParaRPr lang="en-US" sz="1200" dirty="0"/>
          </a:p>
        </p:txBody>
      </p:sp>
      <p:sp>
        <p:nvSpPr>
          <p:cNvPr id="3" name="Text 1"/>
          <p:cNvSpPr/>
          <p:nvPr/>
        </p:nvSpPr>
        <p:spPr>
          <a:xfrm>
            <a:off x="762000" y="1016000"/>
            <a:ext cx="5080000" cy="635000"/>
          </a:xfrm>
          <a:prstGeom prst="rect">
            <a:avLst/>
          </a:prstGeom>
          <a:noFill/>
          <a:ln/>
        </p:spPr>
        <p:txBody>
          <a:bodyPr wrap="none" lIns="0" tIns="0" rIns="0" bIns="0" rtlCol="0" anchor="ctr"/>
          <a:lstStyle/>
          <a:p>
            <a:pPr>
              <a:lnSpc>
                <a:spcPct val="130000"/>
              </a:lnSpc>
            </a:pPr>
            <a:r>
              <a:rPr lang="en-US" sz="3600" b="1" dirty="0">
                <a:solidFill>
                  <a:srgbClr val="E8DCC8"/>
                </a:solidFill>
                <a:latin typeface="Liter" pitchFamily="34" charset="0"/>
                <a:ea typeface="Liter" pitchFamily="34" charset="-122"/>
                <a:cs typeface="Liter" pitchFamily="34" charset="-120"/>
              </a:rPr>
              <a:t>Table of Contents</a:t>
            </a:r>
            <a:endParaRPr lang="en-US" sz="2800" dirty="0"/>
          </a:p>
        </p:txBody>
      </p:sp>
      <p:sp>
        <p:nvSpPr>
          <p:cNvPr id="4" name="Shape 2"/>
          <p:cNvSpPr/>
          <p:nvPr/>
        </p:nvSpPr>
        <p:spPr>
          <a:xfrm>
            <a:off x="762000" y="1778000"/>
            <a:ext cx="14732000" cy="12700"/>
          </a:xfrm>
          <a:prstGeom prst="rect">
            <a:avLst/>
          </a:prstGeom>
          <a:solidFill>
            <a:srgbClr val="3A3A3E"/>
          </a:solidFill>
          <a:ln/>
        </p:spPr>
      </p:sp>
      <p:sp>
        <p:nvSpPr>
          <p:cNvPr id="5" name="Text 3"/>
          <p:cNvSpPr/>
          <p:nvPr/>
        </p:nvSpPr>
        <p:spPr>
          <a:xfrm>
            <a:off x="762000" y="2032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01</a:t>
            </a:r>
            <a:endParaRPr lang="en-US" sz="3200" dirty="0"/>
          </a:p>
        </p:txBody>
      </p:sp>
      <p:sp>
        <p:nvSpPr>
          <p:cNvPr id="6" name="Text 4"/>
          <p:cNvSpPr/>
          <p:nvPr/>
        </p:nvSpPr>
        <p:spPr>
          <a:xfrm>
            <a:off x="1397000" y="2057400"/>
            <a:ext cx="5969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Architecture Overview</a:t>
            </a:r>
            <a:endParaRPr lang="en-US" sz="1600" dirty="0"/>
          </a:p>
        </p:txBody>
      </p:sp>
      <p:sp>
        <p:nvSpPr>
          <p:cNvPr id="7" name="Text 5"/>
          <p:cNvSpPr/>
          <p:nvPr/>
        </p:nvSpPr>
        <p:spPr>
          <a:xfrm>
            <a:off x="1397000" y="2413000"/>
            <a:ext cx="5969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Agent OS, five-layer decomposition, core design principles</a:t>
            </a:r>
            <a:endParaRPr lang="en-US" sz="1300" dirty="0"/>
          </a:p>
        </p:txBody>
      </p:sp>
      <p:sp>
        <p:nvSpPr>
          <p:cNvPr id="8" name="Text 6"/>
          <p:cNvSpPr/>
          <p:nvPr/>
        </p:nvSpPr>
        <p:spPr>
          <a:xfrm>
            <a:off x="762000" y="2921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02</a:t>
            </a:r>
            <a:endParaRPr lang="en-US" sz="3200" dirty="0"/>
          </a:p>
        </p:txBody>
      </p:sp>
      <p:sp>
        <p:nvSpPr>
          <p:cNvPr id="9" name="Text 7"/>
          <p:cNvSpPr/>
          <p:nvPr/>
        </p:nvSpPr>
        <p:spPr>
          <a:xfrm>
            <a:off x="1397000" y="2946400"/>
            <a:ext cx="5969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Conversation Execution Engine</a:t>
            </a:r>
            <a:endParaRPr lang="en-US" sz="1600" dirty="0"/>
          </a:p>
        </p:txBody>
      </p:sp>
      <p:sp>
        <p:nvSpPr>
          <p:cNvPr id="10" name="Text 8"/>
          <p:cNvSpPr/>
          <p:nvPr/>
        </p:nvSpPr>
        <p:spPr>
          <a:xfrm>
            <a:off x="1397000" y="3302000"/>
            <a:ext cx="5969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QueryEngine, query.ts, streaming, model fallback</a:t>
            </a:r>
            <a:endParaRPr lang="en-US" sz="1300" dirty="0"/>
          </a:p>
        </p:txBody>
      </p:sp>
      <p:sp>
        <p:nvSpPr>
          <p:cNvPr id="11" name="Text 9"/>
          <p:cNvSpPr/>
          <p:nvPr/>
        </p:nvSpPr>
        <p:spPr>
          <a:xfrm>
            <a:off x="762000" y="3810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03</a:t>
            </a:r>
            <a:endParaRPr lang="en-US" sz="3200" dirty="0"/>
          </a:p>
        </p:txBody>
      </p:sp>
      <p:sp>
        <p:nvSpPr>
          <p:cNvPr id="12" name="Text 10"/>
          <p:cNvSpPr/>
          <p:nvPr/>
        </p:nvSpPr>
        <p:spPr>
          <a:xfrm>
            <a:off x="1397000" y="3835400"/>
            <a:ext cx="5969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Command &amp; Tool Architecture</a:t>
            </a:r>
            <a:endParaRPr lang="en-US" sz="1600" dirty="0"/>
          </a:p>
        </p:txBody>
      </p:sp>
      <p:sp>
        <p:nvSpPr>
          <p:cNvPr id="13" name="Text 11"/>
          <p:cNvSpPr/>
          <p:nvPr/>
        </p:nvSpPr>
        <p:spPr>
          <a:xfrm>
            <a:off x="1397000" y="4191000"/>
            <a:ext cx="5969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Commands vs Tools, Tool protocol, ToolSet assembly</a:t>
            </a:r>
            <a:endParaRPr lang="en-US" sz="1300" dirty="0"/>
          </a:p>
        </p:txBody>
      </p:sp>
      <p:sp>
        <p:nvSpPr>
          <p:cNvPr id="14" name="Text 12"/>
          <p:cNvSpPr/>
          <p:nvPr/>
        </p:nvSpPr>
        <p:spPr>
          <a:xfrm>
            <a:off x="762000" y="4699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04</a:t>
            </a:r>
            <a:endParaRPr lang="en-US" sz="3200" dirty="0"/>
          </a:p>
        </p:txBody>
      </p:sp>
      <p:sp>
        <p:nvSpPr>
          <p:cNvPr id="15" name="Text 13"/>
          <p:cNvSpPr/>
          <p:nvPr/>
        </p:nvSpPr>
        <p:spPr>
          <a:xfrm>
            <a:off x="1397000" y="4724400"/>
            <a:ext cx="5969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MCP Integration</a:t>
            </a:r>
            <a:endParaRPr lang="en-US" sz="1600" dirty="0"/>
          </a:p>
        </p:txBody>
      </p:sp>
      <p:sp>
        <p:nvSpPr>
          <p:cNvPr id="16" name="Text 14"/>
          <p:cNvSpPr/>
          <p:nvPr/>
        </p:nvSpPr>
        <p:spPr>
          <a:xfrm>
            <a:off x="1397000" y="5080000"/>
            <a:ext cx="5969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Four-layer MCP architecture, connection state machine</a:t>
            </a:r>
            <a:endParaRPr lang="en-US" sz="1300" dirty="0"/>
          </a:p>
        </p:txBody>
      </p:sp>
      <p:sp>
        <p:nvSpPr>
          <p:cNvPr id="17" name="Text 15"/>
          <p:cNvSpPr/>
          <p:nvPr/>
        </p:nvSpPr>
        <p:spPr>
          <a:xfrm>
            <a:off x="762000" y="5588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05</a:t>
            </a:r>
            <a:endParaRPr lang="en-US" sz="3200" dirty="0"/>
          </a:p>
        </p:txBody>
      </p:sp>
      <p:sp>
        <p:nvSpPr>
          <p:cNvPr id="18" name="Text 16"/>
          <p:cNvSpPr/>
          <p:nvPr/>
        </p:nvSpPr>
        <p:spPr>
          <a:xfrm>
            <a:off x="1397000" y="5613400"/>
            <a:ext cx="5969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Tool Execution Harness</a:t>
            </a:r>
            <a:endParaRPr lang="en-US" sz="1600" dirty="0"/>
          </a:p>
        </p:txBody>
      </p:sp>
      <p:sp>
        <p:nvSpPr>
          <p:cNvPr id="19" name="Text 17"/>
          <p:cNvSpPr/>
          <p:nvPr/>
        </p:nvSpPr>
        <p:spPr>
          <a:xfrm>
            <a:off x="1397000" y="5969000"/>
            <a:ext cx="5969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Partition, streaming executor, hooks, pairing guarantee</a:t>
            </a:r>
            <a:endParaRPr lang="en-US" sz="1300" dirty="0"/>
          </a:p>
        </p:txBody>
      </p:sp>
      <p:sp>
        <p:nvSpPr>
          <p:cNvPr id="20" name="Text 18"/>
          <p:cNvSpPr/>
          <p:nvPr/>
        </p:nvSpPr>
        <p:spPr>
          <a:xfrm>
            <a:off x="762000" y="6477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06</a:t>
            </a:r>
            <a:endParaRPr lang="en-US" sz="3200" dirty="0"/>
          </a:p>
        </p:txBody>
      </p:sp>
      <p:sp>
        <p:nvSpPr>
          <p:cNvPr id="21" name="Text 19"/>
          <p:cNvSpPr/>
          <p:nvPr/>
        </p:nvSpPr>
        <p:spPr>
          <a:xfrm>
            <a:off x="1397000" y="6502400"/>
            <a:ext cx="5969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Bash Security Harness</a:t>
            </a:r>
            <a:endParaRPr lang="en-US" sz="1600" dirty="0"/>
          </a:p>
        </p:txBody>
      </p:sp>
      <p:sp>
        <p:nvSpPr>
          <p:cNvPr id="22" name="Text 20"/>
          <p:cNvSpPr/>
          <p:nvPr/>
        </p:nvSpPr>
        <p:spPr>
          <a:xfrm>
            <a:off x="1397000" y="6858000"/>
            <a:ext cx="5969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AST analysis, permission governance, runtime sandbox</a:t>
            </a:r>
            <a:endParaRPr lang="en-US" sz="1300" dirty="0"/>
          </a:p>
        </p:txBody>
      </p:sp>
      <p:sp>
        <p:nvSpPr>
          <p:cNvPr id="23" name="Text 21"/>
          <p:cNvSpPr/>
          <p:nvPr/>
        </p:nvSpPr>
        <p:spPr>
          <a:xfrm>
            <a:off x="8382000" y="2032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07</a:t>
            </a:r>
            <a:endParaRPr lang="en-US" sz="3200" dirty="0"/>
          </a:p>
        </p:txBody>
      </p:sp>
      <p:sp>
        <p:nvSpPr>
          <p:cNvPr id="24" name="Text 22"/>
          <p:cNvSpPr/>
          <p:nvPr/>
        </p:nvSpPr>
        <p:spPr>
          <a:xfrm>
            <a:off x="9017000" y="2057400"/>
            <a:ext cx="6477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Permission System</a:t>
            </a:r>
            <a:endParaRPr lang="en-US" sz="1600" dirty="0"/>
          </a:p>
        </p:txBody>
      </p:sp>
      <p:sp>
        <p:nvSpPr>
          <p:cNvPr id="25" name="Text 23"/>
          <p:cNvSpPr/>
          <p:nvPr/>
        </p:nvSpPr>
        <p:spPr>
          <a:xfrm>
            <a:off x="9017000" y="2413000"/>
            <a:ext cx="6477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Four-layer decision stack, auto mode, mailbox approval</a:t>
            </a:r>
            <a:endParaRPr lang="en-US" sz="1300" dirty="0"/>
          </a:p>
        </p:txBody>
      </p:sp>
      <p:sp>
        <p:nvSpPr>
          <p:cNvPr id="26" name="Text 24"/>
          <p:cNvSpPr/>
          <p:nvPr/>
        </p:nvSpPr>
        <p:spPr>
          <a:xfrm>
            <a:off x="8382000" y="2921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08</a:t>
            </a:r>
            <a:endParaRPr lang="en-US" sz="3200" dirty="0"/>
          </a:p>
        </p:txBody>
      </p:sp>
      <p:sp>
        <p:nvSpPr>
          <p:cNvPr id="27" name="Text 25"/>
          <p:cNvSpPr/>
          <p:nvPr/>
        </p:nvSpPr>
        <p:spPr>
          <a:xfrm>
            <a:off x="9017000" y="2946400"/>
            <a:ext cx="6477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Context &amp; Memory Management</a:t>
            </a:r>
            <a:endParaRPr lang="en-US" sz="1600" dirty="0"/>
          </a:p>
        </p:txBody>
      </p:sp>
      <p:sp>
        <p:nvSpPr>
          <p:cNvPr id="28" name="Text 26"/>
          <p:cNvSpPr/>
          <p:nvPr/>
        </p:nvSpPr>
        <p:spPr>
          <a:xfrm>
            <a:off x="9017000" y="3302000"/>
            <a:ext cx="6477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Compression pipeline, autoDream, KAIROS mode</a:t>
            </a:r>
            <a:endParaRPr lang="en-US" sz="1300" dirty="0"/>
          </a:p>
        </p:txBody>
      </p:sp>
      <p:sp>
        <p:nvSpPr>
          <p:cNvPr id="29" name="Text 27"/>
          <p:cNvSpPr/>
          <p:nvPr/>
        </p:nvSpPr>
        <p:spPr>
          <a:xfrm>
            <a:off x="8382000" y="3810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09</a:t>
            </a:r>
            <a:endParaRPr lang="en-US" sz="3200" dirty="0"/>
          </a:p>
        </p:txBody>
      </p:sp>
      <p:sp>
        <p:nvSpPr>
          <p:cNvPr id="30" name="Text 28"/>
          <p:cNvSpPr/>
          <p:nvPr/>
        </p:nvSpPr>
        <p:spPr>
          <a:xfrm>
            <a:off x="9017000" y="3835400"/>
            <a:ext cx="6477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Reliability Engineering</a:t>
            </a:r>
            <a:endParaRPr lang="en-US" sz="1600" dirty="0"/>
          </a:p>
        </p:txBody>
      </p:sp>
      <p:sp>
        <p:nvSpPr>
          <p:cNvPr id="31" name="Text 29"/>
          <p:cNvSpPr/>
          <p:nvPr/>
        </p:nvSpPr>
        <p:spPr>
          <a:xfrm>
            <a:off x="9017000" y="4191000"/>
            <a:ext cx="6477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Retry policies, overflow recovery, death spiral prevention</a:t>
            </a:r>
            <a:endParaRPr lang="en-US" sz="1300" dirty="0"/>
          </a:p>
        </p:txBody>
      </p:sp>
      <p:sp>
        <p:nvSpPr>
          <p:cNvPr id="32" name="Text 30"/>
          <p:cNvSpPr/>
          <p:nvPr/>
        </p:nvSpPr>
        <p:spPr>
          <a:xfrm>
            <a:off x="8382000" y="4699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10</a:t>
            </a:r>
            <a:endParaRPr lang="en-US" sz="3200" dirty="0"/>
          </a:p>
        </p:txBody>
      </p:sp>
      <p:sp>
        <p:nvSpPr>
          <p:cNvPr id="33" name="Text 31"/>
          <p:cNvSpPr/>
          <p:nvPr/>
        </p:nvSpPr>
        <p:spPr>
          <a:xfrm>
            <a:off x="9017000" y="4724400"/>
            <a:ext cx="6477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Subagent Coordination</a:t>
            </a:r>
            <a:endParaRPr lang="en-US" sz="1600" dirty="0"/>
          </a:p>
        </p:txBody>
      </p:sp>
      <p:sp>
        <p:nvSpPr>
          <p:cNvPr id="34" name="Text 32"/>
          <p:cNvSpPr/>
          <p:nvPr/>
        </p:nvSpPr>
        <p:spPr>
          <a:xfrm>
            <a:off x="9017000" y="5080000"/>
            <a:ext cx="6477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AgentTool, coordinator mode, mailbox communication</a:t>
            </a:r>
            <a:endParaRPr lang="en-US" sz="1300" dirty="0"/>
          </a:p>
        </p:txBody>
      </p:sp>
      <p:sp>
        <p:nvSpPr>
          <p:cNvPr id="35" name="Text 33"/>
          <p:cNvSpPr/>
          <p:nvPr/>
        </p:nvSpPr>
        <p:spPr>
          <a:xfrm>
            <a:off x="8382000" y="5588000"/>
            <a:ext cx="635000" cy="508000"/>
          </a:xfrm>
          <a:prstGeom prst="rect">
            <a:avLst/>
          </a:prstGeom>
          <a:noFill/>
          <a:ln/>
        </p:spPr>
        <p:txBody>
          <a:bodyPr wrap="none" lIns="0" tIns="0" rIns="0" bIns="0" rtlCol="0" anchor="t"/>
          <a:lstStyle/>
          <a:p>
            <a:pPr>
              <a:lnSpc>
                <a:spcPct val="120000"/>
              </a:lnSpc>
            </a:pPr>
            <a:r>
              <a:rPr lang="en-US" sz="3200" dirty="0">
                <a:solidFill>
                  <a:srgbClr val="C4A265"/>
                </a:solidFill>
                <a:latin typeface="Liter" pitchFamily="34" charset="0"/>
                <a:ea typeface="Liter" pitchFamily="34" charset="-122"/>
                <a:cs typeface="Liter" pitchFamily="34" charset="-120"/>
              </a:rPr>
              <a:t>11</a:t>
            </a:r>
            <a:endParaRPr lang="en-US" sz="3200" dirty="0"/>
          </a:p>
        </p:txBody>
      </p:sp>
      <p:sp>
        <p:nvSpPr>
          <p:cNvPr id="36" name="Text 34"/>
          <p:cNvSpPr/>
          <p:nvPr/>
        </p:nvSpPr>
        <p:spPr>
          <a:xfrm>
            <a:off x="9017000" y="5613400"/>
            <a:ext cx="6477000" cy="330200"/>
          </a:xfrm>
          <a:prstGeom prst="rect">
            <a:avLst/>
          </a:prstGeom>
          <a:noFill/>
          <a:ln/>
        </p:spPr>
        <p:txBody>
          <a:bodyPr wrap="none" lIns="0" tIns="0" rIns="0" bIns="0" rtlCol="0" anchor="ctr"/>
          <a:lstStyle/>
          <a:p>
            <a:pPr>
              <a:lnSpc>
                <a:spcPct val="100000"/>
              </a:lnSpc>
            </a:pPr>
            <a:r>
              <a:rPr lang="en-US" sz="1800" b="1" dirty="0">
                <a:solidFill>
                  <a:srgbClr val="E8DCC8"/>
                </a:solidFill>
                <a:latin typeface="Liter" pitchFamily="34" charset="0"/>
                <a:ea typeface="Liter" pitchFamily="34" charset="-122"/>
                <a:cs typeface="Liter" pitchFamily="34" charset="-120"/>
              </a:rPr>
              <a:t>Design Philosophy &amp; Takeaways</a:t>
            </a:r>
            <a:endParaRPr lang="en-US" sz="1600" dirty="0"/>
          </a:p>
        </p:txBody>
      </p:sp>
      <p:sp>
        <p:nvSpPr>
          <p:cNvPr id="37" name="Text 35"/>
          <p:cNvSpPr/>
          <p:nvPr/>
        </p:nvSpPr>
        <p:spPr>
          <a:xfrm>
            <a:off x="9017000" y="5969000"/>
            <a:ext cx="6477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Three principles, architecture trade-offs</a:t>
            </a:r>
            <a:endParaRPr lang="en-US" sz="1300" dirty="0"/>
          </a:p>
        </p:txBody>
      </p:sp>
      <p:sp>
        <p:nvSpPr>
          <p:cNvPr id="38" name="Shape 36"/>
          <p:cNvSpPr/>
          <p:nvPr/>
        </p:nvSpPr>
        <p:spPr>
          <a:xfrm>
            <a:off x="762000" y="8636000"/>
            <a:ext cx="14732000" cy="12700"/>
          </a:xfrm>
          <a:prstGeom prst="rect">
            <a:avLst/>
          </a:prstGeom>
          <a:solidFill>
            <a:srgbClr val="3A3A3E"/>
          </a:solidFill>
          <a:ln/>
        </p:spPr>
      </p:sp>
      <p:sp>
        <p:nvSpPr>
          <p:cNvPr id="39" name="Text 37"/>
          <p:cNvSpPr/>
          <p:nvPr/>
        </p:nvSpPr>
        <p:spPr>
          <a:xfrm>
            <a:off x="762000" y="8763000"/>
            <a:ext cx="508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Claude Code Harness Design Philosophy</a:t>
            </a:r>
            <a:endParaRPr lang="en-US" sz="13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01</a:t>
            </a:r>
            <a:endParaRPr lang="en-US" sz="12000" dirty="0"/>
          </a:p>
        </p:txBody>
      </p:sp>
      <p:sp>
        <p:nvSpPr>
          <p:cNvPr id="3" name="Text 1"/>
          <p:cNvSpPr/>
          <p:nvPr/>
        </p:nvSpPr>
        <p:spPr>
          <a:xfrm>
            <a:off x="762000" y="3048000"/>
            <a:ext cx="254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ONE</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016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Architecture Overview</a:t>
            </a:r>
            <a:endParaRPr lang="en-US" sz="3800" dirty="0"/>
          </a:p>
        </p:txBody>
      </p:sp>
      <p:sp>
        <p:nvSpPr>
          <p:cNvPr id="6" name="Text 4"/>
          <p:cNvSpPr/>
          <p:nvPr/>
        </p:nvSpPr>
        <p:spPr>
          <a:xfrm>
            <a:off x="762000" y="4699000"/>
            <a:ext cx="889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Understanding Claude Code as an "Agent OS" — not merely a CLI, but a local-first AI Agent platform with layered harness architecture</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381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01 ARCHITECTURE OVERVIEW</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What is Claude Code? Beyond a CLI</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6858000" cy="1016000"/>
          </a:xfrm>
          <a:prstGeom prst="rect">
            <a:avLst/>
          </a:prstGeom>
          <a:noFill/>
          <a:ln/>
        </p:spPr>
        <p:txBody>
          <a:bodyPr wrap="square" lIns="0" tIns="0" rIns="0" bIns="0" rtlCol="0" anchor="t"/>
          <a:lstStyle/>
          <a:p>
            <a:pPr>
              <a:lnSpc>
                <a:spcPct val="160000"/>
              </a:lnSpc>
            </a:pPr>
            <a:r>
              <a:rPr lang="en-US" sz="1800" dirty="0">
                <a:solidFill>
                  <a:srgbClr val="E8DCC8"/>
                </a:solidFill>
                <a:latin typeface="QuattrocentoSans" pitchFamily="34" charset="0"/>
                <a:ea typeface="QuattrocentoSans" pitchFamily="34" charset="-122"/>
                <a:cs typeface="QuattrocentoSans" pitchFamily="34" charset="-120"/>
              </a:rPr>
              <a:t>Claude Code is </a:t>
            </a:r>
            <a:pPr>
              <a:lnSpc>
                <a:spcPct val="160000"/>
              </a:lnSpc>
            </a:pPr>
            <a:r>
              <a:rPr lang="en-US" sz="1800" b="1" dirty="0">
                <a:solidFill>
                  <a:srgbClr val="C4A265"/>
                </a:solidFill>
                <a:latin typeface="QuattrocentoSans" pitchFamily="34" charset="0"/>
                <a:ea typeface="QuattrocentoSans" pitchFamily="34" charset="-122"/>
                <a:cs typeface="QuattrocentoSans" pitchFamily="34" charset="-120"/>
              </a:rPr>
              <a:t>a local-first AI Agent platform</a:t>
            </a:r>
            <a:pPr>
              <a:lnSpc>
                <a:spcPct val="160000"/>
              </a:lnSpc>
            </a:pPr>
            <a:r>
              <a:rPr lang="en-US" sz="1800" dirty="0">
                <a:solidFill>
                  <a:srgbClr val="E8DCC8"/>
                </a:solidFill>
                <a:latin typeface="QuattrocentoSans" pitchFamily="34" charset="0"/>
                <a:ea typeface="QuattrocentoSans" pitchFamily="34" charset="-122"/>
                <a:cs typeface="QuattrocentoSans" pitchFamily="34" charset="-120"/>
              </a:rPr>
              <a:t>, not "just a CLI that calls LLM". Built on </a:t>
            </a:r>
            <a:pPr>
              <a:lnSpc>
                <a:spcPct val="160000"/>
              </a:lnSpc>
            </a:pPr>
            <a:r>
              <a:rPr lang="en-US" sz="1800" b="1" dirty="0">
                <a:solidFill>
                  <a:srgbClr val="E8DCC8"/>
                </a:solidFill>
                <a:latin typeface="QuattrocentoSans" pitchFamily="34" charset="0"/>
                <a:ea typeface="QuattrocentoSans" pitchFamily="34" charset="-122"/>
                <a:cs typeface="QuattrocentoSans" pitchFamily="34" charset="-120"/>
              </a:rPr>
              <a:t>Bun + TypeScript</a:t>
            </a:r>
            <a:pPr>
              <a:lnSpc>
                <a:spcPct val="160000"/>
              </a:lnSpc>
            </a:pPr>
            <a:r>
              <a:rPr lang="en-US" sz="1800" dirty="0">
                <a:solidFill>
                  <a:srgbClr val="E8DCC8"/>
                </a:solidFill>
                <a:latin typeface="QuattrocentoSans" pitchFamily="34" charset="0"/>
                <a:ea typeface="QuattrocentoSans" pitchFamily="34" charset="-122"/>
                <a:cs typeface="QuattrocentoSans" pitchFamily="34" charset="-120"/>
              </a:rPr>
              <a:t> runtime, </a:t>
            </a:r>
            <a:pPr>
              <a:lnSpc>
                <a:spcPct val="160000"/>
              </a:lnSpc>
            </a:pPr>
            <a:r>
              <a:rPr lang="en-US" sz="1800" b="1" dirty="0">
                <a:solidFill>
                  <a:srgbClr val="E8DCC8"/>
                </a:solidFill>
                <a:latin typeface="QuattrocentoSans" pitchFamily="34" charset="0"/>
                <a:ea typeface="QuattrocentoSans" pitchFamily="34" charset="-122"/>
                <a:cs typeface="QuattrocentoSans" pitchFamily="34" charset="-120"/>
              </a:rPr>
              <a:t>React + Ink</a:t>
            </a:r>
            <a:pPr>
              <a:lnSpc>
                <a:spcPct val="160000"/>
              </a:lnSpc>
            </a:pPr>
            <a:r>
              <a:rPr lang="en-US" sz="1800" dirty="0">
                <a:solidFill>
                  <a:srgbClr val="E8DCC8"/>
                </a:solidFill>
                <a:latin typeface="QuattrocentoSans" pitchFamily="34" charset="0"/>
                <a:ea typeface="QuattrocentoSans" pitchFamily="34" charset="-122"/>
                <a:cs typeface="QuattrocentoSans" pitchFamily="34" charset="-120"/>
              </a:rPr>
              <a:t> terminal UI.</a:t>
            </a:r>
            <a:endParaRPr lang="en-US" sz="1800" dirty="0"/>
          </a:p>
        </p:txBody>
      </p:sp>
      <p:sp>
        <p:nvSpPr>
          <p:cNvPr id="6" name="Shape 4"/>
          <p:cNvSpPr/>
          <p:nvPr/>
        </p:nvSpPr>
        <p:spPr>
          <a:xfrm>
            <a:off x="8128000" y="1460500"/>
            <a:ext cx="7366000" cy="1016000"/>
          </a:xfrm>
          <a:prstGeom prst="roundRect">
            <a:avLst>
              <a:gd name="adj" fmla="val 4000"/>
            </a:avLst>
          </a:prstGeom>
          <a:solidFill>
            <a:srgbClr val="161618"/>
          </a:solidFill>
          <a:ln/>
        </p:spPr>
      </p:sp>
      <p:sp>
        <p:nvSpPr>
          <p:cNvPr id="7" name="Text 5"/>
          <p:cNvSpPr/>
          <p:nvPr/>
        </p:nvSpPr>
        <p:spPr>
          <a:xfrm>
            <a:off x="8382000" y="1587500"/>
            <a:ext cx="6858000" cy="762000"/>
          </a:xfrm>
          <a:prstGeom prst="rect">
            <a:avLst/>
          </a:prstGeom>
          <a:noFill/>
          <a:ln/>
        </p:spPr>
        <p:txBody>
          <a:bodyPr wrap="square" lIns="0" tIns="0" rIns="0" bIns="0" rtlCol="0" anchor="ctr"/>
          <a:lstStyle/>
          <a:p>
            <a:pPr>
              <a:lnSpc>
                <a:spcPct val="150000"/>
              </a:lnSpc>
            </a:pPr>
            <a:r>
              <a:rPr lang="en-US" sz="1400" dirty="0">
                <a:solidFill>
                  <a:srgbClr val="C4A265"/>
                </a:solidFill>
                <a:latin typeface="MiSans" pitchFamily="34" charset="0"/>
                <a:ea typeface="MiSans" pitchFamily="34" charset="-122"/>
                <a:cs typeface="MiSans" pitchFamily="34" charset="-120"/>
              </a:rPr>
              <a:t>// Core: Not a wrapper, but a platform</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src/main.tsx | src/screens/REPL.tsx</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Bun + React Ink + TypeScript</a:t>
            </a:r>
            <a:endParaRPr lang="en-US" sz="1600" dirty="0"/>
          </a:p>
        </p:txBody>
      </p:sp>
      <p:sp>
        <p:nvSpPr>
          <p:cNvPr id="8" name="Text 6"/>
          <p:cNvSpPr/>
          <p:nvPr/>
        </p:nvSpPr>
        <p:spPr>
          <a:xfrm>
            <a:off x="762000" y="2667000"/>
            <a:ext cx="381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Core Capabilities</a:t>
            </a:r>
            <a:endParaRPr lang="en-US" sz="2200" dirty="0"/>
          </a:p>
        </p:txBody>
      </p:sp>
      <p:sp>
        <p:nvSpPr>
          <p:cNvPr id="9" name="Shape 7"/>
          <p:cNvSpPr/>
          <p:nvPr/>
        </p:nvSpPr>
        <p:spPr>
          <a:xfrm>
            <a:off x="762000" y="3149600"/>
            <a:ext cx="4699000" cy="1143000"/>
          </a:xfrm>
          <a:prstGeom prst="rect">
            <a:avLst/>
          </a:prstGeom>
          <a:solidFill>
            <a:srgbClr val="161618"/>
          </a:solidFill>
          <a:ln/>
        </p:spPr>
      </p:sp>
      <p:sp>
        <p:nvSpPr>
          <p:cNvPr id="10" name="Shape 8"/>
          <p:cNvSpPr/>
          <p:nvPr/>
        </p:nvSpPr>
        <p:spPr>
          <a:xfrm>
            <a:off x="996950" y="3340100"/>
            <a:ext cx="342900" cy="304800"/>
          </a:xfrm>
          <a:custGeom>
            <a:avLst/>
            <a:gdLst/>
            <a:ahLst/>
            <a:cxnLst/>
            <a:rect l="l" t="t" r="r" b="b"/>
            <a:pathLst>
              <a:path w="342900" h="304800">
                <a:moveTo>
                  <a:pt x="45363" y="154007"/>
                </a:moveTo>
                <a:cubicBezTo>
                  <a:pt x="48994" y="144959"/>
                  <a:pt x="47744" y="134600"/>
                  <a:pt x="42029" y="126682"/>
                </a:cubicBezTo>
                <a:cubicBezTo>
                  <a:pt x="33397" y="114717"/>
                  <a:pt x="28575" y="100667"/>
                  <a:pt x="28575" y="85725"/>
                </a:cubicBezTo>
                <a:cubicBezTo>
                  <a:pt x="28575" y="45958"/>
                  <a:pt x="64591" y="9525"/>
                  <a:pt x="114300" y="9525"/>
                </a:cubicBezTo>
                <a:cubicBezTo>
                  <a:pt x="164009" y="9525"/>
                  <a:pt x="200025" y="45958"/>
                  <a:pt x="200025" y="85725"/>
                </a:cubicBezTo>
                <a:cubicBezTo>
                  <a:pt x="200025" y="125492"/>
                  <a:pt x="164009" y="161925"/>
                  <a:pt x="114300" y="161925"/>
                </a:cubicBezTo>
                <a:cubicBezTo>
                  <a:pt x="104835" y="161925"/>
                  <a:pt x="95786" y="160556"/>
                  <a:pt x="87332" y="158055"/>
                </a:cubicBezTo>
                <a:cubicBezTo>
                  <a:pt x="81201" y="156210"/>
                  <a:pt x="74593" y="156567"/>
                  <a:pt x="68640" y="158948"/>
                </a:cubicBezTo>
                <a:lnTo>
                  <a:pt x="38636" y="170974"/>
                </a:lnTo>
                <a:lnTo>
                  <a:pt x="45422" y="154007"/>
                </a:lnTo>
                <a:close/>
                <a:moveTo>
                  <a:pt x="0" y="85725"/>
                </a:moveTo>
                <a:cubicBezTo>
                  <a:pt x="0" y="107037"/>
                  <a:pt x="6906" y="126861"/>
                  <a:pt x="18871" y="143351"/>
                </a:cubicBezTo>
                <a:lnTo>
                  <a:pt x="1131" y="187643"/>
                </a:lnTo>
                <a:cubicBezTo>
                  <a:pt x="357" y="189548"/>
                  <a:pt x="0" y="191572"/>
                  <a:pt x="0" y="193596"/>
                </a:cubicBezTo>
                <a:cubicBezTo>
                  <a:pt x="0" y="202406"/>
                  <a:pt x="7144" y="209550"/>
                  <a:pt x="15954" y="209550"/>
                </a:cubicBezTo>
                <a:cubicBezTo>
                  <a:pt x="17978" y="209550"/>
                  <a:pt x="20003" y="209133"/>
                  <a:pt x="21908" y="208419"/>
                </a:cubicBezTo>
                <a:lnTo>
                  <a:pt x="79236" y="185499"/>
                </a:lnTo>
                <a:cubicBezTo>
                  <a:pt x="90309" y="188774"/>
                  <a:pt x="102096" y="190500"/>
                  <a:pt x="114300" y="190500"/>
                </a:cubicBezTo>
                <a:cubicBezTo>
                  <a:pt x="177403" y="190500"/>
                  <a:pt x="228600" y="143589"/>
                  <a:pt x="228600" y="85725"/>
                </a:cubicBezTo>
                <a:cubicBezTo>
                  <a:pt x="228600" y="27861"/>
                  <a:pt x="177403" y="-19050"/>
                  <a:pt x="114300" y="-19050"/>
                </a:cubicBezTo>
                <a:cubicBezTo>
                  <a:pt x="51197" y="-19050"/>
                  <a:pt x="0" y="27861"/>
                  <a:pt x="0" y="85725"/>
                </a:cubicBezTo>
                <a:close/>
                <a:moveTo>
                  <a:pt x="228600" y="304800"/>
                </a:moveTo>
                <a:cubicBezTo>
                  <a:pt x="240863" y="304800"/>
                  <a:pt x="252591" y="303014"/>
                  <a:pt x="263664" y="299799"/>
                </a:cubicBezTo>
                <a:lnTo>
                  <a:pt x="320993" y="322719"/>
                </a:lnTo>
                <a:cubicBezTo>
                  <a:pt x="322898" y="323493"/>
                  <a:pt x="324922" y="323850"/>
                  <a:pt x="326946" y="323850"/>
                </a:cubicBezTo>
                <a:cubicBezTo>
                  <a:pt x="335756" y="323850"/>
                  <a:pt x="342900" y="316706"/>
                  <a:pt x="342900" y="307896"/>
                </a:cubicBezTo>
                <a:cubicBezTo>
                  <a:pt x="342900" y="305872"/>
                  <a:pt x="342483" y="303848"/>
                  <a:pt x="341769" y="301943"/>
                </a:cubicBezTo>
                <a:lnTo>
                  <a:pt x="324088" y="257651"/>
                </a:lnTo>
                <a:cubicBezTo>
                  <a:pt x="335994" y="241102"/>
                  <a:pt x="342960" y="221278"/>
                  <a:pt x="342960" y="200025"/>
                </a:cubicBezTo>
                <a:cubicBezTo>
                  <a:pt x="342960" y="150971"/>
                  <a:pt x="306229" y="109835"/>
                  <a:pt x="256639" y="98405"/>
                </a:cubicBezTo>
                <a:cubicBezTo>
                  <a:pt x="255687" y="108109"/>
                  <a:pt x="253603" y="117396"/>
                  <a:pt x="250627" y="126325"/>
                </a:cubicBezTo>
                <a:cubicBezTo>
                  <a:pt x="288667" y="135136"/>
                  <a:pt x="314444" y="166390"/>
                  <a:pt x="314444" y="200085"/>
                </a:cubicBezTo>
                <a:cubicBezTo>
                  <a:pt x="314444" y="215027"/>
                  <a:pt x="309622" y="229076"/>
                  <a:pt x="300990" y="241042"/>
                </a:cubicBezTo>
                <a:cubicBezTo>
                  <a:pt x="295275" y="248960"/>
                  <a:pt x="294025" y="259259"/>
                  <a:pt x="297656" y="268367"/>
                </a:cubicBezTo>
                <a:lnTo>
                  <a:pt x="304443" y="285333"/>
                </a:lnTo>
                <a:lnTo>
                  <a:pt x="274439" y="273308"/>
                </a:lnTo>
                <a:cubicBezTo>
                  <a:pt x="268486" y="270927"/>
                  <a:pt x="261878" y="270629"/>
                  <a:pt x="255746" y="272415"/>
                </a:cubicBezTo>
                <a:cubicBezTo>
                  <a:pt x="247293" y="274915"/>
                  <a:pt x="238244" y="276285"/>
                  <a:pt x="228779" y="276285"/>
                </a:cubicBezTo>
                <a:cubicBezTo>
                  <a:pt x="185797" y="276285"/>
                  <a:pt x="153114" y="249079"/>
                  <a:pt x="145018" y="216039"/>
                </a:cubicBezTo>
                <a:cubicBezTo>
                  <a:pt x="135731" y="217944"/>
                  <a:pt x="126147" y="219015"/>
                  <a:pt x="116384" y="219135"/>
                </a:cubicBezTo>
                <a:cubicBezTo>
                  <a:pt x="126147" y="267891"/>
                  <a:pt x="172760" y="304860"/>
                  <a:pt x="228779" y="304860"/>
                </a:cubicBezTo>
                <a:close/>
              </a:path>
            </a:pathLst>
          </a:custGeom>
          <a:solidFill>
            <a:srgbClr val="C4A265"/>
          </a:solidFill>
          <a:ln/>
        </p:spPr>
      </p:sp>
      <p:sp>
        <p:nvSpPr>
          <p:cNvPr id="11" name="Text 9"/>
          <p:cNvSpPr/>
          <p:nvPr/>
        </p:nvSpPr>
        <p:spPr>
          <a:xfrm>
            <a:off x="1473200" y="3276600"/>
            <a:ext cx="3810000" cy="889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Conversation Engine</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Streaming, state machine, context governance</a:t>
            </a:r>
            <a:endParaRPr lang="en-US" sz="1600" dirty="0"/>
          </a:p>
        </p:txBody>
      </p:sp>
      <p:sp>
        <p:nvSpPr>
          <p:cNvPr id="12" name="Shape 10"/>
          <p:cNvSpPr/>
          <p:nvPr/>
        </p:nvSpPr>
        <p:spPr>
          <a:xfrm>
            <a:off x="5715000" y="3149600"/>
            <a:ext cx="4699000" cy="1143000"/>
          </a:xfrm>
          <a:prstGeom prst="rect">
            <a:avLst/>
          </a:prstGeom>
          <a:solidFill>
            <a:srgbClr val="161618"/>
          </a:solidFill>
          <a:ln/>
        </p:spPr>
      </p:sp>
      <p:sp>
        <p:nvSpPr>
          <p:cNvPr id="13" name="Shape 11"/>
          <p:cNvSpPr/>
          <p:nvPr/>
        </p:nvSpPr>
        <p:spPr>
          <a:xfrm>
            <a:off x="5969000" y="3340100"/>
            <a:ext cx="304800" cy="304800"/>
          </a:xfrm>
          <a:custGeom>
            <a:avLst/>
            <a:gdLst/>
            <a:ahLst/>
            <a:cxnLst/>
            <a:rect l="l" t="t" r="r" b="b"/>
            <a:pathLst>
              <a:path w="304800" h="304800"/>
            </a:pathLst>
          </a:custGeom>
          <a:solidFill>
            <a:srgbClr val="C4A265"/>
          </a:solidFill>
          <a:ln/>
        </p:spPr>
      </p:sp>
      <p:sp>
        <p:nvSpPr>
          <p:cNvPr id="14" name="Text 12"/>
          <p:cNvSpPr/>
          <p:nvPr/>
        </p:nvSpPr>
        <p:spPr>
          <a:xfrm>
            <a:off x="6426200" y="3276600"/>
            <a:ext cx="3810000" cy="889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Tool System</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Bash, Edit, MCP, Plugins, Skills, Agents</a:t>
            </a:r>
            <a:endParaRPr lang="en-US" sz="1600" dirty="0"/>
          </a:p>
        </p:txBody>
      </p:sp>
      <p:sp>
        <p:nvSpPr>
          <p:cNvPr id="15" name="Shape 13"/>
          <p:cNvSpPr/>
          <p:nvPr/>
        </p:nvSpPr>
        <p:spPr>
          <a:xfrm>
            <a:off x="10668000" y="3149600"/>
            <a:ext cx="4826000" cy="1143000"/>
          </a:xfrm>
          <a:prstGeom prst="rect">
            <a:avLst/>
          </a:prstGeom>
          <a:solidFill>
            <a:srgbClr val="161618"/>
          </a:solidFill>
          <a:ln/>
        </p:spPr>
      </p:sp>
      <p:sp>
        <p:nvSpPr>
          <p:cNvPr id="16" name="Shape 14"/>
          <p:cNvSpPr/>
          <p:nvPr/>
        </p:nvSpPr>
        <p:spPr>
          <a:xfrm>
            <a:off x="10922000" y="3340100"/>
            <a:ext cx="304800" cy="304800"/>
          </a:xfrm>
          <a:custGeom>
            <a:avLst/>
            <a:gdLst/>
            <a:ahLst/>
            <a:cxnLst/>
            <a:rect l="l" t="t" r="r" b="b"/>
            <a:pathLst>
              <a:path w="304800" h="304800"/>
            </a:pathLst>
          </a:custGeom>
          <a:solidFill>
            <a:srgbClr val="C4A265"/>
          </a:solidFill>
          <a:ln/>
        </p:spPr>
      </p:sp>
      <p:sp>
        <p:nvSpPr>
          <p:cNvPr id="17" name="Text 15"/>
          <p:cNvSpPr/>
          <p:nvPr/>
        </p:nvSpPr>
        <p:spPr>
          <a:xfrm>
            <a:off x="11379200" y="3276600"/>
            <a:ext cx="3937000" cy="889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Permission &amp; Sandbox</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AST analysis, policy engine, OS isolation</a:t>
            </a:r>
            <a:endParaRPr lang="en-US" sz="1600" dirty="0"/>
          </a:p>
        </p:txBody>
      </p:sp>
      <p:sp>
        <p:nvSpPr>
          <p:cNvPr id="18" name="Shape 16"/>
          <p:cNvSpPr/>
          <p:nvPr/>
        </p:nvSpPr>
        <p:spPr>
          <a:xfrm>
            <a:off x="762000" y="4470400"/>
            <a:ext cx="4699000" cy="1143000"/>
          </a:xfrm>
          <a:prstGeom prst="rect">
            <a:avLst/>
          </a:prstGeom>
          <a:solidFill>
            <a:srgbClr val="161618"/>
          </a:solidFill>
          <a:ln/>
        </p:spPr>
      </p:sp>
      <p:sp>
        <p:nvSpPr>
          <p:cNvPr id="19" name="Shape 17"/>
          <p:cNvSpPr/>
          <p:nvPr/>
        </p:nvSpPr>
        <p:spPr>
          <a:xfrm>
            <a:off x="1016000" y="4660900"/>
            <a:ext cx="304800" cy="304800"/>
          </a:xfrm>
          <a:custGeom>
            <a:avLst/>
            <a:gdLst/>
            <a:ahLst/>
            <a:cxnLst/>
            <a:rect l="l" t="t" r="r" b="b"/>
            <a:pathLst>
              <a:path w="304800" h="304800"/>
            </a:pathLst>
          </a:custGeom>
          <a:solidFill>
            <a:srgbClr val="C4A265"/>
          </a:solidFill>
          <a:ln/>
        </p:spPr>
      </p:sp>
      <p:sp>
        <p:nvSpPr>
          <p:cNvPr id="20" name="Text 18"/>
          <p:cNvSpPr/>
          <p:nvPr/>
        </p:nvSpPr>
        <p:spPr>
          <a:xfrm>
            <a:off x="1473200" y="4597400"/>
            <a:ext cx="3810000" cy="889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Extension Ecosystem</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MCP / Plugins / Skills / Agents</a:t>
            </a:r>
            <a:endParaRPr lang="en-US" sz="1600" dirty="0"/>
          </a:p>
        </p:txBody>
      </p:sp>
      <p:sp>
        <p:nvSpPr>
          <p:cNvPr id="21" name="Shape 19"/>
          <p:cNvSpPr/>
          <p:nvPr/>
        </p:nvSpPr>
        <p:spPr>
          <a:xfrm>
            <a:off x="5715000" y="4470400"/>
            <a:ext cx="4699000" cy="1143000"/>
          </a:xfrm>
          <a:prstGeom prst="rect">
            <a:avLst/>
          </a:prstGeom>
          <a:solidFill>
            <a:srgbClr val="161618"/>
          </a:solidFill>
          <a:ln/>
        </p:spPr>
      </p:sp>
      <p:sp>
        <p:nvSpPr>
          <p:cNvPr id="22" name="Shape 20"/>
          <p:cNvSpPr/>
          <p:nvPr/>
        </p:nvSpPr>
        <p:spPr>
          <a:xfrm>
            <a:off x="5969000" y="4660900"/>
            <a:ext cx="304800" cy="304800"/>
          </a:xfrm>
          <a:custGeom>
            <a:avLst/>
            <a:gdLst/>
            <a:ahLst/>
            <a:cxnLst/>
            <a:rect l="l" t="t" r="r" b="b"/>
            <a:pathLst>
              <a:path w="304800" h="304800"/>
            </a:pathLst>
          </a:custGeom>
          <a:solidFill>
            <a:srgbClr val="C4A265"/>
          </a:solidFill>
          <a:ln/>
        </p:spPr>
      </p:sp>
      <p:sp>
        <p:nvSpPr>
          <p:cNvPr id="23" name="Text 21"/>
          <p:cNvSpPr/>
          <p:nvPr/>
        </p:nvSpPr>
        <p:spPr>
          <a:xfrm>
            <a:off x="6426200" y="4597400"/>
            <a:ext cx="3810000" cy="889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Persistent Context</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Memory, transcripts, CLAUDE.md</a:t>
            </a:r>
            <a:endParaRPr lang="en-US" sz="1600" dirty="0"/>
          </a:p>
        </p:txBody>
      </p:sp>
      <p:sp>
        <p:nvSpPr>
          <p:cNvPr id="24" name="Shape 22"/>
          <p:cNvSpPr/>
          <p:nvPr/>
        </p:nvSpPr>
        <p:spPr>
          <a:xfrm>
            <a:off x="10668000" y="4470400"/>
            <a:ext cx="4826000" cy="1143000"/>
          </a:xfrm>
          <a:prstGeom prst="rect">
            <a:avLst/>
          </a:prstGeom>
          <a:solidFill>
            <a:srgbClr val="161618"/>
          </a:solidFill>
          <a:ln/>
        </p:spPr>
      </p:sp>
      <p:sp>
        <p:nvSpPr>
          <p:cNvPr id="25" name="Shape 23"/>
          <p:cNvSpPr/>
          <p:nvPr/>
        </p:nvSpPr>
        <p:spPr>
          <a:xfrm>
            <a:off x="10922000" y="4660900"/>
            <a:ext cx="304800" cy="304800"/>
          </a:xfrm>
          <a:custGeom>
            <a:avLst/>
            <a:gdLst/>
            <a:ahLst/>
            <a:cxnLst/>
            <a:rect l="l" t="t" r="r" b="b"/>
            <a:pathLst>
              <a:path w="304800" h="304800"/>
            </a:pathLst>
          </a:custGeom>
          <a:solidFill>
            <a:srgbClr val="C4A265"/>
          </a:solidFill>
          <a:ln/>
        </p:spPr>
      </p:sp>
      <p:sp>
        <p:nvSpPr>
          <p:cNvPr id="26" name="Text 24"/>
          <p:cNvSpPr/>
          <p:nvPr/>
        </p:nvSpPr>
        <p:spPr>
          <a:xfrm>
            <a:off x="11379200" y="4597400"/>
            <a:ext cx="3937000" cy="889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Multi-Mode Deployment</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Local / Remote / Bridge</a:t>
            </a:r>
            <a:endParaRPr lang="en-US" sz="1600" dirty="0"/>
          </a:p>
        </p:txBody>
      </p:sp>
      <p:sp>
        <p:nvSpPr>
          <p:cNvPr id="27" name="Text 25"/>
          <p:cNvSpPr/>
          <p:nvPr/>
        </p:nvSpPr>
        <p:spPr>
          <a:xfrm>
            <a:off x="762000" y="58674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Code Scale: Platform-Level Complexity</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6350000"/>
          <a:ext cx="14732000" cy="2032000"/>
        </p:xfrm>
        <a:graphic>
          <a:graphicData uri="http://schemas.openxmlformats.org/drawingml/2006/table">
            <a:tbl>
              <a:tblPr/>
              <a:tblGrid>
                <a:gridCol w="3683000"/>
                <a:gridCol w="3683000"/>
                <a:gridCol w="3683000"/>
                <a:gridCol w="3683000"/>
              </a:tblGrid>
              <a:tr h="673100">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Category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Sub-items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Category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Sub-items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6731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Commands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101</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Services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36</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6858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Tools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43</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Total Source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180+ subsystems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bl>
          </a:graphicData>
        </a:graphic>
      </p:graphicFrame>
      <p:sp>
        <p:nvSpPr>
          <p:cNvPr id="29" name="Shape 26"/>
          <p:cNvSpPr/>
          <p:nvPr/>
        </p:nvSpPr>
        <p:spPr>
          <a:xfrm>
            <a:off x="762000" y="8636000"/>
            <a:ext cx="14732000" cy="12700"/>
          </a:xfrm>
          <a:prstGeom prst="rect">
            <a:avLst/>
          </a:prstGeom>
          <a:solidFill>
            <a:srgbClr val="3A3A3E"/>
          </a:solidFill>
          <a:ln/>
        </p:spPr>
      </p:sp>
      <p:sp>
        <p:nvSpPr>
          <p:cNvPr id="30" name="Text 27"/>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src/main.tsx, src/screens/REPL.tsx</a:t>
            </a:r>
            <a:endParaRPr lang="en-US" sz="13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381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01 ARCHITECTURE OVERVIEW</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Harness Architecture: Five-Layer Decomposition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14732000" cy="914400"/>
          </a:xfrm>
          <a:prstGeom prst="rect">
            <a:avLst/>
          </a:prstGeom>
          <a:solidFill>
            <a:srgbClr val="1A1814"/>
          </a:solidFill>
          <a:ln w="12700">
            <a:solidFill>
              <a:srgbClr val="C4A265"/>
            </a:solidFill>
            <a:prstDash val="solid"/>
          </a:ln>
        </p:spPr>
      </p:sp>
      <p:sp>
        <p:nvSpPr>
          <p:cNvPr id="6" name="Text 4"/>
          <p:cNvSpPr/>
          <p:nvPr/>
        </p:nvSpPr>
        <p:spPr>
          <a:xfrm>
            <a:off x="1016000" y="1587500"/>
            <a:ext cx="2286000" cy="2540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PRESENTATION</a:t>
            </a:r>
            <a:endParaRPr lang="en-US" sz="1600" dirty="0"/>
          </a:p>
        </p:txBody>
      </p:sp>
      <p:sp>
        <p:nvSpPr>
          <p:cNvPr id="7" name="Text 5"/>
          <p:cNvSpPr/>
          <p:nvPr/>
        </p:nvSpPr>
        <p:spPr>
          <a:xfrm>
            <a:off x="1016000" y="1879600"/>
            <a:ext cx="14224000" cy="431800"/>
          </a:xfrm>
          <a:prstGeom prst="rect">
            <a:avLst/>
          </a:prstGeom>
          <a:noFill/>
          <a:ln/>
        </p:spPr>
        <p:txBody>
          <a:bodyPr wrap="square" lIns="0" tIns="0" rIns="0" bIns="0" rtlCol="0" anchor="t"/>
          <a:lstStyle/>
          <a:p>
            <a:pPr>
              <a:lnSpc>
                <a:spcPct val="140000"/>
              </a:lnSpc>
            </a:pPr>
            <a:r>
              <a:rPr lang="en-US" sz="1600" dirty="0">
                <a:solidFill>
                  <a:srgbClr val="E8DCC8"/>
                </a:solidFill>
                <a:latin typeface="Quattrocento Sans" pitchFamily="34" charset="0"/>
                <a:ea typeface="Quattrocento Sans" pitchFamily="34" charset="-122"/>
                <a:cs typeface="Quattrocento Sans" pitchFamily="34" charset="-120"/>
              </a:rPr>
              <a:t>React + Ink Terminal UI — src/screens/REPL.tsx, src/screens/Welcome.tsx</a:t>
            </a:r>
            <a:endParaRPr lang="en-US" sz="1600" dirty="0"/>
          </a:p>
        </p:txBody>
      </p:sp>
      <p:sp>
        <p:nvSpPr>
          <p:cNvPr id="8" name="Shape 6"/>
          <p:cNvSpPr/>
          <p:nvPr/>
        </p:nvSpPr>
        <p:spPr>
          <a:xfrm>
            <a:off x="762000" y="2540000"/>
            <a:ext cx="14732000" cy="914400"/>
          </a:xfrm>
          <a:prstGeom prst="rect">
            <a:avLst/>
          </a:prstGeom>
          <a:solidFill>
            <a:srgbClr val="1A1814"/>
          </a:solidFill>
          <a:ln w="12700">
            <a:solidFill>
              <a:srgbClr val="C4A265"/>
            </a:solidFill>
            <a:prstDash val="solid"/>
          </a:ln>
        </p:spPr>
      </p:sp>
      <p:sp>
        <p:nvSpPr>
          <p:cNvPr id="9" name="Text 7"/>
          <p:cNvSpPr/>
          <p:nvPr/>
        </p:nvSpPr>
        <p:spPr>
          <a:xfrm>
            <a:off x="1016000" y="2603500"/>
            <a:ext cx="3556000" cy="2540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INTERACTION ORCHESTRATION</a:t>
            </a:r>
            <a:endParaRPr lang="en-US" sz="1600" dirty="0"/>
          </a:p>
        </p:txBody>
      </p:sp>
      <p:sp>
        <p:nvSpPr>
          <p:cNvPr id="10" name="Text 8"/>
          <p:cNvSpPr/>
          <p:nvPr/>
        </p:nvSpPr>
        <p:spPr>
          <a:xfrm>
            <a:off x="1016000" y="2895600"/>
            <a:ext cx="14224000" cy="431800"/>
          </a:xfrm>
          <a:prstGeom prst="rect">
            <a:avLst/>
          </a:prstGeom>
          <a:noFill/>
          <a:ln/>
        </p:spPr>
        <p:txBody>
          <a:bodyPr wrap="square" lIns="0" tIns="0" rIns="0" bIns="0" rtlCol="0" anchor="t"/>
          <a:lstStyle/>
          <a:p>
            <a:pPr>
              <a:lnSpc>
                <a:spcPct val="140000"/>
              </a:lnSpc>
            </a:pPr>
            <a:r>
              <a:rPr lang="en-US" sz="1600" dirty="0">
                <a:solidFill>
                  <a:srgbClr val="E8DCC8"/>
                </a:solidFill>
                <a:latin typeface="Quattrocento Sans" pitchFamily="34" charset="0"/>
                <a:ea typeface="Quattrocento Sans" pitchFamily="34" charset="-122"/>
                <a:cs typeface="Quattrocento Sans" pitchFamily="34" charset="-120"/>
              </a:rPr>
              <a:t>main.tsx / REPL.tsx / QueryEngine.ts — session-level orchestration</a:t>
            </a:r>
            <a:endParaRPr lang="en-US" sz="1600" dirty="0"/>
          </a:p>
        </p:txBody>
      </p:sp>
      <p:sp>
        <p:nvSpPr>
          <p:cNvPr id="11" name="Shape 9"/>
          <p:cNvSpPr/>
          <p:nvPr/>
        </p:nvSpPr>
        <p:spPr>
          <a:xfrm>
            <a:off x="762000" y="3556000"/>
            <a:ext cx="14732000" cy="914400"/>
          </a:xfrm>
          <a:prstGeom prst="rect">
            <a:avLst/>
          </a:prstGeom>
          <a:solidFill>
            <a:srgbClr val="1A1814"/>
          </a:solidFill>
          <a:ln w="12700">
            <a:solidFill>
              <a:srgbClr val="C4A265"/>
            </a:solidFill>
            <a:prstDash val="solid"/>
          </a:ln>
        </p:spPr>
      </p:sp>
      <p:sp>
        <p:nvSpPr>
          <p:cNvPr id="12" name="Text 10"/>
          <p:cNvSpPr/>
          <p:nvPr/>
        </p:nvSpPr>
        <p:spPr>
          <a:xfrm>
            <a:off x="1016000" y="3619500"/>
            <a:ext cx="2286000" cy="2540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CAPABILITY</a:t>
            </a:r>
            <a:endParaRPr lang="en-US" sz="1600" dirty="0"/>
          </a:p>
        </p:txBody>
      </p:sp>
      <p:sp>
        <p:nvSpPr>
          <p:cNvPr id="13" name="Text 11"/>
          <p:cNvSpPr/>
          <p:nvPr/>
        </p:nvSpPr>
        <p:spPr>
          <a:xfrm>
            <a:off x="1016000" y="3911600"/>
            <a:ext cx="14224000" cy="431800"/>
          </a:xfrm>
          <a:prstGeom prst="rect">
            <a:avLst/>
          </a:prstGeom>
          <a:noFill/>
          <a:ln/>
        </p:spPr>
        <p:txBody>
          <a:bodyPr wrap="square" lIns="0" tIns="0" rIns="0" bIns="0" rtlCol="0" anchor="t"/>
          <a:lstStyle/>
          <a:p>
            <a:pPr>
              <a:lnSpc>
                <a:spcPct val="140000"/>
              </a:lnSpc>
            </a:pPr>
            <a:r>
              <a:rPr lang="en-US" sz="1600" dirty="0">
                <a:solidFill>
                  <a:srgbClr val="E8DCC8"/>
                </a:solidFill>
                <a:latin typeface="Quattrocento Sans" pitchFamily="34" charset="0"/>
                <a:ea typeface="Quattrocento Sans" pitchFamily="34" charset="-122"/>
                <a:cs typeface="Quattrocento Sans" pitchFamily="34" charset="-120"/>
              </a:rPr>
              <a:t>Tools / Commands / MCP / Plugins / Skills / Tasks — the "what Claude can do" layer</a:t>
            </a:r>
            <a:endParaRPr lang="en-US" sz="1600" dirty="0"/>
          </a:p>
        </p:txBody>
      </p:sp>
      <p:sp>
        <p:nvSpPr>
          <p:cNvPr id="14" name="Shape 12"/>
          <p:cNvSpPr/>
          <p:nvPr/>
        </p:nvSpPr>
        <p:spPr>
          <a:xfrm>
            <a:off x="762000" y="4572000"/>
            <a:ext cx="14732000" cy="914400"/>
          </a:xfrm>
          <a:prstGeom prst="rect">
            <a:avLst/>
          </a:prstGeom>
          <a:solidFill>
            <a:srgbClr val="1A1814"/>
          </a:solidFill>
          <a:ln w="12700">
            <a:solidFill>
              <a:srgbClr val="C4A265"/>
            </a:solidFill>
            <a:prstDash val="solid"/>
          </a:ln>
        </p:spPr>
      </p:sp>
      <p:sp>
        <p:nvSpPr>
          <p:cNvPr id="15" name="Text 13"/>
          <p:cNvSpPr/>
          <p:nvPr/>
        </p:nvSpPr>
        <p:spPr>
          <a:xfrm>
            <a:off x="1016000" y="4635500"/>
            <a:ext cx="3556000" cy="2540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DOMAIN SERVICE</a:t>
            </a:r>
            <a:endParaRPr lang="en-US" sz="1600" dirty="0"/>
          </a:p>
        </p:txBody>
      </p:sp>
      <p:sp>
        <p:nvSpPr>
          <p:cNvPr id="16" name="Text 14"/>
          <p:cNvSpPr/>
          <p:nvPr/>
        </p:nvSpPr>
        <p:spPr>
          <a:xfrm>
            <a:off x="1016000" y="4927600"/>
            <a:ext cx="14224000" cy="431800"/>
          </a:xfrm>
          <a:prstGeom prst="rect">
            <a:avLst/>
          </a:prstGeom>
          <a:noFill/>
          <a:ln/>
        </p:spPr>
        <p:txBody>
          <a:bodyPr wrap="square" lIns="0" tIns="0" rIns="0" bIns="0" rtlCol="0" anchor="t"/>
          <a:lstStyle/>
          <a:p>
            <a:pPr>
              <a:lnSpc>
                <a:spcPct val="140000"/>
              </a:lnSpc>
            </a:pPr>
            <a:r>
              <a:rPr lang="en-US" sz="1600" dirty="0">
                <a:solidFill>
                  <a:srgbClr val="E8DCC8"/>
                </a:solidFill>
                <a:latin typeface="Quattrocento Sans" pitchFamily="34" charset="0"/>
                <a:ea typeface="Quattrocento Sans" pitchFamily="34" charset="-122"/>
                <a:cs typeface="Quattrocento Sans" pitchFamily="34" charset="-120"/>
              </a:rPr>
              <a:t>services/api / services/mcp / services/compact / services/lsp — shared infrastructure</a:t>
            </a:r>
            <a:endParaRPr lang="en-US" sz="1600" dirty="0"/>
          </a:p>
        </p:txBody>
      </p:sp>
      <p:sp>
        <p:nvSpPr>
          <p:cNvPr id="17" name="Shape 15"/>
          <p:cNvSpPr/>
          <p:nvPr/>
        </p:nvSpPr>
        <p:spPr>
          <a:xfrm>
            <a:off x="762000" y="5588000"/>
            <a:ext cx="14732000" cy="914400"/>
          </a:xfrm>
          <a:prstGeom prst="rect">
            <a:avLst/>
          </a:prstGeom>
          <a:solidFill>
            <a:srgbClr val="1A1814"/>
          </a:solidFill>
          <a:ln w="12700">
            <a:solidFill>
              <a:srgbClr val="C4A265"/>
            </a:solidFill>
            <a:prstDash val="solid"/>
          </a:ln>
        </p:spPr>
      </p:sp>
      <p:sp>
        <p:nvSpPr>
          <p:cNvPr id="18" name="Text 16"/>
          <p:cNvSpPr/>
          <p:nvPr/>
        </p:nvSpPr>
        <p:spPr>
          <a:xfrm>
            <a:off x="1016000" y="5651500"/>
            <a:ext cx="3556000" cy="2540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STATE &amp; CONTEXT</a:t>
            </a:r>
            <a:endParaRPr lang="en-US" sz="1600" dirty="0"/>
          </a:p>
        </p:txBody>
      </p:sp>
      <p:sp>
        <p:nvSpPr>
          <p:cNvPr id="19" name="Text 17"/>
          <p:cNvSpPr/>
          <p:nvPr/>
        </p:nvSpPr>
        <p:spPr>
          <a:xfrm>
            <a:off x="1016000" y="5943600"/>
            <a:ext cx="14224000" cy="431800"/>
          </a:xfrm>
          <a:prstGeom prst="rect">
            <a:avLst/>
          </a:prstGeom>
          <a:noFill/>
          <a:ln/>
        </p:spPr>
        <p:txBody>
          <a:bodyPr wrap="square" lIns="0" tIns="0" rIns="0" bIns="0" rtlCol="0" anchor="t"/>
          <a:lstStyle/>
          <a:p>
            <a:pPr>
              <a:lnSpc>
                <a:spcPct val="140000"/>
              </a:lnSpc>
            </a:pPr>
            <a:r>
              <a:rPr lang="en-US" sz="1600" dirty="0">
                <a:solidFill>
                  <a:srgbClr val="E8DCC8"/>
                </a:solidFill>
                <a:latin typeface="Quattrocento Sans" pitchFamily="34" charset="0"/>
                <a:ea typeface="Quattrocento Sans" pitchFamily="34" charset="-122"/>
                <a:cs typeface="Quattrocento Sans" pitchFamily="34" charset="-120"/>
              </a:rPr>
              <a:t>bootstrap/state.ts / AppStateStore.ts / history.ts / sessionStorage.ts — persistent state</a:t>
            </a:r>
            <a:endParaRPr lang="en-US" sz="1600" dirty="0"/>
          </a:p>
        </p:txBody>
      </p:sp>
      <p:sp>
        <p:nvSpPr>
          <p:cNvPr id="20" name="Shape 18"/>
          <p:cNvSpPr/>
          <p:nvPr/>
        </p:nvSpPr>
        <p:spPr>
          <a:xfrm>
            <a:off x="762000" y="6604000"/>
            <a:ext cx="14732000" cy="914400"/>
          </a:xfrm>
          <a:prstGeom prst="rect">
            <a:avLst/>
          </a:prstGeom>
          <a:solidFill>
            <a:srgbClr val="1A1814"/>
          </a:solidFill>
          <a:ln w="12700">
            <a:solidFill>
              <a:srgbClr val="C4A265"/>
            </a:solidFill>
            <a:prstDash val="solid"/>
          </a:ln>
        </p:spPr>
      </p:sp>
      <p:sp>
        <p:nvSpPr>
          <p:cNvPr id="21" name="Text 19"/>
          <p:cNvSpPr/>
          <p:nvPr/>
        </p:nvSpPr>
        <p:spPr>
          <a:xfrm>
            <a:off x="1016000" y="6667500"/>
            <a:ext cx="3556000" cy="2540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INFRASTRUCTURE</a:t>
            </a:r>
            <a:endParaRPr lang="en-US" sz="1600" dirty="0"/>
          </a:p>
        </p:txBody>
      </p:sp>
      <p:sp>
        <p:nvSpPr>
          <p:cNvPr id="22" name="Text 20"/>
          <p:cNvSpPr/>
          <p:nvPr/>
        </p:nvSpPr>
        <p:spPr>
          <a:xfrm>
            <a:off x="1016000" y="6959600"/>
            <a:ext cx="14224000" cy="431800"/>
          </a:xfrm>
          <a:prstGeom prst="rect">
            <a:avLst/>
          </a:prstGeom>
          <a:noFill/>
          <a:ln/>
        </p:spPr>
        <p:txBody>
          <a:bodyPr wrap="square" lIns="0" tIns="0" rIns="0" bIns="0" rtlCol="0" anchor="t"/>
          <a:lstStyle/>
          <a:p>
            <a:pPr>
              <a:lnSpc>
                <a:spcPct val="140000"/>
              </a:lnSpc>
            </a:pPr>
            <a:r>
              <a:rPr lang="en-US" sz="1600" dirty="0">
                <a:solidFill>
                  <a:srgbClr val="E8DCC8"/>
                </a:solidFill>
                <a:latin typeface="Quattrocento Sans" pitchFamily="34" charset="0"/>
                <a:ea typeface="Quattrocento Sans" pitchFamily="34" charset="-122"/>
                <a:cs typeface="Quattrocento Sans" pitchFamily="34" charset="-120"/>
              </a:rPr>
              <a:t>fs / config / env / auth / network / proxy / sandbox / telemetry — platform primitives</a:t>
            </a:r>
            <a:endParaRPr lang="en-US" sz="1600" dirty="0"/>
          </a:p>
        </p:txBody>
      </p:sp>
      <p:sp>
        <p:nvSpPr>
          <p:cNvPr id="23" name="Shape 21"/>
          <p:cNvSpPr/>
          <p:nvPr/>
        </p:nvSpPr>
        <p:spPr>
          <a:xfrm>
            <a:off x="762000" y="7810500"/>
            <a:ext cx="50800" cy="635000"/>
          </a:xfrm>
          <a:prstGeom prst="rect">
            <a:avLst/>
          </a:prstGeom>
          <a:solidFill>
            <a:srgbClr val="C4A265"/>
          </a:solidFill>
          <a:ln/>
        </p:spPr>
      </p:sp>
      <p:sp>
        <p:nvSpPr>
          <p:cNvPr id="24" name="Text 22"/>
          <p:cNvSpPr/>
          <p:nvPr/>
        </p:nvSpPr>
        <p:spPr>
          <a:xfrm>
            <a:off x="1016000" y="7810500"/>
            <a:ext cx="14224000" cy="635000"/>
          </a:xfrm>
          <a:prstGeom prst="rect">
            <a:avLst/>
          </a:prstGeom>
          <a:noFill/>
          <a:ln/>
        </p:spPr>
        <p:txBody>
          <a:bodyPr wrap="square" lIns="0" tIns="0" rIns="0" bIns="0" rtlCol="0" anchor="ctr"/>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Key Insight:</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Each layer has clear boundaries with dependency injection patterns. QueryEngineConfig receives cwd, tools, commands, mcpClients, agents, canUseTool, etc. — enabling reuse across REPL/SDK/Remote/Subagent contexts.</a:t>
            </a:r>
            <a:endParaRPr lang="en-US" sz="1600" dirty="0"/>
          </a:p>
        </p:txBody>
      </p:sp>
      <p:sp>
        <p:nvSpPr>
          <p:cNvPr id="25" name="Shape 23"/>
          <p:cNvSpPr/>
          <p:nvPr/>
        </p:nvSpPr>
        <p:spPr>
          <a:xfrm>
            <a:off x="762000" y="8636000"/>
            <a:ext cx="14732000" cy="12700"/>
          </a:xfrm>
          <a:prstGeom prst="rect">
            <a:avLst/>
          </a:prstGeom>
          <a:solidFill>
            <a:srgbClr val="3A3A3E"/>
          </a:solidFill>
          <a:ln/>
        </p:spPr>
      </p:sp>
      <p:sp>
        <p:nvSpPr>
          <p:cNvPr id="26" name="Text 24"/>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src/main.tsx:1-200, src/QueryEngine.ts</a:t>
            </a:r>
            <a:endParaRPr lang="en-US" sz="13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381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01 ARCHITECTURE OVERVIEW</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Design Philosophy: The Three Core Principles</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50800" cy="2032000"/>
          </a:xfrm>
          <a:prstGeom prst="rect">
            <a:avLst/>
          </a:prstGeom>
          <a:solidFill>
            <a:srgbClr val="C4A265"/>
          </a:solidFill>
          <a:ln/>
        </p:spPr>
      </p:sp>
      <p:sp>
        <p:nvSpPr>
          <p:cNvPr id="6" name="Text 4"/>
          <p:cNvSpPr/>
          <p:nvPr/>
        </p:nvSpPr>
        <p:spPr>
          <a:xfrm>
            <a:off x="1016000" y="1524000"/>
            <a:ext cx="635000" cy="381000"/>
          </a:xfrm>
          <a:prstGeom prst="rect">
            <a:avLst/>
          </a:prstGeom>
          <a:noFill/>
          <a:ln/>
        </p:spPr>
        <p:txBody>
          <a:bodyPr wrap="none" lIns="0" tIns="0" rIns="0" bIns="0" rtlCol="0" anchor="ctr"/>
          <a:lstStyle/>
          <a:p>
            <a:pPr>
              <a:lnSpc>
                <a:spcPct val="100000"/>
              </a:lnSpc>
            </a:pPr>
            <a:r>
              <a:rPr lang="en-US" sz="2400" b="1" dirty="0">
                <a:solidFill>
                  <a:srgbClr val="C4A265"/>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651000" y="1524000"/>
            <a:ext cx="6350000" cy="381000"/>
          </a:xfrm>
          <a:prstGeom prst="rect">
            <a:avLst/>
          </a:prstGeom>
          <a:noFill/>
          <a:ln/>
        </p:spPr>
        <p:txBody>
          <a:bodyPr wrap="none" lIns="0" tIns="0" rIns="0" bIns="0" rtlCol="0" anchor="ctr"/>
          <a:lstStyle/>
          <a:p>
            <a:pPr>
              <a:lnSpc>
                <a:spcPct val="130000"/>
              </a:lnSpc>
            </a:pPr>
            <a:r>
              <a:rPr lang="en-US" sz="2200" b="1" dirty="0">
                <a:solidFill>
                  <a:srgbClr val="E8DCC8"/>
                </a:solidFill>
                <a:latin typeface="Liter" pitchFamily="34" charset="0"/>
                <a:ea typeface="Liter" pitchFamily="34" charset="-122"/>
                <a:cs typeface="Liter" pitchFamily="34" charset="-120"/>
              </a:rPr>
              <a:t>Trajectory Self-Consistency First</a:t>
            </a:r>
            <a:endParaRPr lang="en-US" sz="2200" dirty="0"/>
          </a:p>
        </p:txBody>
      </p:sp>
      <p:sp>
        <p:nvSpPr>
          <p:cNvPr id="8" name="Text 6"/>
          <p:cNvSpPr/>
          <p:nvPr/>
        </p:nvSpPr>
        <p:spPr>
          <a:xfrm>
            <a:off x="1016000" y="2006600"/>
            <a:ext cx="14224000" cy="1397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No orphan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tool_use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no out-of-order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contextModifier</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no broken message chains after compact. Every design decision prioritizes maintaining a coherent agent trajectory over any single optimization.</a:t>
            </a:r>
            <a:endParaRPr lang="en-US" sz="1800" dirty="0"/>
          </a:p>
          <a:p>
            <a:pPr>
              <a:lnSpc>
                <a:spcPct val="160000"/>
              </a:lnSpc>
              <a:spcBef>
                <a:spcPts val="800"/>
              </a:spcBef>
            </a:pPr>
            <a:r>
              <a:rPr lang="en-US" sz="1700" dirty="0">
                <a:solidFill>
                  <a:srgbClr val="9A9590"/>
                </a:solidFill>
                <a:latin typeface="QuattrocentoSans" pitchFamily="34" charset="0"/>
                <a:ea typeface="QuattrocentoSans" pitchFamily="34" charset="-122"/>
                <a:cs typeface="QuattrocentoSans" pitchFamily="34" charset="-120"/>
              </a:rPr>
              <a:t>The transcript must remain a valid, self-consistent conversation at all times — even during error recovery, model fallback, or context compression.</a:t>
            </a:r>
            <a:endParaRPr lang="en-US" sz="1800" dirty="0"/>
          </a:p>
        </p:txBody>
      </p:sp>
      <p:sp>
        <p:nvSpPr>
          <p:cNvPr id="9" name="Shape 7"/>
          <p:cNvSpPr/>
          <p:nvPr/>
        </p:nvSpPr>
        <p:spPr>
          <a:xfrm>
            <a:off x="762000" y="3810000"/>
            <a:ext cx="50800" cy="2032000"/>
          </a:xfrm>
          <a:prstGeom prst="rect">
            <a:avLst/>
          </a:prstGeom>
          <a:solidFill>
            <a:srgbClr val="C4A265"/>
          </a:solidFill>
          <a:ln/>
        </p:spPr>
      </p:sp>
      <p:sp>
        <p:nvSpPr>
          <p:cNvPr id="10" name="Text 8"/>
          <p:cNvSpPr/>
          <p:nvPr/>
        </p:nvSpPr>
        <p:spPr>
          <a:xfrm>
            <a:off x="1016000" y="3810000"/>
            <a:ext cx="635000" cy="381000"/>
          </a:xfrm>
          <a:prstGeom prst="rect">
            <a:avLst/>
          </a:prstGeom>
          <a:noFill/>
          <a:ln/>
        </p:spPr>
        <p:txBody>
          <a:bodyPr wrap="none" lIns="0" tIns="0" rIns="0" bIns="0" rtlCol="0" anchor="ctr"/>
          <a:lstStyle/>
          <a:p>
            <a:pPr>
              <a:lnSpc>
                <a:spcPct val="100000"/>
              </a:lnSpc>
            </a:pPr>
            <a:r>
              <a:rPr lang="en-US" sz="2400" b="1" dirty="0">
                <a:solidFill>
                  <a:srgbClr val="C4A265"/>
                </a:solidFill>
                <a:latin typeface="Liter" pitchFamily="34" charset="0"/>
                <a:ea typeface="Liter" pitchFamily="34" charset="-122"/>
                <a:cs typeface="Liter" pitchFamily="34" charset="-120"/>
              </a:rPr>
              <a:t>02</a:t>
            </a:r>
            <a:endParaRPr lang="en-US" sz="1600" dirty="0"/>
          </a:p>
        </p:txBody>
      </p:sp>
      <p:sp>
        <p:nvSpPr>
          <p:cNvPr id="11" name="Text 9"/>
          <p:cNvSpPr/>
          <p:nvPr/>
        </p:nvSpPr>
        <p:spPr>
          <a:xfrm>
            <a:off x="1651000" y="3810000"/>
            <a:ext cx="6350000" cy="381000"/>
          </a:xfrm>
          <a:prstGeom prst="rect">
            <a:avLst/>
          </a:prstGeom>
          <a:noFill/>
          <a:ln/>
        </p:spPr>
        <p:txBody>
          <a:bodyPr wrap="none" lIns="0" tIns="0" rIns="0" bIns="0" rtlCol="0" anchor="ctr"/>
          <a:lstStyle/>
          <a:p>
            <a:pPr>
              <a:lnSpc>
                <a:spcPct val="130000"/>
              </a:lnSpc>
            </a:pPr>
            <a:r>
              <a:rPr lang="en-US" sz="2200" b="1" dirty="0">
                <a:solidFill>
                  <a:srgbClr val="E8DCC8"/>
                </a:solidFill>
                <a:latin typeface="Liter" pitchFamily="34" charset="0"/>
                <a:ea typeface="Liter" pitchFamily="34" charset="-122"/>
                <a:cs typeface="Liter" pitchFamily="34" charset="-120"/>
              </a:rPr>
              <a:t>Errors as Message Flow</a:t>
            </a:r>
            <a:endParaRPr lang="en-US" sz="2200" dirty="0"/>
          </a:p>
        </p:txBody>
      </p:sp>
      <p:sp>
        <p:nvSpPr>
          <p:cNvPr id="12" name="Text 10"/>
          <p:cNvSpPr/>
          <p:nvPr/>
        </p:nvSpPr>
        <p:spPr>
          <a:xfrm>
            <a:off x="1016000" y="4292600"/>
            <a:ext cx="14224000" cy="1397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tool_result(is_error)</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withheld API errors, api_retry system message, compact boundary — all are structured events that both model and SDK can understand. Errors become observable results, not termination signals.</a:t>
            </a:r>
            <a:endParaRPr lang="en-US" sz="1800" dirty="0"/>
          </a:p>
          <a:p>
            <a:pPr>
              <a:lnSpc>
                <a:spcPct val="160000"/>
              </a:lnSpc>
              <a:spcBef>
                <a:spcPts val="800"/>
              </a:spcBef>
            </a:pPr>
            <a:r>
              <a:rPr lang="en-US" sz="1700" dirty="0">
                <a:solidFill>
                  <a:srgbClr val="9A9590"/>
                </a:solidFill>
                <a:latin typeface="QuattrocentoSans" pitchFamily="34" charset="0"/>
                <a:ea typeface="QuattrocentoSans" pitchFamily="34" charset="-122"/>
                <a:cs typeface="QuattrocentoSans" pitchFamily="34" charset="-120"/>
              </a:rPr>
              <a:t>The model's next reasoning round consumes errors as normal observations, enabling graceful degradation rather than hard failures.</a:t>
            </a:r>
            <a:endParaRPr lang="en-US" sz="1800" dirty="0"/>
          </a:p>
        </p:txBody>
      </p:sp>
      <p:sp>
        <p:nvSpPr>
          <p:cNvPr id="13" name="Shape 11"/>
          <p:cNvSpPr/>
          <p:nvPr/>
        </p:nvSpPr>
        <p:spPr>
          <a:xfrm>
            <a:off x="762000" y="6096000"/>
            <a:ext cx="50800" cy="2032000"/>
          </a:xfrm>
          <a:prstGeom prst="rect">
            <a:avLst/>
          </a:prstGeom>
          <a:solidFill>
            <a:srgbClr val="C4A265"/>
          </a:solidFill>
          <a:ln/>
        </p:spPr>
      </p:sp>
      <p:sp>
        <p:nvSpPr>
          <p:cNvPr id="14" name="Text 12"/>
          <p:cNvSpPr/>
          <p:nvPr/>
        </p:nvSpPr>
        <p:spPr>
          <a:xfrm>
            <a:off x="1016000" y="6096000"/>
            <a:ext cx="635000" cy="381000"/>
          </a:xfrm>
          <a:prstGeom prst="rect">
            <a:avLst/>
          </a:prstGeom>
          <a:noFill/>
          <a:ln/>
        </p:spPr>
        <p:txBody>
          <a:bodyPr wrap="none" lIns="0" tIns="0" rIns="0" bIns="0" rtlCol="0" anchor="ctr"/>
          <a:lstStyle/>
          <a:p>
            <a:pPr>
              <a:lnSpc>
                <a:spcPct val="100000"/>
              </a:lnSpc>
            </a:pPr>
            <a:r>
              <a:rPr lang="en-US" sz="2400" b="1" dirty="0">
                <a:solidFill>
                  <a:srgbClr val="C4A265"/>
                </a:solidFill>
                <a:latin typeface="Liter" pitchFamily="34" charset="0"/>
                <a:ea typeface="Liter" pitchFamily="34" charset="-122"/>
                <a:cs typeface="Liter" pitchFamily="34" charset="-120"/>
              </a:rPr>
              <a:t>03</a:t>
            </a:r>
            <a:endParaRPr lang="en-US" sz="1600" dirty="0"/>
          </a:p>
        </p:txBody>
      </p:sp>
      <p:sp>
        <p:nvSpPr>
          <p:cNvPr id="15" name="Text 13"/>
          <p:cNvSpPr/>
          <p:nvPr/>
        </p:nvSpPr>
        <p:spPr>
          <a:xfrm>
            <a:off x="1651000" y="6096000"/>
            <a:ext cx="7620000" cy="381000"/>
          </a:xfrm>
          <a:prstGeom prst="rect">
            <a:avLst/>
          </a:prstGeom>
          <a:noFill/>
          <a:ln/>
        </p:spPr>
        <p:txBody>
          <a:bodyPr wrap="none" lIns="0" tIns="0" rIns="0" bIns="0" rtlCol="0" anchor="ctr"/>
          <a:lstStyle/>
          <a:p>
            <a:pPr>
              <a:lnSpc>
                <a:spcPct val="130000"/>
              </a:lnSpc>
            </a:pPr>
            <a:r>
              <a:rPr lang="en-US" sz="2200" b="1" dirty="0">
                <a:solidFill>
                  <a:srgbClr val="E8DCC8"/>
                </a:solidFill>
                <a:latin typeface="Liter" pitchFamily="34" charset="0"/>
                <a:ea typeface="Liter" pitchFamily="34" charset="-122"/>
                <a:cs typeface="Liter" pitchFamily="34" charset="-120"/>
              </a:rPr>
              <a:t>Recovery as State Machine Migration</a:t>
            </a:r>
            <a:endParaRPr lang="en-US" sz="2200" dirty="0"/>
          </a:p>
        </p:txBody>
      </p:sp>
      <p:sp>
        <p:nvSpPr>
          <p:cNvPr id="16" name="Text 14"/>
          <p:cNvSpPr/>
          <p:nvPr/>
        </p:nvSpPr>
        <p:spPr>
          <a:xfrm>
            <a:off x="1016000" y="6578600"/>
            <a:ext cx="14224000" cy="1397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fallback</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compact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abort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tool failure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are not bypass logic but integral parts of the main loop. Every recovery path has clear entry/exit conditions and state cleanup guarantees.</a:t>
            </a:r>
            <a:endParaRPr lang="en-US" sz="1800" dirty="0"/>
          </a:p>
          <a:p>
            <a:pPr>
              <a:lnSpc>
                <a:spcPct val="160000"/>
              </a:lnSpc>
              <a:spcBef>
                <a:spcPts val="800"/>
              </a:spcBef>
            </a:pPr>
            <a:r>
              <a:rPr lang="en-US" sz="1700" dirty="0">
                <a:solidFill>
                  <a:srgbClr val="9A9590"/>
                </a:solidFill>
                <a:latin typeface="QuattrocentoSans" pitchFamily="34" charset="0"/>
                <a:ea typeface="QuattrocentoSans" pitchFamily="34" charset="-122"/>
                <a:cs typeface="QuattrocentoSans" pitchFamily="34" charset="-120"/>
              </a:rPr>
              <a:t>Request failure prioritizes keeping the state machine running rather than immediately terminating the entire session.</a:t>
            </a:r>
            <a:endParaRPr lang="en-US" sz="1800" dirty="0"/>
          </a:p>
        </p:txBody>
      </p:sp>
      <p:sp>
        <p:nvSpPr>
          <p:cNvPr id="17" name="Shape 15"/>
          <p:cNvSpPr/>
          <p:nvPr/>
        </p:nvSpPr>
        <p:spPr>
          <a:xfrm>
            <a:off x="762000" y="8636000"/>
            <a:ext cx="14732000" cy="12700"/>
          </a:xfrm>
          <a:prstGeom prst="rect">
            <a:avLst/>
          </a:prstGeom>
          <a:solidFill>
            <a:srgbClr val="3A3A3E"/>
          </a:solidFill>
          <a:ln/>
        </p:spPr>
      </p:sp>
      <p:sp>
        <p:nvSpPr>
          <p:cNvPr id="18" name="Text 16"/>
          <p:cNvSpPr/>
          <p:nvPr/>
        </p:nvSpPr>
        <p:spPr>
          <a:xfrm>
            <a:off x="762000" y="8763000"/>
            <a:ext cx="635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src/query.ts, src/QueryEngine.ts</a:t>
            </a:r>
            <a:endParaRPr lang="en-US" sz="13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02</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TWO</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143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Conversation Execution Engine</a:t>
            </a:r>
            <a:endParaRPr lang="en-US" sz="3800" dirty="0"/>
          </a:p>
        </p:txBody>
      </p:sp>
      <p:sp>
        <p:nvSpPr>
          <p:cNvPr id="6" name="Text 4"/>
          <p:cNvSpPr/>
          <p:nvPr/>
        </p:nvSpPr>
        <p:spPr>
          <a:xfrm>
            <a:off x="762000" y="4699000"/>
            <a:ext cx="889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The heart of Claude Code — how user input flows through four architectural layers to produce agent behavior</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Four-Layer Execution Pipeline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3429000" cy="2540000"/>
          </a:xfrm>
          <a:prstGeom prst="rect">
            <a:avLst/>
          </a:prstGeom>
          <a:solidFill>
            <a:srgbClr val="161618"/>
          </a:solidFill>
          <a:ln/>
        </p:spPr>
      </p:sp>
      <p:sp>
        <p:nvSpPr>
          <p:cNvPr id="6" name="Shape 4"/>
          <p:cNvSpPr/>
          <p:nvPr/>
        </p:nvSpPr>
        <p:spPr>
          <a:xfrm>
            <a:off x="762000" y="1524000"/>
            <a:ext cx="3429000" cy="50800"/>
          </a:xfrm>
          <a:prstGeom prst="rect">
            <a:avLst/>
          </a:prstGeom>
          <a:solidFill>
            <a:srgbClr val="C4A265"/>
          </a:solidFill>
          <a:ln/>
        </p:spPr>
      </p:sp>
      <p:sp>
        <p:nvSpPr>
          <p:cNvPr id="7" name="Text 5"/>
          <p:cNvSpPr/>
          <p:nvPr/>
        </p:nvSpPr>
        <p:spPr>
          <a:xfrm>
            <a:off x="952500" y="1714500"/>
            <a:ext cx="3048000" cy="3048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INPUT ACCESS</a:t>
            </a:r>
            <a:endParaRPr lang="en-US" sz="1600" dirty="0"/>
          </a:p>
        </p:txBody>
      </p:sp>
      <p:sp>
        <p:nvSpPr>
          <p:cNvPr id="8" name="Text 6"/>
          <p:cNvSpPr/>
          <p:nvPr/>
        </p:nvSpPr>
        <p:spPr>
          <a:xfrm>
            <a:off x="952500" y="2095500"/>
            <a:ext cx="3048000" cy="17780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processUserInput</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processTextPrompt</a:t>
            </a:r>
            <a:endParaRPr lang="en-US" sz="1600" dirty="0"/>
          </a:p>
          <a:p>
            <a:pPr>
              <a:lnSpc>
                <a:spcPct val="150000"/>
              </a:lnSpc>
              <a:spcBef>
                <a:spcPts val="800"/>
              </a:spcBef>
            </a:pPr>
            <a:r>
              <a:rPr lang="en-US" sz="1400" dirty="0">
                <a:solidFill>
                  <a:srgbClr val="9A9590"/>
                </a:solidFill>
                <a:latin typeface="Quattrocento Sans" pitchFamily="34" charset="0"/>
                <a:ea typeface="Quattrocento Sans" pitchFamily="34" charset="-122"/>
                <a:cs typeface="Quattrocento Sans" pitchFamily="34" charset="-120"/>
              </a:rPr>
              <a:t>Parse slash commands, generate UserMessage/AttachmentMessage</a:t>
            </a:r>
            <a:endParaRPr lang="en-US" sz="1600" dirty="0"/>
          </a:p>
        </p:txBody>
      </p:sp>
      <p:sp>
        <p:nvSpPr>
          <p:cNvPr id="9" name="Shape 7"/>
          <p:cNvSpPr/>
          <p:nvPr/>
        </p:nvSpPr>
        <p:spPr>
          <a:xfrm>
            <a:off x="4318000" y="2667000"/>
            <a:ext cx="381000" cy="0"/>
          </a:xfrm>
          <a:prstGeom prst="straightConnector1">
            <a:avLst/>
          </a:prstGeom>
          <a:noFill/>
          <a:ln w="25400">
            <a:solidFill>
              <a:srgbClr val="C4A265"/>
            </a:solidFill>
            <a:prstDash val="solid"/>
            <a:headEnd type="none"/>
            <a:tailEnd type="arrow"/>
          </a:ln>
        </p:spPr>
      </p:sp>
      <p:sp>
        <p:nvSpPr>
          <p:cNvPr id="10" name="Shape 8"/>
          <p:cNvSpPr/>
          <p:nvPr/>
        </p:nvSpPr>
        <p:spPr>
          <a:xfrm>
            <a:off x="4826000" y="1524000"/>
            <a:ext cx="3429000" cy="2540000"/>
          </a:xfrm>
          <a:prstGeom prst="rect">
            <a:avLst/>
          </a:prstGeom>
          <a:solidFill>
            <a:srgbClr val="161618"/>
          </a:solidFill>
          <a:ln/>
        </p:spPr>
      </p:sp>
      <p:sp>
        <p:nvSpPr>
          <p:cNvPr id="11" name="Shape 9"/>
          <p:cNvSpPr/>
          <p:nvPr/>
        </p:nvSpPr>
        <p:spPr>
          <a:xfrm>
            <a:off x="4826000" y="1524000"/>
            <a:ext cx="3429000" cy="50800"/>
          </a:xfrm>
          <a:prstGeom prst="rect">
            <a:avLst/>
          </a:prstGeom>
          <a:solidFill>
            <a:srgbClr val="C4A265"/>
          </a:solidFill>
          <a:ln/>
        </p:spPr>
      </p:sp>
      <p:sp>
        <p:nvSpPr>
          <p:cNvPr id="12" name="Text 10"/>
          <p:cNvSpPr/>
          <p:nvPr/>
        </p:nvSpPr>
        <p:spPr>
          <a:xfrm>
            <a:off x="5016500" y="1714500"/>
            <a:ext cx="3048000" cy="3048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SESSION ORCHESTRATION</a:t>
            </a:r>
            <a:endParaRPr lang="en-US" sz="1600" dirty="0"/>
          </a:p>
        </p:txBody>
      </p:sp>
      <p:sp>
        <p:nvSpPr>
          <p:cNvPr id="13" name="Text 11"/>
          <p:cNvSpPr/>
          <p:nvPr/>
        </p:nvSpPr>
        <p:spPr>
          <a:xfrm>
            <a:off x="5016500" y="2095500"/>
            <a:ext cx="3048000" cy="17780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QueryEngine.ts</a:t>
            </a:r>
            <a:endParaRPr lang="en-US" sz="1600" dirty="0"/>
          </a:p>
          <a:p>
            <a:pPr>
              <a:lnSpc>
                <a:spcPct val="150000"/>
              </a:lnSpc>
              <a:spcBef>
                <a:spcPts val="800"/>
              </a:spcBef>
            </a:pPr>
            <a:r>
              <a:rPr lang="en-US" sz="1400" dirty="0">
                <a:solidFill>
                  <a:srgbClr val="9A9590"/>
                </a:solidFill>
                <a:latin typeface="Quattrocento Sans" pitchFamily="34" charset="0"/>
                <a:ea typeface="Quattrocento Sans" pitchFamily="34" charset="-122"/>
                <a:cs typeface="Quattrocento Sans" pitchFamily="34" charset="-120"/>
              </a:rPr>
              <a:t>Maintains mutableMessages, accumulates usage/permissions, constructs system prompts, calls query()</a:t>
            </a:r>
            <a:endParaRPr lang="en-US" sz="1600" dirty="0"/>
          </a:p>
        </p:txBody>
      </p:sp>
      <p:sp>
        <p:nvSpPr>
          <p:cNvPr id="14" name="Shape 12"/>
          <p:cNvSpPr/>
          <p:nvPr/>
        </p:nvSpPr>
        <p:spPr>
          <a:xfrm>
            <a:off x="8382000" y="2667000"/>
            <a:ext cx="381000" cy="0"/>
          </a:xfrm>
          <a:prstGeom prst="straightConnector1">
            <a:avLst/>
          </a:prstGeom>
          <a:noFill/>
          <a:ln w="25400">
            <a:solidFill>
              <a:srgbClr val="C4A265"/>
            </a:solidFill>
            <a:prstDash val="solid"/>
            <a:headEnd type="none"/>
            <a:tailEnd type="arrow"/>
          </a:ln>
        </p:spPr>
      </p:sp>
      <p:sp>
        <p:nvSpPr>
          <p:cNvPr id="15" name="Shape 13"/>
          <p:cNvSpPr/>
          <p:nvPr/>
        </p:nvSpPr>
        <p:spPr>
          <a:xfrm>
            <a:off x="8890000" y="1524000"/>
            <a:ext cx="3429000" cy="2540000"/>
          </a:xfrm>
          <a:prstGeom prst="rect">
            <a:avLst/>
          </a:prstGeom>
          <a:solidFill>
            <a:srgbClr val="161618"/>
          </a:solidFill>
          <a:ln/>
        </p:spPr>
      </p:sp>
      <p:sp>
        <p:nvSpPr>
          <p:cNvPr id="16" name="Shape 14"/>
          <p:cNvSpPr/>
          <p:nvPr/>
        </p:nvSpPr>
        <p:spPr>
          <a:xfrm>
            <a:off x="8890000" y="1524000"/>
            <a:ext cx="3429000" cy="50800"/>
          </a:xfrm>
          <a:prstGeom prst="rect">
            <a:avLst/>
          </a:prstGeom>
          <a:solidFill>
            <a:srgbClr val="C4A265"/>
          </a:solidFill>
          <a:ln/>
        </p:spPr>
      </p:sp>
      <p:sp>
        <p:nvSpPr>
          <p:cNvPr id="17" name="Text 15"/>
          <p:cNvSpPr/>
          <p:nvPr/>
        </p:nvSpPr>
        <p:spPr>
          <a:xfrm>
            <a:off x="9080500" y="1714500"/>
            <a:ext cx="3048000" cy="3048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SINGLE TURN EXECUTION</a:t>
            </a:r>
            <a:endParaRPr lang="en-US" sz="1600" dirty="0"/>
          </a:p>
        </p:txBody>
      </p:sp>
      <p:sp>
        <p:nvSpPr>
          <p:cNvPr id="18" name="Text 16"/>
          <p:cNvSpPr/>
          <p:nvPr/>
        </p:nvSpPr>
        <p:spPr>
          <a:xfrm>
            <a:off x="9080500" y="2095500"/>
            <a:ext cx="3048000" cy="17780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query.ts</a:t>
            </a:r>
            <a:endParaRPr lang="en-US" sz="1600" dirty="0"/>
          </a:p>
          <a:p>
            <a:pPr>
              <a:lnSpc>
                <a:spcPct val="150000"/>
              </a:lnSpc>
              <a:spcBef>
                <a:spcPts val="800"/>
              </a:spcBef>
            </a:pPr>
            <a:r>
              <a:rPr lang="en-US" sz="1400" dirty="0">
                <a:solidFill>
                  <a:srgbClr val="9A9590"/>
                </a:solidFill>
                <a:latin typeface="Quattrocento Sans" pitchFamily="34" charset="0"/>
                <a:ea typeface="Quattrocento Sans" pitchFamily="34" charset="-122"/>
                <a:cs typeface="Quattrocento Sans" pitchFamily="34" charset="-120"/>
              </a:rPr>
              <a:t>State machine: send messages, execute tools, continue querying, compact/recover/fallback/stop</a:t>
            </a:r>
            <a:endParaRPr lang="en-US" sz="1600" dirty="0"/>
          </a:p>
        </p:txBody>
      </p:sp>
      <p:sp>
        <p:nvSpPr>
          <p:cNvPr id="19" name="Shape 17"/>
          <p:cNvSpPr/>
          <p:nvPr/>
        </p:nvSpPr>
        <p:spPr>
          <a:xfrm>
            <a:off x="12446000" y="2667000"/>
            <a:ext cx="381000" cy="0"/>
          </a:xfrm>
          <a:prstGeom prst="straightConnector1">
            <a:avLst/>
          </a:prstGeom>
          <a:noFill/>
          <a:ln w="25400">
            <a:solidFill>
              <a:srgbClr val="C4A265"/>
            </a:solidFill>
            <a:prstDash val="solid"/>
            <a:headEnd type="none"/>
            <a:tailEnd type="arrow"/>
          </a:ln>
        </p:spPr>
      </p:sp>
      <p:sp>
        <p:nvSpPr>
          <p:cNvPr id="20" name="Shape 18"/>
          <p:cNvSpPr/>
          <p:nvPr/>
        </p:nvSpPr>
        <p:spPr>
          <a:xfrm>
            <a:off x="12954000" y="1524000"/>
            <a:ext cx="2540000" cy="2540000"/>
          </a:xfrm>
          <a:prstGeom prst="rect">
            <a:avLst/>
          </a:prstGeom>
          <a:solidFill>
            <a:srgbClr val="161618"/>
          </a:solidFill>
          <a:ln/>
        </p:spPr>
      </p:sp>
      <p:sp>
        <p:nvSpPr>
          <p:cNvPr id="21" name="Shape 19"/>
          <p:cNvSpPr/>
          <p:nvPr/>
        </p:nvSpPr>
        <p:spPr>
          <a:xfrm>
            <a:off x="12954000" y="1524000"/>
            <a:ext cx="2540000" cy="50800"/>
          </a:xfrm>
          <a:prstGeom prst="rect">
            <a:avLst/>
          </a:prstGeom>
          <a:solidFill>
            <a:srgbClr val="C4A265"/>
          </a:solidFill>
          <a:ln/>
        </p:spPr>
      </p:sp>
      <p:sp>
        <p:nvSpPr>
          <p:cNvPr id="22" name="Text 20"/>
          <p:cNvSpPr/>
          <p:nvPr/>
        </p:nvSpPr>
        <p:spPr>
          <a:xfrm>
            <a:off x="13144500" y="1714500"/>
            <a:ext cx="2159000" cy="3048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MODEL &amp; TOOL</a:t>
            </a:r>
            <a:endParaRPr lang="en-US" sz="1600" dirty="0"/>
          </a:p>
        </p:txBody>
      </p:sp>
      <p:sp>
        <p:nvSpPr>
          <p:cNvPr id="23" name="Text 21"/>
          <p:cNvSpPr/>
          <p:nvPr/>
        </p:nvSpPr>
        <p:spPr>
          <a:xfrm>
            <a:off x="13144500" y="2095500"/>
            <a:ext cx="2159000" cy="17780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claude.ts</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toolExecution.ts</a:t>
            </a:r>
            <a:endParaRPr lang="en-US" sz="1600" dirty="0"/>
          </a:p>
          <a:p>
            <a:pPr>
              <a:lnSpc>
                <a:spcPct val="150000"/>
              </a:lnSpc>
              <a:spcBef>
                <a:spcPts val="800"/>
              </a:spcBef>
            </a:pPr>
            <a:r>
              <a:rPr lang="en-US" sz="1400" dirty="0">
                <a:solidFill>
                  <a:srgbClr val="9A9590"/>
                </a:solidFill>
                <a:latin typeface="Quattrocento Sans" pitchFamily="34" charset="0"/>
                <a:ea typeface="Quattrocento Sans" pitchFamily="34" charset="-122"/>
                <a:cs typeface="Quattrocento Sans" pitchFamily="34" charset="-120"/>
              </a:rPr>
              <a:t>Model access, streaming, tool execution</a:t>
            </a:r>
            <a:endParaRPr lang="en-US" sz="1600" dirty="0"/>
          </a:p>
        </p:txBody>
      </p:sp>
      <p:sp>
        <p:nvSpPr>
          <p:cNvPr id="24" name="Text 22"/>
          <p:cNvSpPr/>
          <p:nvPr/>
        </p:nvSpPr>
        <p:spPr>
          <a:xfrm>
            <a:off x="762000" y="4381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Responsibility Matrix</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2000" y="4889500"/>
          <a:ext cx="14732000" cy="3429000"/>
        </p:xfrm>
        <a:graphic>
          <a:graphicData uri="http://schemas.openxmlformats.org/drawingml/2006/table">
            <a:tbl>
              <a:tblPr/>
              <a:tblGrid>
                <a:gridCol w="3241040"/>
                <a:gridCol w="5598160"/>
                <a:gridCol w="5892800"/>
              </a:tblGrid>
              <a:tr h="624613">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Layer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Key Question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Source File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701097">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Input Access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"How does user input enter the system?"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src/main.tsx processUserInput / processTextPrompt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701097">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Session Orchestration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"How does this session ask questions?"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src/QueryEngine.ts submitMessage / fetchSystemPromptParts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701097">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Single Turn Execution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"How does this turn run?"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src/query.ts query() main loop</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701097">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Model &amp; Tool Runtime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"How to request model / execute tools?"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src/services/api/claude.ts + src/services/tools/*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bl>
          </a:graphicData>
        </a:graphic>
      </p:graphicFrame>
      <p:sp>
        <p:nvSpPr>
          <p:cNvPr id="26" name="Shape 23"/>
          <p:cNvSpPr/>
          <p:nvPr/>
        </p:nvSpPr>
        <p:spPr>
          <a:xfrm>
            <a:off x="762000" y="8636000"/>
            <a:ext cx="14732000" cy="12700"/>
          </a:xfrm>
          <a:prstGeom prst="rect">
            <a:avLst/>
          </a:prstGeom>
          <a:solidFill>
            <a:srgbClr val="3A3A3E"/>
          </a:solidFill>
          <a:ln/>
        </p:spPr>
      </p:sp>
      <p:sp>
        <p:nvSpPr>
          <p:cNvPr id="27" name="Text 24"/>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src/QueryEngine.ts, src/query.ts, src/services/api/claude.ts</a:t>
            </a:r>
            <a:endParaRPr lang="en-US" sz="13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QueryEngine: Session-Level Orchestrator</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6858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Not a Low-Level Executor</a:t>
            </a:r>
            <a:endParaRPr lang="en-US" sz="2200" dirty="0"/>
          </a:p>
        </p:txBody>
      </p:sp>
      <p:sp>
        <p:nvSpPr>
          <p:cNvPr id="6" name="Text 4"/>
          <p:cNvSpPr/>
          <p:nvPr/>
        </p:nvSpPr>
        <p:spPr>
          <a:xfrm>
            <a:off x="762000" y="1905000"/>
            <a:ext cx="6858000" cy="2540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QueryEngine is a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"session-level orchestrator"</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It doesn't execute API calls or run tools directly — it coordinates the conversation lifecycle.</a:t>
            </a:r>
            <a:endParaRPr lang="en-US" sz="1800" dirty="0"/>
          </a:p>
          <a:p>
            <a:pPr>
              <a:lnSpc>
                <a:spcPct val="160000"/>
              </a:lnSpc>
              <a:spcBef>
                <a:spcPts val="800"/>
              </a:spcBef>
            </a:pPr>
            <a:r>
              <a:rPr lang="en-US" sz="1700" b="1" dirty="0">
                <a:solidFill>
                  <a:srgbClr val="E8DCC8"/>
                </a:solidFill>
                <a:latin typeface="QuattrocentoSans" pitchFamily="34" charset="0"/>
                <a:ea typeface="QuattrocentoSans" pitchFamily="34" charset="-122"/>
                <a:cs typeface="QuattrocentoSans" pitchFamily="34" charset="-120"/>
              </a:rPr>
              <a:t>Key responsibilities:</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Maintains mutableMessages for the session</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Accumulates usage / permission denials / file read state</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Constructs system prompts and context</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Calls query() for each turn</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Handles transcript persistence</a:t>
            </a:r>
            <a:endParaRPr lang="en-US" sz="1800" dirty="0"/>
          </a:p>
        </p:txBody>
      </p:sp>
      <p:sp>
        <p:nvSpPr>
          <p:cNvPr id="7" name="Shape 5"/>
          <p:cNvSpPr/>
          <p:nvPr/>
        </p:nvSpPr>
        <p:spPr>
          <a:xfrm>
            <a:off x="8001000" y="1460500"/>
            <a:ext cx="7493000" cy="3048000"/>
          </a:xfrm>
          <a:prstGeom prst="roundRect">
            <a:avLst>
              <a:gd name="adj" fmla="val 4000"/>
            </a:avLst>
          </a:prstGeom>
          <a:solidFill>
            <a:srgbClr val="161618"/>
          </a:solidFill>
          <a:ln/>
        </p:spPr>
      </p:sp>
      <p:sp>
        <p:nvSpPr>
          <p:cNvPr id="8" name="Text 6"/>
          <p:cNvSpPr/>
          <p:nvPr/>
        </p:nvSpPr>
        <p:spPr>
          <a:xfrm>
            <a:off x="8255000" y="1587500"/>
            <a:ext cx="6985000" cy="27940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QueryEngine.ts — Dependency Injection</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interface QueryEngineConfig {</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cwd: string;</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tools: ToolSet;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commands: CommandSet;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mcpClients: MCPClient[];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agents: AgentSet;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canUseTool: CanUseTool;</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getAppState / setAppState;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initialMessages: Message[];</a:t>
            </a:r>
            <a:endParaRPr lang="en-US" sz="1600" dirty="0"/>
          </a:p>
          <a:p>
            <a:pPr>
              <a:lnSpc>
                <a:spcPct val="150000"/>
              </a:lnSpc>
            </a:pPr>
            <a:r>
              <a:rPr lang="en-US" sz="1400" dirty="0">
                <a:solidFill>
                  <a:srgbClr val="C4A265"/>
                </a:solidFill>
                <a:latin typeface="MiSans" pitchFamily="34" charset="0"/>
                <a:ea typeface="MiSans" pitchFamily="34" charset="-122"/>
                <a:cs typeface="MiSans" pitchFamily="34" charset="-120"/>
              </a:rPr>
              <a:t>// Enables REPL/SDK/Remote/Subagent reuse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t>
            </a:r>
            <a:endParaRPr lang="en-US" sz="1600" dirty="0"/>
          </a:p>
        </p:txBody>
      </p:sp>
      <p:sp>
        <p:nvSpPr>
          <p:cNvPr id="9" name="Text 7"/>
          <p:cNvSpPr/>
          <p:nvPr/>
        </p:nvSpPr>
        <p:spPr>
          <a:xfrm>
            <a:off x="762000" y="46990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Why Dependency Injection Matters</a:t>
            </a:r>
            <a:endParaRPr lang="en-US" sz="2200" dirty="0"/>
          </a:p>
        </p:txBody>
      </p:sp>
      <p:sp>
        <p:nvSpPr>
          <p:cNvPr id="10" name="Text 8"/>
          <p:cNvSpPr/>
          <p:nvPr/>
        </p:nvSpPr>
        <p:spPr>
          <a:xfrm>
            <a:off x="762000" y="5143500"/>
            <a:ext cx="14732000" cy="1270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QueryEngineConfig receives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cwd, tools, commands, mcpClients, agents, canUseTool, getAppState/setAppState, initialMessages, readFileCache, customSystemPrompt, thinkingConfig, maxTurns, maxBudgetUsd</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This enables the same QueryEngine to run in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REPL mode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(interactive terminal),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SDK mode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(headless programmatic),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Remote mode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(server-side), and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Subagent mode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(forked agent context) — all through the same orchestration logic.</a:t>
            </a:r>
            <a:endParaRPr lang="en-US" sz="1800" dirty="0"/>
          </a:p>
        </p:txBody>
      </p:sp>
      <p:sp>
        <p:nvSpPr>
          <p:cNvPr id="11" name="Shape 9"/>
          <p:cNvSpPr/>
          <p:nvPr/>
        </p:nvSpPr>
        <p:spPr>
          <a:xfrm>
            <a:off x="762000" y="6604000"/>
            <a:ext cx="50800" cy="1651000"/>
          </a:xfrm>
          <a:prstGeom prst="rect">
            <a:avLst/>
          </a:prstGeom>
          <a:solidFill>
            <a:srgbClr val="C4A265"/>
          </a:solidFill>
          <a:ln/>
        </p:spPr>
      </p:sp>
      <p:sp>
        <p:nvSpPr>
          <p:cNvPr id="12" name="Text 10"/>
          <p:cNvSpPr/>
          <p:nvPr/>
        </p:nvSpPr>
        <p:spPr>
          <a:xfrm>
            <a:off x="1016000" y="66040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Design Insight</a:t>
            </a:r>
            <a:endParaRPr lang="en-US" sz="1600" dirty="0"/>
          </a:p>
        </p:txBody>
      </p:sp>
      <p:sp>
        <p:nvSpPr>
          <p:cNvPr id="13" name="Text 11"/>
          <p:cNvSpPr/>
          <p:nvPr/>
        </p:nvSpPr>
        <p:spPr>
          <a:xfrm>
            <a:off x="1016000" y="6985000"/>
            <a:ext cx="14224000" cy="1270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QueryEngine separates "what the session knows" (mutableMessages, usage, file reads) from "how a turn executes" (query.ts). This separation is critical: the session state is long-lived across many turns, while query.ts is ephemeral — created, executed, and destroyed per turn.</a:t>
            </a:r>
            <a:endParaRPr lang="en-US" sz="1800" dirty="0"/>
          </a:p>
        </p:txBody>
      </p:sp>
      <p:sp>
        <p:nvSpPr>
          <p:cNvPr id="14" name="Shape 12"/>
          <p:cNvSpPr/>
          <p:nvPr/>
        </p:nvSpPr>
        <p:spPr>
          <a:xfrm>
            <a:off x="762000" y="8636000"/>
            <a:ext cx="14732000" cy="12700"/>
          </a:xfrm>
          <a:prstGeom prst="rect">
            <a:avLst/>
          </a:prstGeom>
          <a:solidFill>
            <a:srgbClr val="3A3A3E"/>
          </a:solidFill>
          <a:ln/>
        </p:spPr>
      </p:sp>
      <p:sp>
        <p:nvSpPr>
          <p:cNvPr id="15" name="Text 13"/>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src/QueryEngine.ts:1-300</a:t>
            </a:r>
            <a:endParaRPr lang="en-US" sz="13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QueryEngine.submitMessage() Execution Flow</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498600"/>
            <a:ext cx="4699000" cy="1397000"/>
          </a:xfrm>
          <a:prstGeom prst="rect">
            <a:avLst/>
          </a:prstGeom>
          <a:solidFill>
            <a:srgbClr val="161618"/>
          </a:solidFill>
          <a:ln/>
        </p:spPr>
      </p:sp>
      <p:sp>
        <p:nvSpPr>
          <p:cNvPr id="6" name="Text 4"/>
          <p:cNvSpPr/>
          <p:nvPr/>
        </p:nvSpPr>
        <p:spPr>
          <a:xfrm>
            <a:off x="889000" y="1549400"/>
            <a:ext cx="381000" cy="304800"/>
          </a:xfrm>
          <a:prstGeom prst="rect">
            <a:avLst/>
          </a:prstGeom>
          <a:noFill/>
          <a:ln/>
        </p:spPr>
        <p:txBody>
          <a:bodyPr wrap="none" lIns="0" tIns="0" rIns="0" bIns="0" rtlCol="0" anchor="ctr"/>
          <a:lstStyle/>
          <a:p>
            <a:pPr algn="ctr">
              <a:lnSpc>
                <a:spcPct val="100000"/>
              </a:lnSpc>
            </a:pPr>
            <a:r>
              <a:rPr lang="en-US" sz="1800" b="1" dirty="0">
                <a:solidFill>
                  <a:srgbClr val="C4A265"/>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333500" y="1549400"/>
            <a:ext cx="3937000" cy="3048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processUserInput()</a:t>
            </a:r>
            <a:endParaRPr lang="en-US" sz="1600" dirty="0"/>
          </a:p>
        </p:txBody>
      </p:sp>
      <p:sp>
        <p:nvSpPr>
          <p:cNvPr id="8" name="Text 6"/>
          <p:cNvSpPr/>
          <p:nvPr/>
        </p:nvSpPr>
        <p:spPr>
          <a:xfrm>
            <a:off x="889000" y="1930400"/>
            <a:ext cx="4381500" cy="825500"/>
          </a:xfrm>
          <a:prstGeom prst="rect">
            <a:avLst/>
          </a:prstGeom>
          <a:noFill/>
          <a:ln/>
        </p:spPr>
        <p:txBody>
          <a:bodyPr wrap="square" lIns="0" tIns="0" rIns="0" bIns="0" rtlCol="0" anchor="t"/>
          <a:lstStyle/>
          <a:p>
            <a:pPr>
              <a:lnSpc>
                <a:spcPct val="150000"/>
              </a:lnSpc>
            </a:pPr>
            <a:r>
              <a:rPr lang="en-US" sz="1400" dirty="0">
                <a:solidFill>
                  <a:srgbClr val="9A9590"/>
                </a:solidFill>
                <a:latin typeface="Quattrocento Sans" pitchFamily="34" charset="0"/>
                <a:ea typeface="Quattrocento Sans" pitchFamily="34" charset="-122"/>
                <a:cs typeface="Quattrocento Sans" pitchFamily="34" charset="-120"/>
              </a:rPr>
              <a:t>Parse slash commands, generate UserMessage/AttachmentMessage, decide shouldQuery</a:t>
            </a:r>
            <a:endParaRPr lang="en-US" sz="1600" dirty="0"/>
          </a:p>
        </p:txBody>
      </p:sp>
      <p:sp>
        <p:nvSpPr>
          <p:cNvPr id="9" name="Shape 7"/>
          <p:cNvSpPr/>
          <p:nvPr/>
        </p:nvSpPr>
        <p:spPr>
          <a:xfrm>
            <a:off x="5715000" y="1498600"/>
            <a:ext cx="4699000" cy="1397000"/>
          </a:xfrm>
          <a:prstGeom prst="rect">
            <a:avLst/>
          </a:prstGeom>
          <a:solidFill>
            <a:srgbClr val="161618"/>
          </a:solidFill>
          <a:ln/>
        </p:spPr>
      </p:sp>
      <p:sp>
        <p:nvSpPr>
          <p:cNvPr id="10" name="Text 8"/>
          <p:cNvSpPr/>
          <p:nvPr/>
        </p:nvSpPr>
        <p:spPr>
          <a:xfrm>
            <a:off x="5842000" y="1549400"/>
            <a:ext cx="381000" cy="304800"/>
          </a:xfrm>
          <a:prstGeom prst="rect">
            <a:avLst/>
          </a:prstGeom>
          <a:noFill/>
          <a:ln/>
        </p:spPr>
        <p:txBody>
          <a:bodyPr wrap="none" lIns="0" tIns="0" rIns="0" bIns="0" rtlCol="0" anchor="ctr"/>
          <a:lstStyle/>
          <a:p>
            <a:pPr algn="ctr">
              <a:lnSpc>
                <a:spcPct val="100000"/>
              </a:lnSpc>
            </a:pPr>
            <a:r>
              <a:rPr lang="en-US" sz="1800" b="1" dirty="0">
                <a:solidFill>
                  <a:srgbClr val="C4A265"/>
                </a:solidFill>
                <a:latin typeface="Liter" pitchFamily="34" charset="0"/>
                <a:ea typeface="Liter" pitchFamily="34" charset="-122"/>
                <a:cs typeface="Liter" pitchFamily="34" charset="-120"/>
              </a:rPr>
              <a:t>2</a:t>
            </a:r>
            <a:endParaRPr lang="en-US" sz="1600" dirty="0"/>
          </a:p>
        </p:txBody>
      </p:sp>
      <p:sp>
        <p:nvSpPr>
          <p:cNvPr id="11" name="Text 9"/>
          <p:cNvSpPr/>
          <p:nvPr/>
        </p:nvSpPr>
        <p:spPr>
          <a:xfrm>
            <a:off x="6286500" y="1549400"/>
            <a:ext cx="3937000" cy="3048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Immediate Persistence</a:t>
            </a:r>
            <a:endParaRPr lang="en-US" sz="1600" dirty="0"/>
          </a:p>
        </p:txBody>
      </p:sp>
      <p:sp>
        <p:nvSpPr>
          <p:cNvPr id="12" name="Text 10"/>
          <p:cNvSpPr/>
          <p:nvPr/>
        </p:nvSpPr>
        <p:spPr>
          <a:xfrm>
            <a:off x="5842000" y="1930400"/>
            <a:ext cx="4381500" cy="825500"/>
          </a:xfrm>
          <a:prstGeom prst="rect">
            <a:avLst/>
          </a:prstGeom>
          <a:noFill/>
          <a:ln/>
        </p:spPr>
        <p:txBody>
          <a:bodyPr wrap="square" lIns="0" tIns="0" rIns="0" bIns="0" rtlCol="0" anchor="t"/>
          <a:lstStyle/>
          <a:p>
            <a:pPr>
              <a:lnSpc>
                <a:spcPct val="150000"/>
              </a:lnSpc>
            </a:pPr>
            <a:r>
              <a:rPr lang="en-US" sz="1400" dirty="0">
                <a:solidFill>
                  <a:srgbClr val="9A9590"/>
                </a:solidFill>
                <a:latin typeface="Quattrocento Sans" pitchFamily="34" charset="0"/>
                <a:ea typeface="Quattrocento Sans" pitchFamily="34" charset="-122"/>
                <a:cs typeface="Quattrocento Sans" pitchFamily="34" charset="-120"/>
              </a:rPr>
              <a:t>User message written before API call — crash-resilient: submission recorded before response</a:t>
            </a:r>
            <a:endParaRPr lang="en-US" sz="1600" dirty="0"/>
          </a:p>
        </p:txBody>
      </p:sp>
      <p:sp>
        <p:nvSpPr>
          <p:cNvPr id="13" name="Shape 11"/>
          <p:cNvSpPr/>
          <p:nvPr/>
        </p:nvSpPr>
        <p:spPr>
          <a:xfrm>
            <a:off x="10668000" y="1498600"/>
            <a:ext cx="4826000" cy="1397000"/>
          </a:xfrm>
          <a:prstGeom prst="rect">
            <a:avLst/>
          </a:prstGeom>
          <a:solidFill>
            <a:srgbClr val="161618"/>
          </a:solidFill>
          <a:ln/>
        </p:spPr>
      </p:sp>
      <p:sp>
        <p:nvSpPr>
          <p:cNvPr id="14" name="Text 12"/>
          <p:cNvSpPr/>
          <p:nvPr/>
        </p:nvSpPr>
        <p:spPr>
          <a:xfrm>
            <a:off x="10795000" y="1549400"/>
            <a:ext cx="381000" cy="304800"/>
          </a:xfrm>
          <a:prstGeom prst="rect">
            <a:avLst/>
          </a:prstGeom>
          <a:noFill/>
          <a:ln/>
        </p:spPr>
        <p:txBody>
          <a:bodyPr wrap="none" lIns="0" tIns="0" rIns="0" bIns="0" rtlCol="0" anchor="ctr"/>
          <a:lstStyle/>
          <a:p>
            <a:pPr algn="ctr">
              <a:lnSpc>
                <a:spcPct val="100000"/>
              </a:lnSpc>
            </a:pPr>
            <a:r>
              <a:rPr lang="en-US" sz="1800" b="1" dirty="0">
                <a:solidFill>
                  <a:srgbClr val="C4A265"/>
                </a:solidFill>
                <a:latin typeface="Liter" pitchFamily="34" charset="0"/>
                <a:ea typeface="Liter" pitchFamily="34" charset="-122"/>
                <a:cs typeface="Liter" pitchFamily="34" charset="-120"/>
              </a:rPr>
              <a:t>3</a:t>
            </a:r>
            <a:endParaRPr lang="en-US" sz="1600" dirty="0"/>
          </a:p>
        </p:txBody>
      </p:sp>
      <p:sp>
        <p:nvSpPr>
          <p:cNvPr id="15" name="Text 13"/>
          <p:cNvSpPr/>
          <p:nvPr/>
        </p:nvSpPr>
        <p:spPr>
          <a:xfrm>
            <a:off x="11239500" y="1549400"/>
            <a:ext cx="4064000" cy="3048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fetchSystemPromptParts()</a:t>
            </a:r>
            <a:endParaRPr lang="en-US" sz="1600" dirty="0"/>
          </a:p>
        </p:txBody>
      </p:sp>
      <p:sp>
        <p:nvSpPr>
          <p:cNvPr id="16" name="Text 14"/>
          <p:cNvSpPr/>
          <p:nvPr/>
        </p:nvSpPr>
        <p:spPr>
          <a:xfrm>
            <a:off x="10795000" y="1930400"/>
            <a:ext cx="4508500" cy="825500"/>
          </a:xfrm>
          <a:prstGeom prst="rect">
            <a:avLst/>
          </a:prstGeom>
          <a:noFill/>
          <a:ln/>
        </p:spPr>
        <p:txBody>
          <a:bodyPr wrap="square" lIns="0" tIns="0" rIns="0" bIns="0" rtlCol="0" anchor="t"/>
          <a:lstStyle/>
          <a:p>
            <a:pPr>
              <a:lnSpc>
                <a:spcPct val="150000"/>
              </a:lnSpc>
            </a:pPr>
            <a:r>
              <a:rPr lang="en-US" sz="1400" dirty="0">
                <a:solidFill>
                  <a:srgbClr val="9A9590"/>
                </a:solidFill>
                <a:latin typeface="Quattrocento Sans" pitchFamily="34" charset="0"/>
                <a:ea typeface="Quattrocento Sans" pitchFamily="34" charset="-122"/>
                <a:cs typeface="Quattrocento Sans" pitchFamily="34" charset="-120"/>
              </a:rPr>
              <a:t>defaultSystemPrompt + userContext + systemContext + custom + append + memory</a:t>
            </a:r>
            <a:endParaRPr lang="en-US" sz="1600" dirty="0"/>
          </a:p>
        </p:txBody>
      </p:sp>
      <p:sp>
        <p:nvSpPr>
          <p:cNvPr id="17" name="Shape 15"/>
          <p:cNvSpPr/>
          <p:nvPr/>
        </p:nvSpPr>
        <p:spPr>
          <a:xfrm>
            <a:off x="762000" y="3111500"/>
            <a:ext cx="4699000" cy="1397000"/>
          </a:xfrm>
          <a:prstGeom prst="rect">
            <a:avLst/>
          </a:prstGeom>
          <a:solidFill>
            <a:srgbClr val="161618"/>
          </a:solidFill>
          <a:ln/>
        </p:spPr>
      </p:sp>
      <p:sp>
        <p:nvSpPr>
          <p:cNvPr id="18" name="Text 16"/>
          <p:cNvSpPr/>
          <p:nvPr/>
        </p:nvSpPr>
        <p:spPr>
          <a:xfrm>
            <a:off x="889000" y="3162300"/>
            <a:ext cx="381000" cy="304800"/>
          </a:xfrm>
          <a:prstGeom prst="rect">
            <a:avLst/>
          </a:prstGeom>
          <a:noFill/>
          <a:ln/>
        </p:spPr>
        <p:txBody>
          <a:bodyPr wrap="none" lIns="0" tIns="0" rIns="0" bIns="0" rtlCol="0" anchor="ctr"/>
          <a:lstStyle/>
          <a:p>
            <a:pPr algn="ctr">
              <a:lnSpc>
                <a:spcPct val="100000"/>
              </a:lnSpc>
            </a:pPr>
            <a:r>
              <a:rPr lang="en-US" sz="1800" b="1" dirty="0">
                <a:solidFill>
                  <a:srgbClr val="C4A265"/>
                </a:solidFill>
                <a:latin typeface="Liter" pitchFamily="34" charset="0"/>
                <a:ea typeface="Liter" pitchFamily="34" charset="-122"/>
                <a:cs typeface="Liter" pitchFamily="34" charset="-120"/>
              </a:rPr>
              <a:t>4</a:t>
            </a:r>
            <a:endParaRPr lang="en-US" sz="1600" dirty="0"/>
          </a:p>
        </p:txBody>
      </p:sp>
      <p:sp>
        <p:nvSpPr>
          <p:cNvPr id="19" name="Text 17"/>
          <p:cNvSpPr/>
          <p:nvPr/>
        </p:nvSpPr>
        <p:spPr>
          <a:xfrm>
            <a:off x="1333500" y="3162300"/>
            <a:ext cx="3937000" cy="3048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Construct ToolUseContext</a:t>
            </a:r>
            <a:endParaRPr lang="en-US" sz="1600" dirty="0"/>
          </a:p>
        </p:txBody>
      </p:sp>
      <p:sp>
        <p:nvSpPr>
          <p:cNvPr id="20" name="Text 18"/>
          <p:cNvSpPr/>
          <p:nvPr/>
        </p:nvSpPr>
        <p:spPr>
          <a:xfrm>
            <a:off x="889000" y="3543300"/>
            <a:ext cx="4381500" cy="825500"/>
          </a:xfrm>
          <a:prstGeom prst="rect">
            <a:avLst/>
          </a:prstGeom>
          <a:noFill/>
          <a:ln/>
        </p:spPr>
        <p:txBody>
          <a:bodyPr wrap="square" lIns="0" tIns="0" rIns="0" bIns="0" rtlCol="0" anchor="t"/>
          <a:lstStyle/>
          <a:p>
            <a:pPr>
              <a:lnSpc>
                <a:spcPct val="150000"/>
              </a:lnSpc>
            </a:pPr>
            <a:r>
              <a:rPr lang="en-US" sz="1400" dirty="0">
                <a:solidFill>
                  <a:srgbClr val="9A9590"/>
                </a:solidFill>
                <a:latin typeface="Quattrocento Sans" pitchFamily="34" charset="0"/>
                <a:ea typeface="Quattrocento Sans" pitchFamily="34" charset="-122"/>
                <a:cs typeface="Quattrocento Sans" pitchFamily="34" charset="-120"/>
              </a:rPr>
              <a:t>Prepare tool execution context with current session state and available tools</a:t>
            </a:r>
            <a:endParaRPr lang="en-US" sz="1600" dirty="0"/>
          </a:p>
        </p:txBody>
      </p:sp>
      <p:sp>
        <p:nvSpPr>
          <p:cNvPr id="21" name="Shape 19"/>
          <p:cNvSpPr/>
          <p:nvPr/>
        </p:nvSpPr>
        <p:spPr>
          <a:xfrm>
            <a:off x="5715000" y="3111500"/>
            <a:ext cx="4699000" cy="1397000"/>
          </a:xfrm>
          <a:prstGeom prst="rect">
            <a:avLst/>
          </a:prstGeom>
          <a:solidFill>
            <a:srgbClr val="161618"/>
          </a:solidFill>
          <a:ln/>
        </p:spPr>
      </p:sp>
      <p:sp>
        <p:nvSpPr>
          <p:cNvPr id="22" name="Text 20"/>
          <p:cNvSpPr/>
          <p:nvPr/>
        </p:nvSpPr>
        <p:spPr>
          <a:xfrm>
            <a:off x="5842000" y="3162300"/>
            <a:ext cx="381000" cy="304800"/>
          </a:xfrm>
          <a:prstGeom prst="rect">
            <a:avLst/>
          </a:prstGeom>
          <a:noFill/>
          <a:ln/>
        </p:spPr>
        <p:txBody>
          <a:bodyPr wrap="none" lIns="0" tIns="0" rIns="0" bIns="0" rtlCol="0" anchor="ctr"/>
          <a:lstStyle/>
          <a:p>
            <a:pPr algn="ctr">
              <a:lnSpc>
                <a:spcPct val="100000"/>
              </a:lnSpc>
            </a:pPr>
            <a:r>
              <a:rPr lang="en-US" sz="1800" b="1" dirty="0">
                <a:solidFill>
                  <a:srgbClr val="C4A265"/>
                </a:solidFill>
                <a:latin typeface="Liter" pitchFamily="34" charset="0"/>
                <a:ea typeface="Liter" pitchFamily="34" charset="-122"/>
                <a:cs typeface="Liter" pitchFamily="34" charset="-120"/>
              </a:rPr>
              <a:t>5</a:t>
            </a:r>
            <a:endParaRPr lang="en-US" sz="1600" dirty="0"/>
          </a:p>
        </p:txBody>
      </p:sp>
      <p:sp>
        <p:nvSpPr>
          <p:cNvPr id="23" name="Text 21"/>
          <p:cNvSpPr/>
          <p:nvPr/>
        </p:nvSpPr>
        <p:spPr>
          <a:xfrm>
            <a:off x="6286500" y="3162300"/>
            <a:ext cx="3937000" cy="3048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Load Skills &amp; Plugin Cache</a:t>
            </a:r>
            <a:endParaRPr lang="en-US" sz="1600" dirty="0"/>
          </a:p>
        </p:txBody>
      </p:sp>
      <p:sp>
        <p:nvSpPr>
          <p:cNvPr id="24" name="Text 22"/>
          <p:cNvSpPr/>
          <p:nvPr/>
        </p:nvSpPr>
        <p:spPr>
          <a:xfrm>
            <a:off x="5842000" y="3543300"/>
            <a:ext cx="4381500" cy="825500"/>
          </a:xfrm>
          <a:prstGeom prst="rect">
            <a:avLst/>
          </a:prstGeom>
          <a:noFill/>
          <a:ln/>
        </p:spPr>
        <p:txBody>
          <a:bodyPr wrap="square" lIns="0" tIns="0" rIns="0" bIns="0" rtlCol="0" anchor="t"/>
          <a:lstStyle/>
          <a:p>
            <a:pPr>
              <a:lnSpc>
                <a:spcPct val="150000"/>
              </a:lnSpc>
            </a:pPr>
            <a:r>
              <a:rPr lang="en-US" sz="1400" dirty="0">
                <a:solidFill>
                  <a:srgbClr val="9A9590"/>
                </a:solidFill>
                <a:latin typeface="Quattrocento Sans" pitchFamily="34" charset="0"/>
                <a:ea typeface="Quattrocento Sans" pitchFamily="34" charset="-122"/>
                <a:cs typeface="Quattrocento Sans" pitchFamily="34" charset="-120"/>
              </a:rPr>
              <a:t>Resolve skill definitions and plugin caches for the current session context</a:t>
            </a:r>
            <a:endParaRPr lang="en-US" sz="1600" dirty="0"/>
          </a:p>
        </p:txBody>
      </p:sp>
      <p:sp>
        <p:nvSpPr>
          <p:cNvPr id="25" name="Shape 23"/>
          <p:cNvSpPr/>
          <p:nvPr/>
        </p:nvSpPr>
        <p:spPr>
          <a:xfrm>
            <a:off x="10668000" y="3111500"/>
            <a:ext cx="4826000" cy="1397000"/>
          </a:xfrm>
          <a:prstGeom prst="rect">
            <a:avLst/>
          </a:prstGeom>
          <a:solidFill>
            <a:srgbClr val="161618"/>
          </a:solidFill>
          <a:ln/>
        </p:spPr>
      </p:sp>
      <p:sp>
        <p:nvSpPr>
          <p:cNvPr id="26" name="Text 24"/>
          <p:cNvSpPr/>
          <p:nvPr/>
        </p:nvSpPr>
        <p:spPr>
          <a:xfrm>
            <a:off x="10795000" y="3162300"/>
            <a:ext cx="381000" cy="304800"/>
          </a:xfrm>
          <a:prstGeom prst="rect">
            <a:avLst/>
          </a:prstGeom>
          <a:noFill/>
          <a:ln/>
        </p:spPr>
        <p:txBody>
          <a:bodyPr wrap="none" lIns="0" tIns="0" rIns="0" bIns="0" rtlCol="0" anchor="ctr"/>
          <a:lstStyle/>
          <a:p>
            <a:pPr algn="ctr">
              <a:lnSpc>
                <a:spcPct val="100000"/>
              </a:lnSpc>
            </a:pPr>
            <a:r>
              <a:rPr lang="en-US" sz="1800" b="1" dirty="0">
                <a:solidFill>
                  <a:srgbClr val="C4A265"/>
                </a:solidFill>
                <a:latin typeface="Liter" pitchFamily="34" charset="0"/>
                <a:ea typeface="Liter" pitchFamily="34" charset="-122"/>
                <a:cs typeface="Liter" pitchFamily="34" charset="-120"/>
              </a:rPr>
              <a:t>6</a:t>
            </a:r>
            <a:endParaRPr lang="en-US" sz="1600" dirty="0"/>
          </a:p>
        </p:txBody>
      </p:sp>
      <p:sp>
        <p:nvSpPr>
          <p:cNvPr id="27" name="Text 25"/>
          <p:cNvSpPr/>
          <p:nvPr/>
        </p:nvSpPr>
        <p:spPr>
          <a:xfrm>
            <a:off x="11239500" y="3162300"/>
            <a:ext cx="4064000" cy="3048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Call query()</a:t>
            </a:r>
            <a:endParaRPr lang="en-US" sz="1600" dirty="0"/>
          </a:p>
        </p:txBody>
      </p:sp>
      <p:sp>
        <p:nvSpPr>
          <p:cNvPr id="28" name="Text 26"/>
          <p:cNvSpPr/>
          <p:nvPr/>
        </p:nvSpPr>
        <p:spPr>
          <a:xfrm>
            <a:off x="10795000" y="3543300"/>
            <a:ext cx="4508500" cy="825500"/>
          </a:xfrm>
          <a:prstGeom prst="rect">
            <a:avLst/>
          </a:prstGeom>
          <a:noFill/>
          <a:ln/>
        </p:spPr>
        <p:txBody>
          <a:bodyPr wrap="square" lIns="0" tIns="0" rIns="0" bIns="0" rtlCol="0" anchor="t"/>
          <a:lstStyle/>
          <a:p>
            <a:pPr>
              <a:lnSpc>
                <a:spcPct val="150000"/>
              </a:lnSpc>
            </a:pPr>
            <a:r>
              <a:rPr lang="en-US" sz="1400" dirty="0">
                <a:solidFill>
                  <a:srgbClr val="9A9590"/>
                </a:solidFill>
                <a:latin typeface="Quattrocento Sans" pitchFamily="34" charset="0"/>
                <a:ea typeface="Quattrocento Sans" pitchFamily="34" charset="-122"/>
                <a:cs typeface="Quattrocento Sans" pitchFamily="34" charset="-120"/>
              </a:rPr>
              <a:t>Delegate to turn-level state machine for actual model interaction</a:t>
            </a:r>
            <a:endParaRPr lang="en-US" sz="1600" dirty="0"/>
          </a:p>
        </p:txBody>
      </p:sp>
      <p:sp>
        <p:nvSpPr>
          <p:cNvPr id="29" name="Text 27"/>
          <p:cNvSpPr/>
          <p:nvPr/>
        </p:nvSpPr>
        <p:spPr>
          <a:xfrm>
            <a:off x="762000" y="4762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Step 7: Consume Streaming Messages</a:t>
            </a:r>
            <a:endParaRPr lang="en-US" sz="2200" dirty="0"/>
          </a:p>
        </p:txBody>
      </p:sp>
      <p:sp>
        <p:nvSpPr>
          <p:cNvPr id="30" name="Text 28"/>
          <p:cNvSpPr/>
          <p:nvPr/>
        </p:nvSpPr>
        <p:spPr>
          <a:xfrm>
            <a:off x="762000" y="5207000"/>
            <a:ext cx="14732000" cy="1270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QueryEngine consumes the async generator from query() and handles each message type:</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assistant message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model's text response</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user tool_result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tool execution results fed back to model</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compact boundary</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context compression marker with preserved segment metadata</a:t>
            </a:r>
            <a:endParaRPr lang="en-US" sz="1800" dirty="0"/>
          </a:p>
        </p:txBody>
      </p:sp>
      <p:sp>
        <p:nvSpPr>
          <p:cNvPr id="31" name="Text 29"/>
          <p:cNvSpPr/>
          <p:nvPr/>
        </p:nvSpPr>
        <p:spPr>
          <a:xfrm>
            <a:off x="762000" y="6604000"/>
            <a:ext cx="14732000" cy="1016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progress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streaming progress updates for UI</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tool summary</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aggregated tool execution summary</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tombstone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marks discarded messages during model fallback</a:t>
            </a:r>
            <a:endParaRPr lang="en-US" sz="1800" dirty="0"/>
          </a:p>
        </p:txBody>
      </p:sp>
      <p:sp>
        <p:nvSpPr>
          <p:cNvPr id="32" name="Shape 30"/>
          <p:cNvSpPr/>
          <p:nvPr/>
        </p:nvSpPr>
        <p:spPr>
          <a:xfrm>
            <a:off x="762000" y="7874000"/>
            <a:ext cx="50800" cy="508000"/>
          </a:xfrm>
          <a:prstGeom prst="rect">
            <a:avLst/>
          </a:prstGeom>
          <a:solidFill>
            <a:srgbClr val="C4A265"/>
          </a:solidFill>
          <a:ln/>
        </p:spPr>
      </p:sp>
      <p:sp>
        <p:nvSpPr>
          <p:cNvPr id="33" name="Text 31"/>
          <p:cNvSpPr/>
          <p:nvPr/>
        </p:nvSpPr>
        <p:spPr>
          <a:xfrm>
            <a:off x="1016000" y="7874000"/>
            <a:ext cx="14224000" cy="508000"/>
          </a:xfrm>
          <a:prstGeom prst="rect">
            <a:avLst/>
          </a:prstGeom>
          <a:noFill/>
          <a:ln/>
        </p:spPr>
        <p:txBody>
          <a:bodyPr wrap="square" lIns="0" tIns="0" rIns="0" bIns="0" rtlCol="0" anchor="ctr"/>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Key:</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Step 2 (immediate persistence) ensures crash resilience — user submission is always recorded before any API response.</a:t>
            </a:r>
            <a:endParaRPr lang="en-US" sz="1600" dirty="0"/>
          </a:p>
        </p:txBody>
      </p:sp>
      <p:sp>
        <p:nvSpPr>
          <p:cNvPr id="34" name="Shape 32"/>
          <p:cNvSpPr/>
          <p:nvPr/>
        </p:nvSpPr>
        <p:spPr>
          <a:xfrm>
            <a:off x="762000" y="8636000"/>
            <a:ext cx="14732000" cy="12700"/>
          </a:xfrm>
          <a:prstGeom prst="rect">
            <a:avLst/>
          </a:prstGeom>
          <a:solidFill>
            <a:srgbClr val="3A3A3E"/>
          </a:solidFill>
          <a:ln/>
        </p:spPr>
      </p:sp>
      <p:sp>
        <p:nvSpPr>
          <p:cNvPr id="35" name="Text 33"/>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src/QueryEngine.ts:250-500</a:t>
            </a:r>
            <a:endParaRPr lang="en-US" sz="13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query.ts: Turn-Level State Machine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7112000" cy="1651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query.ts is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"a small state machine inside one turn"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It doesn't care about UI, transcript organization, or submission source — only about:</a:t>
            </a:r>
            <a:endParaRPr lang="en-US" sz="1800" dirty="0"/>
          </a:p>
          <a:p>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 How to send current messages to the model</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Whether to execute tools after response</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Whether to continue querying after tool execution</a:t>
            </a:r>
            <a:endParaRPr lang="en-US" sz="1800" dirty="0"/>
          </a:p>
        </p:txBody>
      </p:sp>
      <p:sp>
        <p:nvSpPr>
          <p:cNvPr id="6" name="Shape 4"/>
          <p:cNvSpPr/>
          <p:nvPr/>
        </p:nvSpPr>
        <p:spPr>
          <a:xfrm>
            <a:off x="8255000" y="1460500"/>
            <a:ext cx="7239000" cy="1651000"/>
          </a:xfrm>
          <a:prstGeom prst="roundRect">
            <a:avLst>
              <a:gd name="adj" fmla="val 4000"/>
            </a:avLst>
          </a:prstGeom>
          <a:solidFill>
            <a:srgbClr val="161618"/>
          </a:solidFill>
          <a:ln/>
        </p:spPr>
      </p:sp>
      <p:sp>
        <p:nvSpPr>
          <p:cNvPr id="7" name="Text 5"/>
          <p:cNvSpPr/>
          <p:nvPr/>
        </p:nvSpPr>
        <p:spPr>
          <a:xfrm>
            <a:off x="8509000" y="1549400"/>
            <a:ext cx="6731000" cy="1473200"/>
          </a:xfrm>
          <a:prstGeom prst="rect">
            <a:avLst/>
          </a:prstGeom>
          <a:noFill/>
          <a:ln/>
        </p:spPr>
        <p:txBody>
          <a:bodyPr wrap="square" lIns="0" tIns="0" rIns="0" bIns="0" rtlCol="0" anchor="t"/>
          <a:lstStyle/>
          <a:p>
            <a:pPr>
              <a:lnSpc>
                <a:spcPct val="150000"/>
              </a:lnSpc>
            </a:pPr>
            <a:r>
              <a:rPr lang="en-US" sz="1300" dirty="0">
                <a:solidFill>
                  <a:srgbClr val="C4A265"/>
                </a:solidFill>
                <a:latin typeface="MiSans" pitchFamily="34" charset="0"/>
                <a:ea typeface="MiSans" pitchFamily="34" charset="-122"/>
                <a:cs typeface="MiSans" pitchFamily="34" charset="-120"/>
              </a:rPr>
              <a:t>// query.ts — State tracks per-turn lifecycle</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interface State {</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messages: Message[];</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toolUseContext: ToolUseContext;</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autoCompactTracking: ...;</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maxOutputTokensRecoveryCount: number;</a:t>
            </a:r>
            <a:endParaRPr lang="en-US" sz="1600" dirty="0"/>
          </a:p>
          <a:p>
            <a:pPr>
              <a:lnSpc>
                <a:spcPct val="150000"/>
              </a:lnSpc>
            </a:pPr>
            <a:r>
              <a:rPr lang="en-US" sz="1300" dirty="0">
                <a:solidFill>
                  <a:srgbClr val="C4A265"/>
                </a:solidFill>
                <a:latin typeface="MiSans" pitchFamily="34" charset="0"/>
                <a:ea typeface="MiSans" pitchFamily="34" charset="-122"/>
                <a:cs typeface="MiSans" pitchFamily="34" charset="-120"/>
              </a:rPr>
              <a:t>// transition controls loop flow</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transition: Transition;</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a:t>
            </a:r>
            <a:endParaRPr lang="en-US" sz="1600" dirty="0"/>
          </a:p>
        </p:txBody>
      </p:sp>
      <p:sp>
        <p:nvSpPr>
          <p:cNvPr id="8" name="Text 6"/>
          <p:cNvSpPr/>
          <p:nvPr/>
        </p:nvSpPr>
        <p:spPr>
          <a:xfrm>
            <a:off x="762000" y="33274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State Machine Transitions</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62000" y="3810000"/>
          <a:ext cx="14732000" cy="2921000"/>
        </p:xfrm>
        <a:graphic>
          <a:graphicData uri="http://schemas.openxmlformats.org/drawingml/2006/table">
            <a:tbl>
              <a:tblPr/>
              <a:tblGrid>
                <a:gridCol w="3241040"/>
                <a:gridCol w="5598160"/>
                <a:gridCol w="5892800"/>
              </a:tblGrid>
              <a:tr h="471952">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State Field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Purpose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When Updated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612262">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messages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Current message array for this turn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After each assistant response, tool result, compact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612262">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toolUseContext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Tool execution environment state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After tool execution, contextModifier applied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612262">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maxOutputTokensRecoveryCount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Tracks output truncation recovery attempts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Incremented on each truncation recovery (limit = 3)</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612262">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transition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Controls main loop flow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After stop_reason, tool execution, error recovery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bl>
          </a:graphicData>
        </a:graphic>
      </p:graphicFrame>
      <p:sp>
        <p:nvSpPr>
          <p:cNvPr id="10" name="Shape 7"/>
          <p:cNvSpPr/>
          <p:nvPr/>
        </p:nvSpPr>
        <p:spPr>
          <a:xfrm>
            <a:off x="762000" y="6985000"/>
            <a:ext cx="50800" cy="1270000"/>
          </a:xfrm>
          <a:prstGeom prst="rect">
            <a:avLst/>
          </a:prstGeom>
          <a:solidFill>
            <a:srgbClr val="C4A265"/>
          </a:solidFill>
          <a:ln/>
        </p:spPr>
      </p:sp>
      <p:sp>
        <p:nvSpPr>
          <p:cNvPr id="11" name="Text 8"/>
          <p:cNvSpPr/>
          <p:nvPr/>
        </p:nvSpPr>
        <p:spPr>
          <a:xfrm>
            <a:off x="1016000" y="69850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Design Insight</a:t>
            </a:r>
            <a:endParaRPr lang="en-US" sz="1600" dirty="0"/>
          </a:p>
        </p:txBody>
      </p:sp>
      <p:sp>
        <p:nvSpPr>
          <p:cNvPr id="12" name="Text 9"/>
          <p:cNvSpPr/>
          <p:nvPr/>
        </p:nvSpPr>
        <p:spPr>
          <a:xfrm>
            <a:off x="1016000" y="7366000"/>
            <a:ext cx="14224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The State.transition field is the control valve: after each iteration, query() checks transition to decide whether to continue the loop, stop, fallback, or compact. This makes the turn-level behavior fully deterministic and testable.</a:t>
            </a:r>
            <a:endParaRPr lang="en-US" sz="1800" dirty="0"/>
          </a:p>
        </p:txBody>
      </p:sp>
      <p:sp>
        <p:nvSpPr>
          <p:cNvPr id="13" name="Shape 10"/>
          <p:cNvSpPr/>
          <p:nvPr/>
        </p:nvSpPr>
        <p:spPr>
          <a:xfrm>
            <a:off x="762000" y="8636000"/>
            <a:ext cx="14732000" cy="12700"/>
          </a:xfrm>
          <a:prstGeom prst="rect">
            <a:avLst/>
          </a:prstGeom>
          <a:solidFill>
            <a:srgbClr val="3A3A3E"/>
          </a:solidFill>
          <a:ln/>
        </p:spPr>
      </p:sp>
      <p:sp>
        <p:nvSpPr>
          <p:cNvPr id="14" name="Text 11"/>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src/query.ts:553-1265, src/query.ts:1360-1565</a:t>
            </a:r>
            <a:endParaRPr lang="en-US" sz="13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Why deps Injection in query.ts?</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498600"/>
            <a:ext cx="50800" cy="1016000"/>
          </a:xfrm>
          <a:prstGeom prst="rect">
            <a:avLst/>
          </a:prstGeom>
          <a:solidFill>
            <a:srgbClr val="8B5A3C"/>
          </a:solidFill>
          <a:ln/>
        </p:spPr>
      </p:sp>
      <p:sp>
        <p:nvSpPr>
          <p:cNvPr id="6" name="Text 4"/>
          <p:cNvSpPr/>
          <p:nvPr/>
        </p:nvSpPr>
        <p:spPr>
          <a:xfrm>
            <a:off x="990600" y="1498600"/>
            <a:ext cx="2540000" cy="304800"/>
          </a:xfrm>
          <a:prstGeom prst="rect">
            <a:avLst/>
          </a:prstGeom>
          <a:noFill/>
          <a:ln/>
        </p:spPr>
        <p:txBody>
          <a:bodyPr wrap="none" lIns="0" tIns="0" rIns="0" bIns="0" rtlCol="0" anchor="ctr"/>
          <a:lstStyle/>
          <a:p>
            <a:pPr>
              <a:lnSpc>
                <a:spcPct val="100000"/>
              </a:lnSpc>
            </a:pPr>
            <a:r>
              <a:rPr lang="en-US" sz="1800" b="1" dirty="0">
                <a:solidFill>
                  <a:srgbClr val="D4A088"/>
                </a:solidFill>
                <a:latin typeface="Liter" pitchFamily="34" charset="0"/>
                <a:ea typeface="Liter" pitchFamily="34" charset="-122"/>
                <a:cs typeface="Liter" pitchFamily="34" charset="-120"/>
              </a:rPr>
              <a:t>Problem</a:t>
            </a:r>
            <a:endParaRPr lang="en-US" sz="1600" dirty="0"/>
          </a:p>
        </p:txBody>
      </p:sp>
      <p:sp>
        <p:nvSpPr>
          <p:cNvPr id="7" name="Text 5"/>
          <p:cNvSpPr/>
          <p:nvPr/>
        </p:nvSpPr>
        <p:spPr>
          <a:xfrm>
            <a:off x="990600" y="1854200"/>
            <a:ext cx="6604000" cy="6350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query.ts needs model access, context compression, UUID generation — but shouldn't hardcode any of them.</a:t>
            </a:r>
            <a:endParaRPr lang="en-US" sz="1600" dirty="0"/>
          </a:p>
        </p:txBody>
      </p:sp>
      <p:sp>
        <p:nvSpPr>
          <p:cNvPr id="8" name="Shape 6"/>
          <p:cNvSpPr/>
          <p:nvPr/>
        </p:nvSpPr>
        <p:spPr>
          <a:xfrm>
            <a:off x="8128000" y="1498600"/>
            <a:ext cx="50800" cy="1016000"/>
          </a:xfrm>
          <a:prstGeom prst="rect">
            <a:avLst/>
          </a:prstGeom>
          <a:solidFill>
            <a:srgbClr val="C4A265"/>
          </a:solidFill>
          <a:ln/>
        </p:spPr>
      </p:sp>
      <p:sp>
        <p:nvSpPr>
          <p:cNvPr id="9" name="Text 7"/>
          <p:cNvSpPr/>
          <p:nvPr/>
        </p:nvSpPr>
        <p:spPr>
          <a:xfrm>
            <a:off x="8356600" y="1498600"/>
            <a:ext cx="2540000" cy="3048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Solution</a:t>
            </a:r>
            <a:endParaRPr lang="en-US" sz="1600" dirty="0"/>
          </a:p>
        </p:txBody>
      </p:sp>
      <p:sp>
        <p:nvSpPr>
          <p:cNvPr id="10" name="Text 8"/>
          <p:cNvSpPr/>
          <p:nvPr/>
        </p:nvSpPr>
        <p:spPr>
          <a:xfrm>
            <a:off x="8356600" y="1854200"/>
            <a:ext cx="7112000" cy="6350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QueryDeps interface — lightweight dependency injection. query.ts becomes a "pure orchestrator".</a:t>
            </a:r>
            <a:endParaRPr lang="en-US" sz="1600" dirty="0"/>
          </a:p>
        </p:txBody>
      </p:sp>
      <p:sp>
        <p:nvSpPr>
          <p:cNvPr id="11" name="Shape 9"/>
          <p:cNvSpPr/>
          <p:nvPr/>
        </p:nvSpPr>
        <p:spPr>
          <a:xfrm>
            <a:off x="762000" y="2730500"/>
            <a:ext cx="14732000" cy="2286000"/>
          </a:xfrm>
          <a:prstGeom prst="roundRect">
            <a:avLst>
              <a:gd name="adj" fmla="val 4000"/>
            </a:avLst>
          </a:prstGeom>
          <a:solidFill>
            <a:srgbClr val="161618"/>
          </a:solidFill>
          <a:ln/>
        </p:spPr>
      </p:sp>
      <p:sp>
        <p:nvSpPr>
          <p:cNvPr id="12" name="Text 10"/>
          <p:cNvSpPr/>
          <p:nvPr/>
        </p:nvSpPr>
        <p:spPr>
          <a:xfrm>
            <a:off x="1016000" y="2857500"/>
            <a:ext cx="14224000" cy="20320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src/query/deps.ts — QueryDeps interface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interface QueryDeps {</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callModel: CallModel; </a:t>
            </a:r>
            <a:pPr>
              <a:lnSpc>
                <a:spcPct val="150000"/>
              </a:lnSpc>
            </a:pPr>
            <a:r>
              <a:rPr lang="en-US" sz="1400" dirty="0">
                <a:solidFill>
                  <a:srgbClr val="9A9590"/>
                </a:solidFill>
                <a:latin typeface="MiSans" pitchFamily="34" charset="0"/>
                <a:ea typeface="MiSans" pitchFamily="34" charset="-122"/>
                <a:cs typeface="MiSans" pitchFamily="34" charset="-120"/>
              </a:rPr>
              <a:t>// Model access (streaming/non-streaming)</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microcompact: Microcompact; </a:t>
            </a:r>
            <a:pPr>
              <a:lnSpc>
                <a:spcPct val="150000"/>
              </a:lnSpc>
            </a:pPr>
            <a:r>
              <a:rPr lang="en-US" sz="1400" dirty="0">
                <a:solidFill>
                  <a:srgbClr val="9A9590"/>
                </a:solidFill>
                <a:latin typeface="MiSans" pitchFamily="34" charset="0"/>
                <a:ea typeface="MiSans" pitchFamily="34" charset="-122"/>
                <a:cs typeface="MiSans" pitchFamily="34" charset="-120"/>
              </a:rPr>
              <a:t>// Low-damage context compression</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autocompact: Autocompact; </a:t>
            </a:r>
            <a:pPr>
              <a:lnSpc>
                <a:spcPct val="150000"/>
              </a:lnSpc>
            </a:pPr>
            <a:r>
              <a:rPr lang="en-US" sz="1400" dirty="0">
                <a:solidFill>
                  <a:srgbClr val="9A9590"/>
                </a:solidFill>
                <a:latin typeface="MiSans" pitchFamily="34" charset="0"/>
                <a:ea typeface="MiSans" pitchFamily="34" charset="-122"/>
                <a:cs typeface="MiSans" pitchFamily="34" charset="-120"/>
              </a:rPr>
              <a:t>// Formal conversation summary</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uuid: () =&gt; string; </a:t>
            </a:r>
            <a:pPr>
              <a:lnSpc>
                <a:spcPct val="150000"/>
              </a:lnSpc>
            </a:pPr>
            <a:r>
              <a:rPr lang="en-US" sz="1400" dirty="0">
                <a:solidFill>
                  <a:srgbClr val="9A9590"/>
                </a:solidFill>
                <a:latin typeface="MiSans" pitchFamily="34" charset="0"/>
                <a:ea typeface="MiSans" pitchFamily="34" charset="-122"/>
                <a:cs typeface="MiSans" pitchFamily="34" charset="-120"/>
              </a:rPr>
              <a:t>// UUID generation (mockable in tests)</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t>
            </a:r>
            <a:endParaRPr lang="en-US" sz="1600" dirty="0"/>
          </a:p>
          <a:p>
            <a:pPr>
              <a:lnSpc>
                <a:spcPct val="150000"/>
              </a:lnSpc>
            </a:pPr>
            <a:r>
              <a:rPr lang="en-US" sz="1400" dirty="0">
                <a:solidFill>
                  <a:srgbClr val="C4A265"/>
                </a:solidFill>
                <a:latin typeface="MiSans" pitchFamily="34" charset="0"/>
                <a:ea typeface="MiSans" pitchFamily="34" charset="-122"/>
                <a:cs typeface="MiSans" pitchFamily="34" charset="-120"/>
              </a:rPr>
              <a:t>// Benefits: testability, reduced coupling, multi-context reuse</a:t>
            </a:r>
            <a:endParaRPr lang="en-US" sz="1600" dirty="0"/>
          </a:p>
        </p:txBody>
      </p:sp>
      <p:sp>
        <p:nvSpPr>
          <p:cNvPr id="13" name="Text 11"/>
          <p:cNvSpPr/>
          <p:nvPr/>
        </p:nvSpPr>
        <p:spPr>
          <a:xfrm>
            <a:off x="762000" y="5270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Benefits of This Design</a:t>
            </a:r>
            <a:endParaRPr lang="en-US" sz="2200" dirty="0"/>
          </a:p>
        </p:txBody>
      </p:sp>
      <p:sp>
        <p:nvSpPr>
          <p:cNvPr id="14" name="Shape 12"/>
          <p:cNvSpPr/>
          <p:nvPr/>
        </p:nvSpPr>
        <p:spPr>
          <a:xfrm>
            <a:off x="762000" y="5778500"/>
            <a:ext cx="4699000" cy="1270000"/>
          </a:xfrm>
          <a:prstGeom prst="rect">
            <a:avLst/>
          </a:prstGeom>
          <a:solidFill>
            <a:srgbClr val="161618"/>
          </a:solidFill>
          <a:ln/>
        </p:spPr>
      </p:sp>
      <p:sp>
        <p:nvSpPr>
          <p:cNvPr id="15" name="Shape 13"/>
          <p:cNvSpPr/>
          <p:nvPr/>
        </p:nvSpPr>
        <p:spPr>
          <a:xfrm>
            <a:off x="1035050" y="5969000"/>
            <a:ext cx="266700" cy="304800"/>
          </a:xfrm>
          <a:custGeom>
            <a:avLst/>
            <a:gdLst/>
            <a:ahLst/>
            <a:cxnLst/>
            <a:rect l="l" t="t" r="r" b="b"/>
            <a:pathLst>
              <a:path w="266700" h="304800">
                <a:moveTo>
                  <a:pt x="171450" y="0"/>
                </a:moveTo>
                <a:lnTo>
                  <a:pt x="76200" y="0"/>
                </a:lnTo>
                <a:cubicBezTo>
                  <a:pt x="65663" y="0"/>
                  <a:pt x="57150" y="8513"/>
                  <a:pt x="57150" y="19050"/>
                </a:cubicBezTo>
                <a:cubicBezTo>
                  <a:pt x="57150" y="29587"/>
                  <a:pt x="65663" y="38100"/>
                  <a:pt x="76200" y="38100"/>
                </a:cubicBezTo>
                <a:lnTo>
                  <a:pt x="76200" y="128290"/>
                </a:lnTo>
                <a:lnTo>
                  <a:pt x="4465" y="253782"/>
                </a:lnTo>
                <a:cubicBezTo>
                  <a:pt x="1548" y="258961"/>
                  <a:pt x="0" y="264735"/>
                  <a:pt x="0" y="270689"/>
                </a:cubicBezTo>
                <a:cubicBezTo>
                  <a:pt x="0" y="289560"/>
                  <a:pt x="15240" y="304800"/>
                  <a:pt x="34111" y="304800"/>
                </a:cubicBezTo>
                <a:lnTo>
                  <a:pt x="232589" y="304800"/>
                </a:lnTo>
                <a:cubicBezTo>
                  <a:pt x="251400" y="304800"/>
                  <a:pt x="266700" y="289560"/>
                  <a:pt x="266700" y="270689"/>
                </a:cubicBezTo>
                <a:cubicBezTo>
                  <a:pt x="266700" y="264735"/>
                  <a:pt x="265152" y="258901"/>
                  <a:pt x="262235" y="253782"/>
                </a:cubicBezTo>
                <a:lnTo>
                  <a:pt x="190500" y="128290"/>
                </a:lnTo>
                <a:lnTo>
                  <a:pt x="190500" y="38100"/>
                </a:lnTo>
                <a:cubicBezTo>
                  <a:pt x="201037" y="38100"/>
                  <a:pt x="209550" y="29587"/>
                  <a:pt x="209550" y="19050"/>
                </a:cubicBezTo>
                <a:cubicBezTo>
                  <a:pt x="209550" y="8513"/>
                  <a:pt x="201037" y="0"/>
                  <a:pt x="190500" y="0"/>
                </a:cubicBezTo>
                <a:lnTo>
                  <a:pt x="171450" y="0"/>
                </a:lnTo>
                <a:close/>
                <a:moveTo>
                  <a:pt x="114300" y="128290"/>
                </a:moveTo>
                <a:lnTo>
                  <a:pt x="114300" y="38100"/>
                </a:lnTo>
                <a:lnTo>
                  <a:pt x="152400" y="38100"/>
                </a:lnTo>
                <a:lnTo>
                  <a:pt x="152400" y="128290"/>
                </a:lnTo>
                <a:cubicBezTo>
                  <a:pt x="152400" y="134898"/>
                  <a:pt x="154126" y="141446"/>
                  <a:pt x="157401" y="147221"/>
                </a:cubicBezTo>
                <a:lnTo>
                  <a:pt x="182166" y="190500"/>
                </a:lnTo>
                <a:lnTo>
                  <a:pt x="84534" y="190500"/>
                </a:lnTo>
                <a:lnTo>
                  <a:pt x="109299" y="147221"/>
                </a:lnTo>
                <a:cubicBezTo>
                  <a:pt x="112574" y="141446"/>
                  <a:pt x="114300" y="134957"/>
                  <a:pt x="114300" y="128290"/>
                </a:cubicBezTo>
                <a:close/>
              </a:path>
            </a:pathLst>
          </a:custGeom>
          <a:solidFill>
            <a:srgbClr val="C4A265"/>
          </a:solidFill>
          <a:ln/>
        </p:spPr>
      </p:sp>
      <p:sp>
        <p:nvSpPr>
          <p:cNvPr id="16" name="Text 14"/>
          <p:cNvSpPr/>
          <p:nvPr/>
        </p:nvSpPr>
        <p:spPr>
          <a:xfrm>
            <a:off x="1473200" y="5905500"/>
            <a:ext cx="3810000" cy="1016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Testability</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Replace底层 deps with mocks for unit testing</a:t>
            </a:r>
            <a:endParaRPr lang="en-US" sz="1600" dirty="0"/>
          </a:p>
        </p:txBody>
      </p:sp>
      <p:sp>
        <p:nvSpPr>
          <p:cNvPr id="17" name="Shape 15"/>
          <p:cNvSpPr/>
          <p:nvPr/>
        </p:nvSpPr>
        <p:spPr>
          <a:xfrm>
            <a:off x="5715000" y="5778500"/>
            <a:ext cx="4699000" cy="1270000"/>
          </a:xfrm>
          <a:prstGeom prst="rect">
            <a:avLst/>
          </a:prstGeom>
          <a:solidFill>
            <a:srgbClr val="161618"/>
          </a:solidFill>
          <a:ln/>
        </p:spPr>
      </p:sp>
      <p:sp>
        <p:nvSpPr>
          <p:cNvPr id="18" name="Shape 16"/>
          <p:cNvSpPr/>
          <p:nvPr/>
        </p:nvSpPr>
        <p:spPr>
          <a:xfrm>
            <a:off x="5949950" y="5969000"/>
            <a:ext cx="342900" cy="304800"/>
          </a:xfrm>
          <a:custGeom>
            <a:avLst/>
            <a:gdLst/>
            <a:ahLst/>
            <a:cxnLst/>
            <a:rect l="l" t="t" r="r" b="b"/>
            <a:pathLst>
              <a:path w="342900" h="304800">
                <a:moveTo>
                  <a:pt x="24408" y="-14823"/>
                </a:moveTo>
                <a:cubicBezTo>
                  <a:pt x="18812" y="-20419"/>
                  <a:pt x="9763" y="-20419"/>
                  <a:pt x="4227" y="-14823"/>
                </a:cubicBezTo>
                <a:cubicBezTo>
                  <a:pt x="-1310" y="-9227"/>
                  <a:pt x="-1369" y="-179"/>
                  <a:pt x="4167" y="5417"/>
                </a:cubicBezTo>
                <a:lnTo>
                  <a:pt x="318492" y="319742"/>
                </a:lnTo>
                <a:cubicBezTo>
                  <a:pt x="324088" y="325338"/>
                  <a:pt x="333137" y="325338"/>
                  <a:pt x="338673" y="319742"/>
                </a:cubicBezTo>
                <a:cubicBezTo>
                  <a:pt x="344210" y="314146"/>
                  <a:pt x="344269" y="305098"/>
                  <a:pt x="338673" y="299561"/>
                </a:cubicBezTo>
                <a:lnTo>
                  <a:pt x="266045" y="226933"/>
                </a:lnTo>
                <a:cubicBezTo>
                  <a:pt x="268545" y="224909"/>
                  <a:pt x="270986" y="222706"/>
                  <a:pt x="273248" y="220444"/>
                </a:cubicBezTo>
                <a:lnTo>
                  <a:pt x="315575" y="178118"/>
                </a:lnTo>
                <a:cubicBezTo>
                  <a:pt x="333018" y="160675"/>
                  <a:pt x="342840" y="136981"/>
                  <a:pt x="342840" y="112276"/>
                </a:cubicBezTo>
                <a:cubicBezTo>
                  <a:pt x="342840" y="60841"/>
                  <a:pt x="301169" y="19110"/>
                  <a:pt x="249674" y="19110"/>
                </a:cubicBezTo>
                <a:cubicBezTo>
                  <a:pt x="227469" y="19110"/>
                  <a:pt x="206157" y="27027"/>
                  <a:pt x="189369" y="41255"/>
                </a:cubicBezTo>
                <a:cubicBezTo>
                  <a:pt x="201454" y="47268"/>
                  <a:pt x="212407" y="55245"/>
                  <a:pt x="221813" y="64770"/>
                </a:cubicBezTo>
                <a:cubicBezTo>
                  <a:pt x="230207" y="59829"/>
                  <a:pt x="239792" y="57210"/>
                  <a:pt x="249674" y="57210"/>
                </a:cubicBezTo>
                <a:cubicBezTo>
                  <a:pt x="280095" y="57210"/>
                  <a:pt x="304740" y="81855"/>
                  <a:pt x="304740" y="112276"/>
                </a:cubicBezTo>
                <a:cubicBezTo>
                  <a:pt x="304740" y="126861"/>
                  <a:pt x="298966" y="140851"/>
                  <a:pt x="288607" y="151209"/>
                </a:cubicBezTo>
                <a:lnTo>
                  <a:pt x="246281" y="193536"/>
                </a:lnTo>
                <a:cubicBezTo>
                  <a:pt x="243959" y="195858"/>
                  <a:pt x="241459" y="197941"/>
                  <a:pt x="238780" y="199787"/>
                </a:cubicBezTo>
                <a:lnTo>
                  <a:pt x="210502" y="171510"/>
                </a:lnTo>
                <a:cubicBezTo>
                  <a:pt x="220325" y="170974"/>
                  <a:pt x="228183" y="162937"/>
                  <a:pt x="228481" y="152995"/>
                </a:cubicBezTo>
                <a:cubicBezTo>
                  <a:pt x="228481" y="152221"/>
                  <a:pt x="228481" y="151448"/>
                  <a:pt x="228481" y="150674"/>
                </a:cubicBezTo>
                <a:cubicBezTo>
                  <a:pt x="228481" y="99298"/>
                  <a:pt x="186869" y="57269"/>
                  <a:pt x="135315" y="57269"/>
                </a:cubicBezTo>
                <a:cubicBezTo>
                  <a:pt x="123885" y="57269"/>
                  <a:pt x="112752" y="59353"/>
                  <a:pt x="102275" y="63341"/>
                </a:cubicBezTo>
                <a:lnTo>
                  <a:pt x="24408" y="-14823"/>
                </a:lnTo>
                <a:close/>
                <a:moveTo>
                  <a:pt x="134481" y="95250"/>
                </a:moveTo>
                <a:cubicBezTo>
                  <a:pt x="134838" y="95250"/>
                  <a:pt x="135136" y="95250"/>
                  <a:pt x="135493" y="95250"/>
                </a:cubicBezTo>
                <a:cubicBezTo>
                  <a:pt x="144482" y="95250"/>
                  <a:pt x="153055" y="97453"/>
                  <a:pt x="160556" y="101322"/>
                </a:cubicBezTo>
                <a:cubicBezTo>
                  <a:pt x="161627" y="102037"/>
                  <a:pt x="162699" y="102691"/>
                  <a:pt x="163830" y="103168"/>
                </a:cubicBezTo>
                <a:cubicBezTo>
                  <a:pt x="179784" y="112871"/>
                  <a:pt x="190500" y="130493"/>
                  <a:pt x="190500" y="150555"/>
                </a:cubicBezTo>
                <a:cubicBezTo>
                  <a:pt x="190500" y="150793"/>
                  <a:pt x="190500" y="151031"/>
                  <a:pt x="190500" y="151269"/>
                </a:cubicBezTo>
                <a:lnTo>
                  <a:pt x="134481" y="95250"/>
                </a:lnTo>
                <a:close/>
                <a:moveTo>
                  <a:pt x="206097" y="247650"/>
                </a:moveTo>
                <a:lnTo>
                  <a:pt x="114300" y="155853"/>
                </a:lnTo>
                <a:cubicBezTo>
                  <a:pt x="115014" y="206216"/>
                  <a:pt x="155734" y="246876"/>
                  <a:pt x="206038" y="247590"/>
                </a:cubicBezTo>
                <a:close/>
                <a:moveTo>
                  <a:pt x="83165" y="124718"/>
                </a:moveTo>
                <a:lnTo>
                  <a:pt x="56197" y="97750"/>
                </a:lnTo>
                <a:lnTo>
                  <a:pt x="27265" y="126682"/>
                </a:lnTo>
                <a:cubicBezTo>
                  <a:pt x="9823" y="144125"/>
                  <a:pt x="0" y="167819"/>
                  <a:pt x="0" y="192524"/>
                </a:cubicBezTo>
                <a:cubicBezTo>
                  <a:pt x="0" y="243959"/>
                  <a:pt x="41672" y="285690"/>
                  <a:pt x="93166" y="285690"/>
                </a:cubicBezTo>
                <a:cubicBezTo>
                  <a:pt x="115312" y="285690"/>
                  <a:pt x="136684" y="277773"/>
                  <a:pt x="153472" y="263545"/>
                </a:cubicBezTo>
                <a:cubicBezTo>
                  <a:pt x="141387" y="257532"/>
                  <a:pt x="130373" y="249555"/>
                  <a:pt x="120968" y="240030"/>
                </a:cubicBezTo>
                <a:cubicBezTo>
                  <a:pt x="112633" y="244912"/>
                  <a:pt x="103049" y="247531"/>
                  <a:pt x="93166" y="247531"/>
                </a:cubicBezTo>
                <a:cubicBezTo>
                  <a:pt x="62746" y="247531"/>
                  <a:pt x="38100" y="222885"/>
                  <a:pt x="38100" y="192465"/>
                </a:cubicBezTo>
                <a:cubicBezTo>
                  <a:pt x="38100" y="177879"/>
                  <a:pt x="43875" y="163890"/>
                  <a:pt x="54233" y="153531"/>
                </a:cubicBezTo>
                <a:lnTo>
                  <a:pt x="83165" y="124599"/>
                </a:lnTo>
                <a:close/>
              </a:path>
            </a:pathLst>
          </a:custGeom>
          <a:solidFill>
            <a:srgbClr val="C4A265"/>
          </a:solidFill>
          <a:ln/>
        </p:spPr>
      </p:sp>
      <p:sp>
        <p:nvSpPr>
          <p:cNvPr id="19" name="Text 17"/>
          <p:cNvSpPr/>
          <p:nvPr/>
        </p:nvSpPr>
        <p:spPr>
          <a:xfrm>
            <a:off x="6426200" y="5905500"/>
            <a:ext cx="3810000" cy="1016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Reduced Coupling</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query.ts doesn't depend on I/O directly</a:t>
            </a:r>
            <a:endParaRPr lang="en-US" sz="1600" dirty="0"/>
          </a:p>
        </p:txBody>
      </p:sp>
      <p:sp>
        <p:nvSpPr>
          <p:cNvPr id="20" name="Shape 18"/>
          <p:cNvSpPr/>
          <p:nvPr/>
        </p:nvSpPr>
        <p:spPr>
          <a:xfrm>
            <a:off x="10668000" y="5778500"/>
            <a:ext cx="4826000" cy="1270000"/>
          </a:xfrm>
          <a:prstGeom prst="rect">
            <a:avLst/>
          </a:prstGeom>
          <a:solidFill>
            <a:srgbClr val="161618"/>
          </a:solidFill>
          <a:ln/>
        </p:spPr>
      </p:sp>
      <p:sp>
        <p:nvSpPr>
          <p:cNvPr id="21" name="Shape 19"/>
          <p:cNvSpPr/>
          <p:nvPr/>
        </p:nvSpPr>
        <p:spPr>
          <a:xfrm>
            <a:off x="10922000" y="5969000"/>
            <a:ext cx="304800" cy="304800"/>
          </a:xfrm>
          <a:custGeom>
            <a:avLst/>
            <a:gdLst/>
            <a:ahLst/>
            <a:cxnLst/>
            <a:rect l="l" t="t" r="r" b="b"/>
            <a:pathLst>
              <a:path w="304800" h="304800">
                <a:moveTo>
                  <a:pt x="39231" y="136029"/>
                </a:moveTo>
                <a:cubicBezTo>
                  <a:pt x="47149" y="80665"/>
                  <a:pt x="94833" y="38100"/>
                  <a:pt x="152400" y="38100"/>
                </a:cubicBezTo>
                <a:cubicBezTo>
                  <a:pt x="183952" y="38100"/>
                  <a:pt x="212527" y="50899"/>
                  <a:pt x="233243" y="71557"/>
                </a:cubicBezTo>
                <a:cubicBezTo>
                  <a:pt x="233363" y="71676"/>
                  <a:pt x="233482" y="71795"/>
                  <a:pt x="233601" y="71914"/>
                </a:cubicBezTo>
                <a:lnTo>
                  <a:pt x="238125" y="76200"/>
                </a:lnTo>
                <a:lnTo>
                  <a:pt x="209610" y="76200"/>
                </a:lnTo>
                <a:cubicBezTo>
                  <a:pt x="199073" y="76200"/>
                  <a:pt x="190560" y="84713"/>
                  <a:pt x="190560" y="95250"/>
                </a:cubicBezTo>
                <a:cubicBezTo>
                  <a:pt x="190560" y="105787"/>
                  <a:pt x="199073" y="114300"/>
                  <a:pt x="209610" y="114300"/>
                </a:cubicBezTo>
                <a:lnTo>
                  <a:pt x="285810" y="114300"/>
                </a:lnTo>
                <a:cubicBezTo>
                  <a:pt x="296347" y="114300"/>
                  <a:pt x="304860" y="105787"/>
                  <a:pt x="304860" y="95250"/>
                </a:cubicBezTo>
                <a:lnTo>
                  <a:pt x="304860" y="19050"/>
                </a:lnTo>
                <a:cubicBezTo>
                  <a:pt x="304860" y="8513"/>
                  <a:pt x="296347" y="0"/>
                  <a:pt x="285810" y="0"/>
                </a:cubicBezTo>
                <a:cubicBezTo>
                  <a:pt x="275273" y="0"/>
                  <a:pt x="266760" y="8513"/>
                  <a:pt x="266760" y="19050"/>
                </a:cubicBezTo>
                <a:lnTo>
                  <a:pt x="266760" y="50840"/>
                </a:lnTo>
                <a:lnTo>
                  <a:pt x="260033" y="44470"/>
                </a:lnTo>
                <a:cubicBezTo>
                  <a:pt x="232470" y="17026"/>
                  <a:pt x="194370" y="0"/>
                  <a:pt x="152400" y="0"/>
                </a:cubicBezTo>
                <a:cubicBezTo>
                  <a:pt x="75605" y="0"/>
                  <a:pt x="12085" y="56793"/>
                  <a:pt x="1548" y="130671"/>
                </a:cubicBezTo>
                <a:cubicBezTo>
                  <a:pt x="60" y="141089"/>
                  <a:pt x="7263" y="150733"/>
                  <a:pt x="17681" y="152221"/>
                </a:cubicBezTo>
                <a:cubicBezTo>
                  <a:pt x="28099" y="153710"/>
                  <a:pt x="37743" y="146447"/>
                  <a:pt x="39231" y="136088"/>
                </a:cubicBezTo>
                <a:close/>
                <a:moveTo>
                  <a:pt x="303252" y="174129"/>
                </a:moveTo>
                <a:cubicBezTo>
                  <a:pt x="304740" y="163711"/>
                  <a:pt x="297478" y="154067"/>
                  <a:pt x="287119" y="152579"/>
                </a:cubicBezTo>
                <a:cubicBezTo>
                  <a:pt x="276761" y="151090"/>
                  <a:pt x="267057" y="158353"/>
                  <a:pt x="265569" y="168712"/>
                </a:cubicBezTo>
                <a:cubicBezTo>
                  <a:pt x="257651" y="224076"/>
                  <a:pt x="209967" y="266640"/>
                  <a:pt x="152400" y="266640"/>
                </a:cubicBezTo>
                <a:cubicBezTo>
                  <a:pt x="120848" y="266640"/>
                  <a:pt x="92273" y="253841"/>
                  <a:pt x="71557" y="233184"/>
                </a:cubicBezTo>
                <a:cubicBezTo>
                  <a:pt x="71437" y="233065"/>
                  <a:pt x="71318" y="232946"/>
                  <a:pt x="71199" y="232827"/>
                </a:cubicBezTo>
                <a:lnTo>
                  <a:pt x="66675" y="228540"/>
                </a:lnTo>
                <a:lnTo>
                  <a:pt x="95190" y="228540"/>
                </a:lnTo>
                <a:cubicBezTo>
                  <a:pt x="105727" y="228540"/>
                  <a:pt x="114240" y="220028"/>
                  <a:pt x="114240" y="209490"/>
                </a:cubicBezTo>
                <a:cubicBezTo>
                  <a:pt x="114240" y="198953"/>
                  <a:pt x="105727" y="190440"/>
                  <a:pt x="95190" y="190440"/>
                </a:cubicBezTo>
                <a:lnTo>
                  <a:pt x="19050" y="190500"/>
                </a:lnTo>
                <a:cubicBezTo>
                  <a:pt x="13990" y="190500"/>
                  <a:pt x="9108" y="192524"/>
                  <a:pt x="5536" y="196155"/>
                </a:cubicBezTo>
                <a:cubicBezTo>
                  <a:pt x="1965" y="199787"/>
                  <a:pt x="-60" y="204609"/>
                  <a:pt x="0" y="209729"/>
                </a:cubicBezTo>
                <a:lnTo>
                  <a:pt x="595" y="285333"/>
                </a:lnTo>
                <a:cubicBezTo>
                  <a:pt x="655" y="295870"/>
                  <a:pt x="9287" y="304324"/>
                  <a:pt x="19824" y="304205"/>
                </a:cubicBezTo>
                <a:cubicBezTo>
                  <a:pt x="30361" y="304086"/>
                  <a:pt x="38814" y="295513"/>
                  <a:pt x="38695" y="284976"/>
                </a:cubicBezTo>
                <a:lnTo>
                  <a:pt x="38457" y="254318"/>
                </a:lnTo>
                <a:lnTo>
                  <a:pt x="44827" y="260330"/>
                </a:lnTo>
                <a:cubicBezTo>
                  <a:pt x="72390" y="287774"/>
                  <a:pt x="110430" y="304800"/>
                  <a:pt x="152400" y="304800"/>
                </a:cubicBezTo>
                <a:cubicBezTo>
                  <a:pt x="229195" y="304800"/>
                  <a:pt x="292715" y="248007"/>
                  <a:pt x="303252" y="174129"/>
                </a:cubicBezTo>
                <a:close/>
              </a:path>
            </a:pathLst>
          </a:custGeom>
          <a:solidFill>
            <a:srgbClr val="C4A265"/>
          </a:solidFill>
          <a:ln/>
        </p:spPr>
      </p:sp>
      <p:sp>
        <p:nvSpPr>
          <p:cNvPr id="22" name="Text 20"/>
          <p:cNvSpPr/>
          <p:nvPr/>
        </p:nvSpPr>
        <p:spPr>
          <a:xfrm>
            <a:off x="11379200" y="5905500"/>
            <a:ext cx="3937000" cy="10160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Multi-Context Reuse</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Same query loop in REPL/SDK/Remote/Subagent</a:t>
            </a:r>
            <a:endParaRPr lang="en-US" sz="1600" dirty="0"/>
          </a:p>
        </p:txBody>
      </p:sp>
      <p:sp>
        <p:nvSpPr>
          <p:cNvPr id="23" name="Shape 21"/>
          <p:cNvSpPr/>
          <p:nvPr/>
        </p:nvSpPr>
        <p:spPr>
          <a:xfrm>
            <a:off x="762000" y="7302500"/>
            <a:ext cx="50800" cy="1016000"/>
          </a:xfrm>
          <a:prstGeom prst="rect">
            <a:avLst/>
          </a:prstGeom>
          <a:solidFill>
            <a:srgbClr val="C4A265"/>
          </a:solidFill>
          <a:ln/>
        </p:spPr>
      </p:sp>
      <p:sp>
        <p:nvSpPr>
          <p:cNvPr id="24" name="Text 22"/>
          <p:cNvSpPr/>
          <p:nvPr/>
        </p:nvSpPr>
        <p:spPr>
          <a:xfrm>
            <a:off x="1016000" y="73025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Trade-off:</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Slightly more complex initialization (need to wire deps), but gains enormous flexibility. This is a lightweight dependency inversion pattern — not a full DI framework, just an interface passed at construction time.</a:t>
            </a:r>
            <a:endParaRPr lang="en-US" sz="1800" dirty="0"/>
          </a:p>
        </p:txBody>
      </p:sp>
      <p:sp>
        <p:nvSpPr>
          <p:cNvPr id="25" name="Shape 23"/>
          <p:cNvSpPr/>
          <p:nvPr/>
        </p:nvSpPr>
        <p:spPr>
          <a:xfrm>
            <a:off x="762000" y="8636000"/>
            <a:ext cx="14732000" cy="12700"/>
          </a:xfrm>
          <a:prstGeom prst="rect">
            <a:avLst/>
          </a:prstGeom>
          <a:solidFill>
            <a:srgbClr val="3A3A3E"/>
          </a:solidFill>
          <a:ln/>
        </p:spPr>
      </p:sp>
      <p:sp>
        <p:nvSpPr>
          <p:cNvPr id="26" name="Text 24"/>
          <p:cNvSpPr/>
          <p:nvPr/>
        </p:nvSpPr>
        <p:spPr>
          <a:xfrm>
            <a:off x="762000" y="8763000"/>
            <a:ext cx="635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src/query/deps.ts</a:t>
            </a:r>
            <a:endParaRPr lang="en-US" sz="13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Pre-Query Context Governance Pipeline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635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Before every model call, query.ts runs a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6-step escalation pipeline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try cheap, low-damage compression first, then escalate to expensive formal compaction.</a:t>
            </a:r>
            <a:endParaRPr lang="en-US" sz="1800" dirty="0"/>
          </a:p>
        </p:txBody>
      </p:sp>
      <p:sp>
        <p:nvSpPr>
          <p:cNvPr id="6" name="Shape 4"/>
          <p:cNvSpPr/>
          <p:nvPr/>
        </p:nvSpPr>
        <p:spPr>
          <a:xfrm>
            <a:off x="762000" y="2286000"/>
            <a:ext cx="4699000" cy="1143000"/>
          </a:xfrm>
          <a:prstGeom prst="rect">
            <a:avLst/>
          </a:prstGeom>
          <a:solidFill>
            <a:srgbClr val="161618"/>
          </a:solidFill>
          <a:ln/>
        </p:spPr>
      </p:sp>
      <p:sp>
        <p:nvSpPr>
          <p:cNvPr id="7" name="Text 5"/>
          <p:cNvSpPr/>
          <p:nvPr/>
        </p:nvSpPr>
        <p:spPr>
          <a:xfrm>
            <a:off x="889000" y="2336800"/>
            <a:ext cx="381000" cy="279400"/>
          </a:xfrm>
          <a:prstGeom prst="rect">
            <a:avLst/>
          </a:prstGeom>
          <a:noFill/>
          <a:ln/>
        </p:spPr>
        <p:txBody>
          <a:bodyPr wrap="none" lIns="0" tIns="0" rIns="0" bIns="0" rtlCol="0" anchor="ctr"/>
          <a:lstStyle/>
          <a:p>
            <a:pPr algn="ctr">
              <a:lnSpc>
                <a:spcPct val="100000"/>
              </a:lnSpc>
            </a:pPr>
            <a:r>
              <a:rPr lang="en-US" sz="1600" b="1" dirty="0">
                <a:solidFill>
                  <a:srgbClr val="C4A265"/>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333500" y="2336800"/>
            <a:ext cx="3937000" cy="2794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getMessagesAfterCompactBoundary</a:t>
            </a:r>
            <a:endParaRPr lang="en-US" sz="1600" dirty="0"/>
          </a:p>
        </p:txBody>
      </p:sp>
      <p:sp>
        <p:nvSpPr>
          <p:cNvPr id="9" name="Text 7"/>
          <p:cNvSpPr/>
          <p:nvPr/>
        </p:nvSpPr>
        <p:spPr>
          <a:xfrm>
            <a:off x="889000" y="2692400"/>
            <a:ext cx="4381500" cy="609600"/>
          </a:xfrm>
          <a:prstGeom prst="rect">
            <a:avLst/>
          </a:prstGeom>
          <a:noFill/>
          <a:ln/>
        </p:spPr>
        <p:txBody>
          <a:bodyPr wrap="square" lIns="0" tIns="0" rIns="0" bIns="0" rtlCol="0" anchor="t"/>
          <a:lstStyle/>
          <a:p>
            <a:pPr>
              <a:lnSpc>
                <a:spcPct val="140000"/>
              </a:lnSpc>
            </a:pPr>
            <a:r>
              <a:rPr lang="en-US" sz="1400" dirty="0">
                <a:solidFill>
                  <a:srgbClr val="9A9590"/>
                </a:solidFill>
                <a:latin typeface="Quattrocento Sans" pitchFamily="34" charset="0"/>
                <a:ea typeface="Quattrocento Sans" pitchFamily="34" charset="-122"/>
                <a:cs typeface="Quattrocento Sans" pitchFamily="34" charset="-120"/>
              </a:rPr>
              <a:t>Only keep post-compact messages; discard pre-compact history</a:t>
            </a:r>
            <a:endParaRPr lang="en-US" sz="1600" dirty="0"/>
          </a:p>
        </p:txBody>
      </p:sp>
      <p:sp>
        <p:nvSpPr>
          <p:cNvPr id="10" name="Shape 8"/>
          <p:cNvSpPr/>
          <p:nvPr/>
        </p:nvSpPr>
        <p:spPr>
          <a:xfrm>
            <a:off x="5715000" y="2286000"/>
            <a:ext cx="4699000" cy="1143000"/>
          </a:xfrm>
          <a:prstGeom prst="rect">
            <a:avLst/>
          </a:prstGeom>
          <a:solidFill>
            <a:srgbClr val="161618"/>
          </a:solidFill>
          <a:ln/>
        </p:spPr>
      </p:sp>
      <p:sp>
        <p:nvSpPr>
          <p:cNvPr id="11" name="Text 9"/>
          <p:cNvSpPr/>
          <p:nvPr/>
        </p:nvSpPr>
        <p:spPr>
          <a:xfrm>
            <a:off x="5842000" y="2336800"/>
            <a:ext cx="381000" cy="279400"/>
          </a:xfrm>
          <a:prstGeom prst="rect">
            <a:avLst/>
          </a:prstGeom>
          <a:noFill/>
          <a:ln/>
        </p:spPr>
        <p:txBody>
          <a:bodyPr wrap="none" lIns="0" tIns="0" rIns="0" bIns="0" rtlCol="0" anchor="ctr"/>
          <a:lstStyle/>
          <a:p>
            <a:pPr algn="ctr">
              <a:lnSpc>
                <a:spcPct val="100000"/>
              </a:lnSpc>
            </a:pPr>
            <a:r>
              <a:rPr lang="en-US" sz="1600" b="1" dirty="0">
                <a:solidFill>
                  <a:srgbClr val="C4A265"/>
                </a:solidFill>
                <a:latin typeface="Liter" pitchFamily="34" charset="0"/>
                <a:ea typeface="Liter" pitchFamily="34" charset="-122"/>
                <a:cs typeface="Liter" pitchFamily="34" charset="-120"/>
              </a:rPr>
              <a:t>2</a:t>
            </a:r>
            <a:endParaRPr lang="en-US" sz="1600" dirty="0"/>
          </a:p>
        </p:txBody>
      </p:sp>
      <p:sp>
        <p:nvSpPr>
          <p:cNvPr id="12" name="Text 10"/>
          <p:cNvSpPr/>
          <p:nvPr/>
        </p:nvSpPr>
        <p:spPr>
          <a:xfrm>
            <a:off x="6286500" y="2336800"/>
            <a:ext cx="3937000" cy="2794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applyToolResultBudget()</a:t>
            </a:r>
            <a:endParaRPr lang="en-US" sz="1600" dirty="0"/>
          </a:p>
        </p:txBody>
      </p:sp>
      <p:sp>
        <p:nvSpPr>
          <p:cNvPr id="13" name="Text 11"/>
          <p:cNvSpPr/>
          <p:nvPr/>
        </p:nvSpPr>
        <p:spPr>
          <a:xfrm>
            <a:off x="5842000" y="2692400"/>
            <a:ext cx="4381500" cy="609600"/>
          </a:xfrm>
          <a:prstGeom prst="rect">
            <a:avLst/>
          </a:prstGeom>
          <a:noFill/>
          <a:ln/>
        </p:spPr>
        <p:txBody>
          <a:bodyPr wrap="square" lIns="0" tIns="0" rIns="0" bIns="0" rtlCol="0" anchor="t"/>
          <a:lstStyle/>
          <a:p>
            <a:pPr>
              <a:lnSpc>
                <a:spcPct val="140000"/>
              </a:lnSpc>
            </a:pPr>
            <a:r>
              <a:rPr lang="en-US" sz="1400" dirty="0">
                <a:solidFill>
                  <a:srgbClr val="9A9590"/>
                </a:solidFill>
                <a:latin typeface="Quattrocento Sans" pitchFamily="34" charset="0"/>
                <a:ea typeface="Quattrocento Sans" pitchFamily="34" charset="-122"/>
                <a:cs typeface="Quattrocento Sans" pitchFamily="34" charset="-120"/>
              </a:rPr>
              <a:t>Replace oversized tool results with slim versions</a:t>
            </a:r>
            <a:endParaRPr lang="en-US" sz="1600" dirty="0"/>
          </a:p>
        </p:txBody>
      </p:sp>
      <p:sp>
        <p:nvSpPr>
          <p:cNvPr id="14" name="Shape 12"/>
          <p:cNvSpPr/>
          <p:nvPr/>
        </p:nvSpPr>
        <p:spPr>
          <a:xfrm>
            <a:off x="10668000" y="2286000"/>
            <a:ext cx="4826000" cy="1143000"/>
          </a:xfrm>
          <a:prstGeom prst="rect">
            <a:avLst/>
          </a:prstGeom>
          <a:solidFill>
            <a:srgbClr val="161618"/>
          </a:solidFill>
          <a:ln/>
        </p:spPr>
      </p:sp>
      <p:sp>
        <p:nvSpPr>
          <p:cNvPr id="15" name="Text 13"/>
          <p:cNvSpPr/>
          <p:nvPr/>
        </p:nvSpPr>
        <p:spPr>
          <a:xfrm>
            <a:off x="10795000" y="2336800"/>
            <a:ext cx="381000" cy="279400"/>
          </a:xfrm>
          <a:prstGeom prst="rect">
            <a:avLst/>
          </a:prstGeom>
          <a:noFill/>
          <a:ln/>
        </p:spPr>
        <p:txBody>
          <a:bodyPr wrap="none" lIns="0" tIns="0" rIns="0" bIns="0" rtlCol="0" anchor="ctr"/>
          <a:lstStyle/>
          <a:p>
            <a:pPr algn="ctr">
              <a:lnSpc>
                <a:spcPct val="100000"/>
              </a:lnSpc>
            </a:pPr>
            <a:r>
              <a:rPr lang="en-US" sz="1600" b="1" dirty="0">
                <a:solidFill>
                  <a:srgbClr val="C4A265"/>
                </a:solidFill>
                <a:latin typeface="Liter" pitchFamily="34" charset="0"/>
                <a:ea typeface="Liter" pitchFamily="34" charset="-122"/>
                <a:cs typeface="Liter" pitchFamily="34" charset="-120"/>
              </a:rPr>
              <a:t>3</a:t>
            </a:r>
            <a:endParaRPr lang="en-US" sz="1600" dirty="0"/>
          </a:p>
        </p:txBody>
      </p:sp>
      <p:sp>
        <p:nvSpPr>
          <p:cNvPr id="16" name="Text 14"/>
          <p:cNvSpPr/>
          <p:nvPr/>
        </p:nvSpPr>
        <p:spPr>
          <a:xfrm>
            <a:off x="11239500" y="2336800"/>
            <a:ext cx="4064000" cy="2794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snipCompactIfNeeded()</a:t>
            </a:r>
            <a:endParaRPr lang="en-US" sz="1600" dirty="0"/>
          </a:p>
        </p:txBody>
      </p:sp>
      <p:sp>
        <p:nvSpPr>
          <p:cNvPr id="17" name="Text 15"/>
          <p:cNvSpPr/>
          <p:nvPr/>
        </p:nvSpPr>
        <p:spPr>
          <a:xfrm>
            <a:off x="10795000" y="2692400"/>
            <a:ext cx="4508500" cy="609600"/>
          </a:xfrm>
          <a:prstGeom prst="rect">
            <a:avLst/>
          </a:prstGeom>
          <a:noFill/>
          <a:ln/>
        </p:spPr>
        <p:txBody>
          <a:bodyPr wrap="square" lIns="0" tIns="0" rIns="0" bIns="0" rtlCol="0" anchor="t"/>
          <a:lstStyle/>
          <a:p>
            <a:pPr>
              <a:lnSpc>
                <a:spcPct val="140000"/>
              </a:lnSpc>
            </a:pPr>
            <a:r>
              <a:rPr lang="en-US" sz="1400" dirty="0">
                <a:solidFill>
                  <a:srgbClr val="9A9590"/>
                </a:solidFill>
                <a:latin typeface="Quattrocento Sans" pitchFamily="34" charset="0"/>
                <a:ea typeface="Quattrocento Sans" pitchFamily="34" charset="-122"/>
                <a:cs typeface="Quattrocento Sans" pitchFamily="34" charset="-120"/>
              </a:rPr>
              <a:t>Snip low-value history fragments; pass tokensFreed to autocompact</a:t>
            </a:r>
            <a:endParaRPr lang="en-US" sz="1600" dirty="0"/>
          </a:p>
        </p:txBody>
      </p:sp>
      <p:sp>
        <p:nvSpPr>
          <p:cNvPr id="18" name="Shape 16"/>
          <p:cNvSpPr/>
          <p:nvPr/>
        </p:nvSpPr>
        <p:spPr>
          <a:xfrm>
            <a:off x="762000" y="3619500"/>
            <a:ext cx="4699000" cy="1143000"/>
          </a:xfrm>
          <a:prstGeom prst="rect">
            <a:avLst/>
          </a:prstGeom>
          <a:solidFill>
            <a:srgbClr val="161618"/>
          </a:solidFill>
          <a:ln/>
        </p:spPr>
      </p:sp>
      <p:sp>
        <p:nvSpPr>
          <p:cNvPr id="19" name="Text 17"/>
          <p:cNvSpPr/>
          <p:nvPr/>
        </p:nvSpPr>
        <p:spPr>
          <a:xfrm>
            <a:off x="889000" y="3670300"/>
            <a:ext cx="381000" cy="279400"/>
          </a:xfrm>
          <a:prstGeom prst="rect">
            <a:avLst/>
          </a:prstGeom>
          <a:noFill/>
          <a:ln/>
        </p:spPr>
        <p:txBody>
          <a:bodyPr wrap="none" lIns="0" tIns="0" rIns="0" bIns="0" rtlCol="0" anchor="ctr"/>
          <a:lstStyle/>
          <a:p>
            <a:pPr algn="ctr">
              <a:lnSpc>
                <a:spcPct val="100000"/>
              </a:lnSpc>
            </a:pPr>
            <a:r>
              <a:rPr lang="en-US" sz="1600" b="1" dirty="0">
                <a:solidFill>
                  <a:srgbClr val="C4A265"/>
                </a:solidFill>
                <a:latin typeface="Liter" pitchFamily="34" charset="0"/>
                <a:ea typeface="Liter" pitchFamily="34" charset="-122"/>
                <a:cs typeface="Liter" pitchFamily="34" charset="-120"/>
              </a:rPr>
              <a:t>4</a:t>
            </a:r>
            <a:endParaRPr lang="en-US" sz="1600" dirty="0"/>
          </a:p>
        </p:txBody>
      </p:sp>
      <p:sp>
        <p:nvSpPr>
          <p:cNvPr id="20" name="Text 18"/>
          <p:cNvSpPr/>
          <p:nvPr/>
        </p:nvSpPr>
        <p:spPr>
          <a:xfrm>
            <a:off x="1333500" y="3670300"/>
            <a:ext cx="3937000" cy="2794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microcompact()</a:t>
            </a:r>
            <a:endParaRPr lang="en-US" sz="1600" dirty="0"/>
          </a:p>
        </p:txBody>
      </p:sp>
      <p:sp>
        <p:nvSpPr>
          <p:cNvPr id="21" name="Text 19"/>
          <p:cNvSpPr/>
          <p:nvPr/>
        </p:nvSpPr>
        <p:spPr>
          <a:xfrm>
            <a:off x="889000" y="4025900"/>
            <a:ext cx="4381500" cy="609600"/>
          </a:xfrm>
          <a:prstGeom prst="rect">
            <a:avLst/>
          </a:prstGeom>
          <a:noFill/>
          <a:ln/>
        </p:spPr>
        <p:txBody>
          <a:bodyPr wrap="square" lIns="0" tIns="0" rIns="0" bIns="0" rtlCol="0" anchor="t"/>
          <a:lstStyle/>
          <a:p>
            <a:pPr>
              <a:lnSpc>
                <a:spcPct val="140000"/>
              </a:lnSpc>
            </a:pPr>
            <a:r>
              <a:rPr lang="en-US" sz="1400" dirty="0">
                <a:solidFill>
                  <a:srgbClr val="9A9590"/>
                </a:solidFill>
                <a:latin typeface="Quattrocento Sans" pitchFamily="34" charset="0"/>
                <a:ea typeface="Quattrocento Sans" pitchFamily="34" charset="-122"/>
                <a:cs typeface="Quattrocento Sans" pitchFamily="34" charset="-120"/>
              </a:rPr>
              <a:t>Clear old tool results with minimal damage; time-based or cached</a:t>
            </a:r>
            <a:endParaRPr lang="en-US" sz="1600" dirty="0"/>
          </a:p>
        </p:txBody>
      </p:sp>
      <p:sp>
        <p:nvSpPr>
          <p:cNvPr id="22" name="Shape 20"/>
          <p:cNvSpPr/>
          <p:nvPr/>
        </p:nvSpPr>
        <p:spPr>
          <a:xfrm>
            <a:off x="5715000" y="3619500"/>
            <a:ext cx="4699000" cy="1143000"/>
          </a:xfrm>
          <a:prstGeom prst="rect">
            <a:avLst/>
          </a:prstGeom>
          <a:solidFill>
            <a:srgbClr val="161618"/>
          </a:solidFill>
          <a:ln/>
        </p:spPr>
      </p:sp>
      <p:sp>
        <p:nvSpPr>
          <p:cNvPr id="23" name="Text 21"/>
          <p:cNvSpPr/>
          <p:nvPr/>
        </p:nvSpPr>
        <p:spPr>
          <a:xfrm>
            <a:off x="5842000" y="3670300"/>
            <a:ext cx="381000" cy="279400"/>
          </a:xfrm>
          <a:prstGeom prst="rect">
            <a:avLst/>
          </a:prstGeom>
          <a:noFill/>
          <a:ln/>
        </p:spPr>
        <p:txBody>
          <a:bodyPr wrap="none" lIns="0" tIns="0" rIns="0" bIns="0" rtlCol="0" anchor="ctr"/>
          <a:lstStyle/>
          <a:p>
            <a:pPr algn="ctr">
              <a:lnSpc>
                <a:spcPct val="100000"/>
              </a:lnSpc>
            </a:pPr>
            <a:r>
              <a:rPr lang="en-US" sz="1600" b="1" dirty="0">
                <a:solidFill>
                  <a:srgbClr val="C4A265"/>
                </a:solidFill>
                <a:latin typeface="Liter" pitchFamily="34" charset="0"/>
                <a:ea typeface="Liter" pitchFamily="34" charset="-122"/>
                <a:cs typeface="Liter" pitchFamily="34" charset="-120"/>
              </a:rPr>
              <a:t>5</a:t>
            </a:r>
            <a:endParaRPr lang="en-US" sz="1600" dirty="0"/>
          </a:p>
        </p:txBody>
      </p:sp>
      <p:sp>
        <p:nvSpPr>
          <p:cNvPr id="24" name="Text 22"/>
          <p:cNvSpPr/>
          <p:nvPr/>
        </p:nvSpPr>
        <p:spPr>
          <a:xfrm>
            <a:off x="6286500" y="3670300"/>
            <a:ext cx="3937000" cy="279400"/>
          </a:xfrm>
          <a:prstGeom prst="rect">
            <a:avLst/>
          </a:prstGeom>
          <a:noFill/>
          <a:ln/>
        </p:spPr>
        <p:txBody>
          <a:bodyPr wrap="none" lIns="0" tIns="0" rIns="0" bIns="0" rtlCol="0" anchor="ctr"/>
          <a:lstStyle/>
          <a:p>
            <a:pPr>
              <a:lnSpc>
                <a:spcPct val="100000"/>
              </a:lnSpc>
            </a:pPr>
            <a:r>
              <a:rPr lang="en-US" sz="1600" b="1" dirty="0">
                <a:solidFill>
                  <a:srgbClr val="E8DCC8"/>
                </a:solidFill>
                <a:latin typeface="Liter" pitchFamily="34" charset="0"/>
                <a:ea typeface="Liter" pitchFamily="34" charset="-122"/>
                <a:cs typeface="Liter" pitchFamily="34" charset="-120"/>
              </a:rPr>
              <a:t>contextCollapse</a:t>
            </a:r>
            <a:endParaRPr lang="en-US" sz="1600" dirty="0"/>
          </a:p>
        </p:txBody>
      </p:sp>
      <p:sp>
        <p:nvSpPr>
          <p:cNvPr id="25" name="Text 23"/>
          <p:cNvSpPr/>
          <p:nvPr/>
        </p:nvSpPr>
        <p:spPr>
          <a:xfrm>
            <a:off x="5842000" y="4025900"/>
            <a:ext cx="4381500" cy="609600"/>
          </a:xfrm>
          <a:prstGeom prst="rect">
            <a:avLst/>
          </a:prstGeom>
          <a:noFill/>
          <a:ln/>
        </p:spPr>
        <p:txBody>
          <a:bodyPr wrap="square" lIns="0" tIns="0" rIns="0" bIns="0" rtlCol="0" anchor="t"/>
          <a:lstStyle/>
          <a:p>
            <a:pPr>
              <a:lnSpc>
                <a:spcPct val="140000"/>
              </a:lnSpc>
            </a:pPr>
            <a:r>
              <a:rPr lang="en-US" sz="1400" dirty="0">
                <a:solidFill>
                  <a:srgbClr val="9A9590"/>
                </a:solidFill>
                <a:latin typeface="Quattrocento Sans" pitchFamily="34" charset="0"/>
                <a:ea typeface="Quattrocento Sans" pitchFamily="34" charset="-122"/>
                <a:cs typeface="Quattrocento Sans" pitchFamily="34" charset="-120"/>
              </a:rPr>
              <a:t>Read-time projection: fold context via commit log replay</a:t>
            </a:r>
            <a:endParaRPr lang="en-US" sz="1600" dirty="0"/>
          </a:p>
        </p:txBody>
      </p:sp>
      <p:sp>
        <p:nvSpPr>
          <p:cNvPr id="26" name="Shape 24"/>
          <p:cNvSpPr/>
          <p:nvPr/>
        </p:nvSpPr>
        <p:spPr>
          <a:xfrm>
            <a:off x="10668000" y="3619500"/>
            <a:ext cx="4826000" cy="1143000"/>
          </a:xfrm>
          <a:prstGeom prst="rect">
            <a:avLst/>
          </a:prstGeom>
          <a:solidFill>
            <a:srgbClr val="161618"/>
          </a:solidFill>
          <a:ln w="12700">
            <a:solidFill>
              <a:srgbClr val="C4A265"/>
            </a:solidFill>
            <a:prstDash val="solid"/>
          </a:ln>
        </p:spPr>
      </p:sp>
      <p:sp>
        <p:nvSpPr>
          <p:cNvPr id="27" name="Text 25"/>
          <p:cNvSpPr/>
          <p:nvPr/>
        </p:nvSpPr>
        <p:spPr>
          <a:xfrm>
            <a:off x="10795000" y="3670300"/>
            <a:ext cx="381000" cy="279400"/>
          </a:xfrm>
          <a:prstGeom prst="rect">
            <a:avLst/>
          </a:prstGeom>
          <a:noFill/>
          <a:ln/>
        </p:spPr>
        <p:txBody>
          <a:bodyPr wrap="none" lIns="0" tIns="0" rIns="0" bIns="0" rtlCol="0" anchor="ctr"/>
          <a:lstStyle/>
          <a:p>
            <a:pPr algn="ctr">
              <a:lnSpc>
                <a:spcPct val="100000"/>
              </a:lnSpc>
            </a:pPr>
            <a:r>
              <a:rPr lang="en-US" sz="1600" b="1" dirty="0">
                <a:solidFill>
                  <a:srgbClr val="C4A265"/>
                </a:solidFill>
                <a:latin typeface="Liter" pitchFamily="34" charset="0"/>
                <a:ea typeface="Liter" pitchFamily="34" charset="-122"/>
                <a:cs typeface="Liter" pitchFamily="34" charset="-120"/>
              </a:rPr>
              <a:t>6</a:t>
            </a:r>
            <a:endParaRPr lang="en-US" sz="1600" dirty="0"/>
          </a:p>
        </p:txBody>
      </p:sp>
      <p:sp>
        <p:nvSpPr>
          <p:cNvPr id="28" name="Text 26"/>
          <p:cNvSpPr/>
          <p:nvPr/>
        </p:nvSpPr>
        <p:spPr>
          <a:xfrm>
            <a:off x="11239500" y="3670300"/>
            <a:ext cx="4064000" cy="2794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autocompact()</a:t>
            </a:r>
            <a:endParaRPr lang="en-US" sz="1600" dirty="0"/>
          </a:p>
        </p:txBody>
      </p:sp>
      <p:sp>
        <p:nvSpPr>
          <p:cNvPr id="29" name="Text 27"/>
          <p:cNvSpPr/>
          <p:nvPr/>
        </p:nvSpPr>
        <p:spPr>
          <a:xfrm>
            <a:off x="10795000" y="4025900"/>
            <a:ext cx="4508500" cy="609600"/>
          </a:xfrm>
          <a:prstGeom prst="rect">
            <a:avLst/>
          </a:prstGeom>
          <a:noFill/>
          <a:ln/>
        </p:spPr>
        <p:txBody>
          <a:bodyPr wrap="square" lIns="0" tIns="0" rIns="0" bIns="0" rtlCol="0" anchor="t"/>
          <a:lstStyle/>
          <a:p>
            <a:pPr>
              <a:lnSpc>
                <a:spcPct val="140000"/>
              </a:lnSpc>
            </a:pPr>
            <a:r>
              <a:rPr lang="en-US" sz="1400" dirty="0">
                <a:solidFill>
                  <a:srgbClr val="9A9590"/>
                </a:solidFill>
                <a:latin typeface="Quattrocento Sans" pitchFamily="34" charset="0"/>
                <a:ea typeface="Quattrocento Sans" pitchFamily="34" charset="-122"/>
                <a:cs typeface="Quattrocento Sans" pitchFamily="34" charset="-120"/>
              </a:rPr>
              <a:t>Formal conversation summary compression — the heavy artillery</a:t>
            </a:r>
            <a:endParaRPr lang="en-US" sz="1600" dirty="0"/>
          </a:p>
        </p:txBody>
      </p:sp>
      <p:sp>
        <p:nvSpPr>
          <p:cNvPr id="30" name="Text 28"/>
          <p:cNvSpPr/>
          <p:nvPr/>
        </p:nvSpPr>
        <p:spPr>
          <a:xfrm>
            <a:off x="762000" y="5080000"/>
            <a:ext cx="381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Problem Solved</a:t>
            </a:r>
            <a:endParaRPr lang="en-US" sz="2200" dirty="0"/>
          </a:p>
        </p:txBody>
      </p:sp>
      <p:sp>
        <p:nvSpPr>
          <p:cNvPr id="31" name="Text 29"/>
          <p:cNvSpPr/>
          <p:nvPr/>
        </p:nvSpPr>
        <p:spPr>
          <a:xfrm>
            <a:off x="762000" y="5524500"/>
            <a:ext cx="7112000" cy="889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LLM context window exhaustion.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As conversations grow, token count approaches the model's context limit. Without governance, the session would crash with "context length exceeded" errors.</a:t>
            </a:r>
            <a:endParaRPr lang="en-US" sz="1800" dirty="0"/>
          </a:p>
        </p:txBody>
      </p:sp>
      <p:sp>
        <p:nvSpPr>
          <p:cNvPr id="32" name="Text 30"/>
          <p:cNvSpPr/>
          <p:nvPr/>
        </p:nvSpPr>
        <p:spPr>
          <a:xfrm>
            <a:off x="8382000" y="5080000"/>
            <a:ext cx="381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Strategy: Escalation</a:t>
            </a:r>
            <a:endParaRPr lang="en-US" sz="2200" dirty="0"/>
          </a:p>
        </p:txBody>
      </p:sp>
      <p:sp>
        <p:nvSpPr>
          <p:cNvPr id="33" name="Text 31"/>
          <p:cNvSpPr/>
          <p:nvPr/>
        </p:nvSpPr>
        <p:spPr>
          <a:xfrm>
            <a:off x="8382000" y="5524500"/>
            <a:ext cx="7112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Try the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cheapest, lowest-damage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option first (snip, microcompact), only escalate to expensive formal compaction (autocompact) when necessary. This preserves maximum context quality.</a:t>
            </a:r>
            <a:endParaRPr lang="en-US" sz="1800" dirty="0"/>
          </a:p>
        </p:txBody>
      </p:sp>
      <p:sp>
        <p:nvSpPr>
          <p:cNvPr id="34" name="Shape 32"/>
          <p:cNvSpPr/>
          <p:nvPr/>
        </p:nvSpPr>
        <p:spPr>
          <a:xfrm>
            <a:off x="762000" y="6667500"/>
            <a:ext cx="50800" cy="1651000"/>
          </a:xfrm>
          <a:prstGeom prst="rect">
            <a:avLst/>
          </a:prstGeom>
          <a:solidFill>
            <a:srgbClr val="C4A265"/>
          </a:solidFill>
          <a:ln/>
        </p:spPr>
      </p:sp>
      <p:sp>
        <p:nvSpPr>
          <p:cNvPr id="35" name="Text 33"/>
          <p:cNvSpPr/>
          <p:nvPr/>
        </p:nvSpPr>
        <p:spPr>
          <a:xfrm>
            <a:off x="1016000" y="66675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Advantage vs Disadvantage</a:t>
            </a:r>
            <a:endParaRPr lang="en-US" sz="1600" dirty="0"/>
          </a:p>
        </p:txBody>
      </p:sp>
      <p:sp>
        <p:nvSpPr>
          <p:cNvPr id="36" name="Text 34"/>
          <p:cNvSpPr/>
          <p:nvPr/>
        </p:nvSpPr>
        <p:spPr>
          <a:xfrm>
            <a:off x="1016000" y="7048500"/>
            <a:ext cx="6858000" cy="11430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Preserves fine-grained context until absolutely necessary. Multi-stage approach means most turns skip expensive compaction entirely.</a:t>
            </a:r>
            <a:endParaRPr lang="en-US" sz="1600" dirty="0"/>
          </a:p>
        </p:txBody>
      </p:sp>
      <p:sp>
        <p:nvSpPr>
          <p:cNvPr id="37" name="Text 35"/>
          <p:cNvSpPr/>
          <p:nvPr/>
        </p:nvSpPr>
        <p:spPr>
          <a:xfrm>
            <a:off x="8382000" y="7048500"/>
            <a:ext cx="7112000" cy="1143000"/>
          </a:xfrm>
          <a:prstGeom prst="rect">
            <a:avLst/>
          </a:prstGeom>
          <a:noFill/>
          <a:ln/>
        </p:spPr>
        <p:txBody>
          <a:bodyPr wrap="square" lIns="0" tIns="0" rIns="0" bIns="0" rtlCol="0" anchor="t"/>
          <a:lstStyle/>
          <a:p>
            <a:pPr>
              <a:lnSpc>
                <a:spcPct val="150000"/>
              </a:lnSpc>
            </a:pPr>
            <a:r>
              <a:rPr lang="en-US" sz="1600" dirty="0">
                <a:solidFill>
                  <a:srgbClr val="D4A088"/>
                </a:solidFill>
                <a:latin typeface="Quattrocento Sans" pitchFamily="34" charset="0"/>
                <a:ea typeface="Quattrocento Sans" pitchFamily="34" charset="-122"/>
                <a:cs typeface="Quattrocento Sans" pitchFamily="34" charset="-120"/>
              </a:rPr>
              <a:t>Disadvantage: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Six stages add latency to every API call. Complex interaction between stages (e.g., snip tokensFreed affects autocompact decisions) makes reasoning about behavior difficult.</a:t>
            </a:r>
            <a:endParaRPr lang="en-US" sz="1600" dirty="0"/>
          </a:p>
        </p:txBody>
      </p:sp>
      <p:sp>
        <p:nvSpPr>
          <p:cNvPr id="38" name="Shape 36"/>
          <p:cNvSpPr/>
          <p:nvPr/>
        </p:nvSpPr>
        <p:spPr>
          <a:xfrm>
            <a:off x="762000" y="8636000"/>
            <a:ext cx="14732000" cy="12700"/>
          </a:xfrm>
          <a:prstGeom prst="rect">
            <a:avLst/>
          </a:prstGeom>
          <a:solidFill>
            <a:srgbClr val="3A3A3E"/>
          </a:solidFill>
          <a:ln/>
        </p:spPr>
      </p:sp>
      <p:sp>
        <p:nvSpPr>
          <p:cNvPr id="39" name="Text 37"/>
          <p:cNvSpPr/>
          <p:nvPr/>
        </p:nvSpPr>
        <p:spPr>
          <a:xfrm>
            <a:off x="762000" y="8763000"/>
            <a:ext cx="635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src/query.ts:396-467</a:t>
            </a:r>
            <a:endParaRPr lang="en-US" sz="13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claude.ts: Model Access "Communication Hub"</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7112000" cy="1778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services/api/claude.ts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is the model access layer — the "communication hub" between Claude Code and LLM providers. It handles:</a:t>
            </a:r>
            <a:endParaRPr lang="en-US" sz="1800" dirty="0"/>
          </a:p>
          <a:p>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 Multi-provider: Anthropic / Bedrock / Vertex / Foundry</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Streaming + non-streaming with fallback</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Usage accumulation and cost tracking</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Prompt caching and cache edits</a:t>
            </a:r>
            <a:endParaRPr lang="en-US" sz="1800" dirty="0"/>
          </a:p>
        </p:txBody>
      </p:sp>
      <p:sp>
        <p:nvSpPr>
          <p:cNvPr id="6" name="Shape 4"/>
          <p:cNvSpPr/>
          <p:nvPr/>
        </p:nvSpPr>
        <p:spPr>
          <a:xfrm>
            <a:off x="8255000" y="1460500"/>
            <a:ext cx="7239000" cy="1778000"/>
          </a:xfrm>
          <a:prstGeom prst="roundRect">
            <a:avLst>
              <a:gd name="adj" fmla="val 4000"/>
            </a:avLst>
          </a:prstGeom>
          <a:solidFill>
            <a:srgbClr val="161618"/>
          </a:solidFill>
          <a:ln/>
        </p:spPr>
      </p:sp>
      <p:sp>
        <p:nvSpPr>
          <p:cNvPr id="7" name="Text 5"/>
          <p:cNvSpPr/>
          <p:nvPr/>
        </p:nvSpPr>
        <p:spPr>
          <a:xfrm>
            <a:off x="8509000" y="1549400"/>
            <a:ext cx="6731000" cy="1600200"/>
          </a:xfrm>
          <a:prstGeom prst="rect">
            <a:avLst/>
          </a:prstGeom>
          <a:noFill/>
          <a:ln/>
        </p:spPr>
        <p:txBody>
          <a:bodyPr wrap="square" lIns="0" tIns="0" rIns="0" bIns="0" rtlCol="0" anchor="t"/>
          <a:lstStyle/>
          <a:p>
            <a:pPr>
              <a:lnSpc>
                <a:spcPct val="150000"/>
              </a:lnSpc>
            </a:pPr>
            <a:r>
              <a:rPr lang="en-US" sz="1300" dirty="0">
                <a:solidFill>
                  <a:srgbClr val="C4A265"/>
                </a:solidFill>
                <a:latin typeface="MiSans" pitchFamily="34" charset="0"/>
                <a:ea typeface="MiSans" pitchFamily="34" charset="-122"/>
                <a:cs typeface="MiSans" pitchFamily="34" charset="-120"/>
              </a:rPr>
              <a:t>// claude.ts handles enormous complexity:</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Anthropic direct API</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AWS Bedrock adapter</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Google Vertex adapter</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Azure Foundry adapter</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OAuth + API key auth</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Streaming stall watchdog</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Non-streaming fallback</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Token/cost/usage stats</a:t>
            </a:r>
            <a:endParaRPr lang="en-US" sz="1600" dirty="0"/>
          </a:p>
        </p:txBody>
      </p:sp>
      <p:sp>
        <p:nvSpPr>
          <p:cNvPr id="8" name="Text 6"/>
          <p:cNvSpPr/>
          <p:nvPr/>
        </p:nvSpPr>
        <p:spPr>
          <a:xfrm>
            <a:off x="762000" y="34544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Why Is claude.ts So Large?</a:t>
            </a:r>
            <a:endParaRPr lang="en-US" sz="2200" dirty="0"/>
          </a:p>
        </p:txBody>
      </p:sp>
      <p:sp>
        <p:nvSpPr>
          <p:cNvPr id="9" name="Text 7"/>
          <p:cNvSpPr/>
          <p:nvPr/>
        </p:nvSpPr>
        <p:spPr>
          <a:xfrm>
            <a:off x="762000" y="3911600"/>
            <a:ext cx="14732000" cy="1016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claude.ts is ~1000+ lines because it must abstract over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four different LLM providers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each with different auth schemes, request formats, response structures, and error behaviors. Rather than having N separate clients, Claude Code centralizes all model access logic in one module — ensuring consistent retry policies, usage tracking, and fallback behavior across all deployment scenarios.</a:t>
            </a:r>
            <a:endParaRPr lang="en-US" sz="1800" dirty="0"/>
          </a:p>
        </p:txBody>
      </p:sp>
      <p:sp>
        <p:nvSpPr>
          <p:cNvPr id="10" name="Text 8"/>
          <p:cNvSpPr/>
          <p:nvPr/>
        </p:nvSpPr>
        <p:spPr>
          <a:xfrm>
            <a:off x="762000" y="5143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Key Design Decisions</a:t>
            </a:r>
            <a:endParaRPr lang="en-US" sz="2200" dirty="0"/>
          </a:p>
        </p:txBody>
      </p:sp>
      <p:sp>
        <p:nvSpPr>
          <p:cNvPr id="11" name="Shape 9"/>
          <p:cNvSpPr/>
          <p:nvPr/>
        </p:nvSpPr>
        <p:spPr>
          <a:xfrm>
            <a:off x="762000" y="5651500"/>
            <a:ext cx="4699000" cy="1270000"/>
          </a:xfrm>
          <a:prstGeom prst="rect">
            <a:avLst/>
          </a:prstGeom>
          <a:solidFill>
            <a:srgbClr val="161618"/>
          </a:solidFill>
          <a:ln/>
        </p:spPr>
      </p:sp>
      <p:sp>
        <p:nvSpPr>
          <p:cNvPr id="12" name="Text 10"/>
          <p:cNvSpPr/>
          <p:nvPr/>
        </p:nvSpPr>
        <p:spPr>
          <a:xfrm>
            <a:off x="1016000" y="5740400"/>
            <a:ext cx="4191000" cy="10922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Unified Output Format</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All providers produce standardized AssistantMessage — upper layers don't care which provider was used</a:t>
            </a:r>
            <a:endParaRPr lang="en-US" sz="1600" dirty="0"/>
          </a:p>
        </p:txBody>
      </p:sp>
      <p:sp>
        <p:nvSpPr>
          <p:cNvPr id="13" name="Shape 11"/>
          <p:cNvSpPr/>
          <p:nvPr/>
        </p:nvSpPr>
        <p:spPr>
          <a:xfrm>
            <a:off x="5715000" y="5651500"/>
            <a:ext cx="4699000" cy="1270000"/>
          </a:xfrm>
          <a:prstGeom prst="rect">
            <a:avLst/>
          </a:prstGeom>
          <a:solidFill>
            <a:srgbClr val="161618"/>
          </a:solidFill>
          <a:ln/>
        </p:spPr>
      </p:sp>
      <p:sp>
        <p:nvSpPr>
          <p:cNvPr id="14" name="Text 12"/>
          <p:cNvSpPr/>
          <p:nvPr/>
        </p:nvSpPr>
        <p:spPr>
          <a:xfrm>
            <a:off x="5969000" y="5740400"/>
            <a:ext cx="4191000" cy="10922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Cumulative Usage Tracking</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Anthropic streaming usage is cumulative not incremental — "cover with new value" not "add"</a:t>
            </a:r>
            <a:endParaRPr lang="en-US" sz="1600" dirty="0"/>
          </a:p>
        </p:txBody>
      </p:sp>
      <p:sp>
        <p:nvSpPr>
          <p:cNvPr id="15" name="Shape 13"/>
          <p:cNvSpPr/>
          <p:nvPr/>
        </p:nvSpPr>
        <p:spPr>
          <a:xfrm>
            <a:off x="10668000" y="5651500"/>
            <a:ext cx="4826000" cy="1270000"/>
          </a:xfrm>
          <a:prstGeom prst="rect">
            <a:avLst/>
          </a:prstGeom>
          <a:solidFill>
            <a:srgbClr val="161618"/>
          </a:solidFill>
          <a:ln/>
        </p:spPr>
      </p:sp>
      <p:sp>
        <p:nvSpPr>
          <p:cNvPr id="16" name="Text 14"/>
          <p:cNvSpPr/>
          <p:nvPr/>
        </p:nvSpPr>
        <p:spPr>
          <a:xfrm>
            <a:off x="10922000" y="5740400"/>
            <a:ext cx="4318000" cy="10922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Cache-Aware Headers</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Manages prompt cache beta headers and cache edit operations for cost optimization</a:t>
            </a:r>
            <a:endParaRPr lang="en-US" sz="1600" dirty="0"/>
          </a:p>
        </p:txBody>
      </p:sp>
      <p:sp>
        <p:nvSpPr>
          <p:cNvPr id="17" name="Shape 15"/>
          <p:cNvSpPr/>
          <p:nvPr/>
        </p:nvSpPr>
        <p:spPr>
          <a:xfrm>
            <a:off x="762000" y="7175500"/>
            <a:ext cx="50800" cy="1143000"/>
          </a:xfrm>
          <a:prstGeom prst="rect">
            <a:avLst/>
          </a:prstGeom>
          <a:solidFill>
            <a:srgbClr val="C4A265"/>
          </a:solidFill>
          <a:ln/>
        </p:spPr>
      </p:sp>
      <p:sp>
        <p:nvSpPr>
          <p:cNvPr id="18" name="Text 16"/>
          <p:cNvSpPr/>
          <p:nvPr/>
        </p:nvSpPr>
        <p:spPr>
          <a:xfrm>
            <a:off x="1016000" y="7175500"/>
            <a:ext cx="14224000" cy="1143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Trade-off:</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Centralizing all provider logic creates a large file, but avoids duplicating retry/fallback/usage logic across N adapters. The alternative (separate client per provider) would scatter cross-cutting concerns and risk inconsistent behavior.</a:t>
            </a:r>
            <a:endParaRPr lang="en-US" sz="1800" dirty="0"/>
          </a:p>
        </p:txBody>
      </p:sp>
      <p:sp>
        <p:nvSpPr>
          <p:cNvPr id="19" name="Shape 17"/>
          <p:cNvSpPr/>
          <p:nvPr/>
        </p:nvSpPr>
        <p:spPr>
          <a:xfrm>
            <a:off x="762000" y="8636000"/>
            <a:ext cx="14732000" cy="12700"/>
          </a:xfrm>
          <a:prstGeom prst="rect">
            <a:avLst/>
          </a:prstGeom>
          <a:solidFill>
            <a:srgbClr val="3A3A3E"/>
          </a:solidFill>
          <a:ln/>
        </p:spPr>
      </p:sp>
      <p:sp>
        <p:nvSpPr>
          <p:cNvPr id="20" name="Text 18"/>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src/services/api/claude.ts:1778-2815</a:t>
            </a:r>
            <a:endParaRPr lang="en-US" sz="13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Streaming Architecture: Watchdog &amp; Stall Detection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Two Classes of Protection</a:t>
            </a:r>
            <a:endParaRPr lang="en-US" sz="2200" dirty="0"/>
          </a:p>
        </p:txBody>
      </p:sp>
      <p:sp>
        <p:nvSpPr>
          <p:cNvPr id="6" name="Shape 4"/>
          <p:cNvSpPr/>
          <p:nvPr/>
        </p:nvSpPr>
        <p:spPr>
          <a:xfrm>
            <a:off x="762000" y="1968500"/>
            <a:ext cx="50800" cy="1270000"/>
          </a:xfrm>
          <a:prstGeom prst="rect">
            <a:avLst/>
          </a:prstGeom>
          <a:solidFill>
            <a:srgbClr val="C4A265"/>
          </a:solidFill>
          <a:ln/>
        </p:spPr>
      </p:sp>
      <p:sp>
        <p:nvSpPr>
          <p:cNvPr id="7" name="Text 5"/>
          <p:cNvSpPr/>
          <p:nvPr/>
        </p:nvSpPr>
        <p:spPr>
          <a:xfrm>
            <a:off x="990600" y="1968500"/>
            <a:ext cx="3810000" cy="3048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Passive Stall Detection</a:t>
            </a:r>
            <a:endParaRPr lang="en-US" sz="1600" dirty="0"/>
          </a:p>
        </p:txBody>
      </p:sp>
      <p:sp>
        <p:nvSpPr>
          <p:cNvPr id="8" name="Text 6"/>
          <p:cNvSpPr/>
          <p:nvPr/>
        </p:nvSpPr>
        <p:spPr>
          <a:xfrm>
            <a:off x="990600" y="2324100"/>
            <a:ext cx="6604000" cy="8255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If chunk interval is too long, record stall event for telemetry. Does not abort — just observes and logs.</a:t>
            </a:r>
            <a:endParaRPr lang="en-US" sz="1600" dirty="0"/>
          </a:p>
        </p:txBody>
      </p:sp>
      <p:sp>
        <p:nvSpPr>
          <p:cNvPr id="9" name="Shape 7"/>
          <p:cNvSpPr/>
          <p:nvPr/>
        </p:nvSpPr>
        <p:spPr>
          <a:xfrm>
            <a:off x="762000" y="3429000"/>
            <a:ext cx="50800" cy="1270000"/>
          </a:xfrm>
          <a:prstGeom prst="rect">
            <a:avLst/>
          </a:prstGeom>
          <a:solidFill>
            <a:srgbClr val="C4A265"/>
          </a:solidFill>
          <a:ln/>
        </p:spPr>
      </p:sp>
      <p:sp>
        <p:nvSpPr>
          <p:cNvPr id="10" name="Text 8"/>
          <p:cNvSpPr/>
          <p:nvPr/>
        </p:nvSpPr>
        <p:spPr>
          <a:xfrm>
            <a:off x="990600" y="3429000"/>
            <a:ext cx="3810000" cy="3048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Active Watchdog</a:t>
            </a:r>
            <a:endParaRPr lang="en-US" sz="1600" dirty="0"/>
          </a:p>
        </p:txBody>
      </p:sp>
      <p:sp>
        <p:nvSpPr>
          <p:cNvPr id="11" name="Text 9"/>
          <p:cNvSpPr/>
          <p:nvPr/>
        </p:nvSpPr>
        <p:spPr>
          <a:xfrm>
            <a:off x="990600" y="3784600"/>
            <a:ext cx="6604000" cy="8255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If no chunk for extended idle timeout, directly abort stream. Solves: "connection didn't error, but stream stopped progressing".</a:t>
            </a:r>
            <a:endParaRPr lang="en-US" sz="1600" dirty="0"/>
          </a:p>
        </p:txBody>
      </p:sp>
      <p:sp>
        <p:nvSpPr>
          <p:cNvPr id="12" name="Shape 10"/>
          <p:cNvSpPr/>
          <p:nvPr/>
        </p:nvSpPr>
        <p:spPr>
          <a:xfrm>
            <a:off x="8128000" y="1460500"/>
            <a:ext cx="7366000" cy="3302000"/>
          </a:xfrm>
          <a:prstGeom prst="roundRect">
            <a:avLst>
              <a:gd name="adj" fmla="val 4000"/>
            </a:avLst>
          </a:prstGeom>
          <a:solidFill>
            <a:srgbClr val="161618"/>
          </a:solidFill>
          <a:ln/>
        </p:spPr>
      </p:sp>
      <p:sp>
        <p:nvSpPr>
          <p:cNvPr id="13" name="Text 11"/>
          <p:cNvSpPr/>
          <p:nvPr/>
        </p:nvSpPr>
        <p:spPr>
          <a:xfrm>
            <a:off x="8382000" y="1587500"/>
            <a:ext cx="6858000" cy="3048000"/>
          </a:xfrm>
          <a:prstGeom prst="rect">
            <a:avLst/>
          </a:prstGeom>
          <a:noFill/>
          <a:ln/>
        </p:spPr>
        <p:txBody>
          <a:bodyPr wrap="square" lIns="0" tIns="0" rIns="0" bIns="0" rtlCol="0" anchor="t"/>
          <a:lstStyle/>
          <a:p>
            <a:pPr>
              <a:lnSpc>
                <a:spcPct val="150000"/>
              </a:lnSpc>
            </a:pPr>
            <a:r>
              <a:rPr lang="en-US" sz="1300" dirty="0">
                <a:solidFill>
                  <a:srgbClr val="C4A265"/>
                </a:solidFill>
                <a:latin typeface="MiSans" pitchFamily="34" charset="0"/>
                <a:ea typeface="MiSans" pitchFamily="34" charset="-122"/>
                <a:cs typeface="MiSans" pitchFamily="34" charset="-120"/>
              </a:rPr>
              <a:t>// claude.ts: Streaming protection</a:t>
            </a:r>
            <a:endParaRPr lang="en-US" sz="1600" dirty="0"/>
          </a:p>
          <a:p>
            <a:pPr>
              <a:lnSpc>
                <a:spcPct val="150000"/>
              </a:lnSpc>
            </a:pPr>
            <a:r>
              <a:rPr lang="en-US" sz="1300" dirty="0">
                <a:solidFill>
                  <a:srgbClr val="C4A265"/>
                </a:solidFill>
                <a:latin typeface="MiSans" pitchFamily="34" charset="0"/>
                <a:ea typeface="MiSans" pitchFamily="34" charset="-122"/>
                <a:cs typeface="MiSans" pitchFamily="34" charset="-120"/>
              </a:rPr>
              <a:t>// 1. Watchdog — active abort</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watchdog = setTimeout(() =&gt; {</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abortController.abort();</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 IDLE_TIMEOUT);</a:t>
            </a:r>
            <a:endParaRPr lang="en-US" sz="1600" dirty="0"/>
          </a:p>
          <a:p>
            <a:pPr>
              <a:lnSpc>
                <a:spcPct val="150000"/>
              </a:lnSpc>
            </a:pPr>
            <a:r>
              <a:rPr lang="en-US" sz="1300" dirty="0">
                <a:solidFill>
                  <a:srgbClr val="9A9590"/>
                </a:solidFill>
                <a:latin typeface="MiSans" pitchFamily="34" charset="0"/>
                <a:ea typeface="MiSans" pitchFamily="34" charset="-122"/>
                <a:cs typeface="MiSans" pitchFamily="34" charset="-120"/>
              </a:rPr>
              <a:t>// src/services/api/claude.ts:1868-1929</a:t>
            </a:r>
            <a:endParaRPr lang="en-US" sz="1600" dirty="0"/>
          </a:p>
          <a:p>
            <a:pPr>
              <a:lnSpc>
                <a:spcPct val="150000"/>
              </a:lnSpc>
            </a:pPr>
            <a:r>
              <a:rPr lang="en-US" sz="1300" dirty="0">
                <a:solidFill>
                  <a:srgbClr val="C4A265"/>
                </a:solidFill>
                <a:latin typeface="MiSans" pitchFamily="34" charset="0"/>
                <a:ea typeface="MiSans" pitchFamily="34" charset="-122"/>
                <a:cs typeface="MiSans" pitchFamily="34" charset="-120"/>
              </a:rPr>
              <a:t>// 2. Stall detection — passive record</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if (chunkInterval &gt; STALL_THRESHOLD) {</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recordStallEvent(chunkInterval);</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a:t>
            </a:r>
            <a:endParaRPr lang="en-US" sz="1600" dirty="0"/>
          </a:p>
          <a:p>
            <a:pPr>
              <a:lnSpc>
                <a:spcPct val="150000"/>
              </a:lnSpc>
            </a:pPr>
            <a:r>
              <a:rPr lang="en-US" sz="1300" dirty="0">
                <a:solidFill>
                  <a:srgbClr val="9A9590"/>
                </a:solidFill>
                <a:latin typeface="MiSans" pitchFamily="34" charset="0"/>
                <a:ea typeface="MiSans" pitchFamily="34" charset="-122"/>
                <a:cs typeface="MiSans" pitchFamily="34" charset="-120"/>
              </a:rPr>
              <a:t>// src/services/api/claude.ts:1944-1965</a:t>
            </a:r>
            <a:endParaRPr lang="en-US" sz="1600" dirty="0"/>
          </a:p>
        </p:txBody>
      </p:sp>
      <p:sp>
        <p:nvSpPr>
          <p:cNvPr id="14" name="Text 12"/>
          <p:cNvSpPr/>
          <p:nvPr/>
        </p:nvSpPr>
        <p:spPr>
          <a:xfrm>
            <a:off x="762000" y="5016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Streaming Failure Fallback Policy</a:t>
            </a:r>
            <a:endParaRPr lang="en-US" sz="2200" dirty="0"/>
          </a:p>
        </p:txBody>
      </p:sp>
      <p:sp>
        <p:nvSpPr>
          <p:cNvPr id="15" name="Text 13"/>
          <p:cNvSpPr/>
          <p:nvPr/>
        </p:nvSpPr>
        <p:spPr>
          <a:xfrm>
            <a:off x="762000" y="5461000"/>
            <a:ext cx="7112000" cy="1143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Default: fallback to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non-streaming</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record fallback telemetry → executeNonStreamingRequest() → maintain request context and request_id chain.</a:t>
            </a:r>
            <a:endParaRPr lang="en-US" sz="1800" dirty="0"/>
          </a:p>
          <a:p>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However, this can be </a:t>
            </a:r>
            <a:pPr>
              <a:lnSpc>
                <a:spcPct val="160000"/>
              </a:lnSpc>
              <a:spcBef>
                <a:spcPts val="600"/>
              </a:spcBef>
            </a:pPr>
            <a:r>
              <a:rPr lang="en-US" sz="1700" b="1" dirty="0">
                <a:solidFill>
                  <a:srgbClr val="E8DCC8"/>
                </a:solidFill>
                <a:latin typeface="QuattrocentoSans" pitchFamily="34" charset="0"/>
                <a:ea typeface="QuattrocentoSans" pitchFamily="34" charset="-122"/>
                <a:cs typeface="QuattrocentoSans" pitchFamily="34" charset="-120"/>
              </a:rPr>
              <a:t>disabled</a:t>
            </a:r>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 when streaming tool execution is active.</a:t>
            </a:r>
            <a:endParaRPr lang="en-US" sz="1800" dirty="0"/>
          </a:p>
        </p:txBody>
      </p:sp>
      <p:sp>
        <p:nvSpPr>
          <p:cNvPr id="16" name="Shape 14"/>
          <p:cNvSpPr/>
          <p:nvPr/>
        </p:nvSpPr>
        <p:spPr>
          <a:xfrm>
            <a:off x="8382000" y="5016500"/>
            <a:ext cx="7112000" cy="1651000"/>
          </a:xfrm>
          <a:prstGeom prst="rect">
            <a:avLst/>
          </a:prstGeom>
          <a:solidFill>
            <a:srgbClr val="161618"/>
          </a:solidFill>
          <a:ln/>
        </p:spPr>
      </p:sp>
      <p:sp>
        <p:nvSpPr>
          <p:cNvPr id="17" name="Text 15"/>
          <p:cNvSpPr/>
          <p:nvPr/>
        </p:nvSpPr>
        <p:spPr>
          <a:xfrm>
            <a:off x="8636000" y="5143500"/>
            <a:ext cx="6604000" cy="1397000"/>
          </a:xfrm>
          <a:prstGeom prst="rect">
            <a:avLst/>
          </a:prstGeom>
          <a:noFill/>
          <a:ln/>
        </p:spPr>
        <p:txBody>
          <a:bodyPr wrap="square" lIns="0" tIns="0" rIns="0" bIns="0" rtlCol="0" anchor="t"/>
          <a:lstStyle/>
          <a:p>
            <a:pPr>
              <a:lnSpc>
                <a:spcPct val="150000"/>
              </a:lnSpc>
            </a:pPr>
            <a:r>
              <a:rPr lang="en-US" sz="1600" b="1" dirty="0">
                <a:solidFill>
                  <a:srgbClr val="C4A265"/>
                </a:solidFill>
                <a:latin typeface="Quattrocento Sans" pitchFamily="34" charset="0"/>
                <a:ea typeface="Quattrocento Sans" pitchFamily="34" charset="-122"/>
                <a:cs typeface="Quattrocento Sans" pitchFamily="34" charset="-120"/>
              </a:rPr>
              <a:t>Why disable fallback for tool execution?</a:t>
            </a:r>
            <a:endParaRPr lang="en-US" sz="1600" dirty="0"/>
          </a:p>
          <a:p>
            <a:pPr>
              <a:lnSpc>
                <a:spcPct val="150000"/>
              </a:lnSpc>
              <a:spcBef>
                <a:spcPts val="600"/>
              </a:spcBef>
            </a:pPr>
            <a:r>
              <a:rPr lang="en-US" sz="1600" dirty="0">
                <a:solidFill>
                  <a:srgbClr val="E8DCC8"/>
                </a:solidFill>
                <a:latin typeface="Quattrocento Sans" pitchFamily="34" charset="0"/>
                <a:ea typeface="Quattrocento Sans" pitchFamily="34" charset="-122"/>
                <a:cs typeface="Quattrocento Sans" pitchFamily="34" charset="-120"/>
              </a:rPr>
              <a:t>Partial stream may have already triggered tools. Non-streaming fallback could cause </a:t>
            </a:r>
            <a:pPr>
              <a:lnSpc>
                <a:spcPct val="150000"/>
              </a:lnSpc>
              <a:spcBef>
                <a:spcPts val="600"/>
              </a:spcBef>
            </a:pPr>
            <a:r>
              <a:rPr lang="en-US" sz="1600" b="1" dirty="0">
                <a:solidFill>
                  <a:srgbClr val="E8DCC8"/>
                </a:solidFill>
                <a:latin typeface="Quattrocento Sans" pitchFamily="34" charset="0"/>
                <a:ea typeface="Quattrocento Sans" pitchFamily="34" charset="-122"/>
                <a:cs typeface="Quattrocento Sans" pitchFamily="34" charset="-120"/>
              </a:rPr>
              <a:t>duplicate side effects</a:t>
            </a:r>
            <a:pPr>
              <a:lnSpc>
                <a:spcPct val="150000"/>
              </a:lnSpc>
              <a:spcBef>
                <a:spcPts val="600"/>
              </a:spcBef>
            </a:pPr>
            <a:r>
              <a:rPr lang="en-US" sz="1600" dirty="0">
                <a:solidFill>
                  <a:srgbClr val="E8DCC8"/>
                </a:solidFill>
                <a:latin typeface="Quattrocento Sans" pitchFamily="34" charset="0"/>
                <a:ea typeface="Quattrocento Sans" pitchFamily="34" charset="-122"/>
                <a:cs typeface="Quattrocento Sans" pitchFamily="34" charset="-120"/>
              </a:rPr>
              <a:t> — the same tool_use executing twice.</a:t>
            </a:r>
            <a:endParaRPr lang="en-US" sz="1600" dirty="0"/>
          </a:p>
          <a:p>
            <a:pPr>
              <a:lnSpc>
                <a:spcPct val="150000"/>
              </a:lnSpc>
              <a:spcBef>
                <a:spcPts val="600"/>
              </a:spcBef>
            </a:pPr>
            <a:r>
              <a:rPr lang="en-US" sz="1600" dirty="0">
                <a:solidFill>
                  <a:srgbClr val="9A9590"/>
                </a:solidFill>
                <a:latin typeface="Quattrocento Sans" pitchFamily="34" charset="0"/>
                <a:ea typeface="Quattrocento Sans" pitchFamily="34" charset="-122"/>
                <a:cs typeface="Quattrocento Sans" pitchFamily="34" charset="-120"/>
              </a:rPr>
              <a:t>Trade-off: availability vs. idempotency</a:t>
            </a:r>
            <a:endParaRPr lang="en-US" sz="1600" dirty="0"/>
          </a:p>
        </p:txBody>
      </p:sp>
      <p:sp>
        <p:nvSpPr>
          <p:cNvPr id="18" name="Shape 16"/>
          <p:cNvSpPr/>
          <p:nvPr/>
        </p:nvSpPr>
        <p:spPr>
          <a:xfrm>
            <a:off x="762000" y="6921500"/>
            <a:ext cx="50800" cy="1397000"/>
          </a:xfrm>
          <a:prstGeom prst="rect">
            <a:avLst/>
          </a:prstGeom>
          <a:solidFill>
            <a:srgbClr val="C4A265"/>
          </a:solidFill>
          <a:ln/>
        </p:spPr>
      </p:sp>
      <p:sp>
        <p:nvSpPr>
          <p:cNvPr id="19" name="Text 17"/>
          <p:cNvSpPr/>
          <p:nvPr/>
        </p:nvSpPr>
        <p:spPr>
          <a:xfrm>
            <a:off x="1016000" y="69215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Key Design Principle</a:t>
            </a:r>
            <a:endParaRPr lang="en-US" sz="1600" dirty="0"/>
          </a:p>
        </p:txBody>
      </p:sp>
      <p:sp>
        <p:nvSpPr>
          <p:cNvPr id="20" name="Text 18"/>
          <p:cNvSpPr/>
          <p:nvPr/>
        </p:nvSpPr>
        <p:spPr>
          <a:xfrm>
            <a:off x="1016000" y="7302500"/>
            <a:ext cx="14224000" cy="889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Availability fallback cannot break side-effect idempotency.</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Claude Code explicitly chooses to fail rather than risk duplicate tool execution. This is a critical safety decision in agent architecture — consistency beats availability when side effects are involved.</a:t>
            </a:r>
            <a:endParaRPr lang="en-US" sz="1800" dirty="0"/>
          </a:p>
        </p:txBody>
      </p:sp>
      <p:sp>
        <p:nvSpPr>
          <p:cNvPr id="21" name="Shape 19"/>
          <p:cNvSpPr/>
          <p:nvPr/>
        </p:nvSpPr>
        <p:spPr>
          <a:xfrm>
            <a:off x="762000" y="8636000"/>
            <a:ext cx="14732000" cy="12700"/>
          </a:xfrm>
          <a:prstGeom prst="rect">
            <a:avLst/>
          </a:prstGeom>
          <a:solidFill>
            <a:srgbClr val="3A3A3E"/>
          </a:solidFill>
          <a:ln/>
        </p:spPr>
      </p:sp>
      <p:sp>
        <p:nvSpPr>
          <p:cNvPr id="22" name="Text 20"/>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src/services/api/claude.ts:1868-1929, 1944-1965, 2504-2569</a:t>
            </a:r>
            <a:endParaRPr lang="en-US" sz="13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Model Fallback: A Controlled State Migration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3048000" cy="1016000"/>
          </a:xfrm>
          <a:prstGeom prst="rect">
            <a:avLst/>
          </a:prstGeom>
          <a:solidFill>
            <a:srgbClr val="161618"/>
          </a:solidFill>
          <a:ln/>
        </p:spPr>
      </p:sp>
      <p:sp>
        <p:nvSpPr>
          <p:cNvPr id="6" name="Text 4"/>
          <p:cNvSpPr/>
          <p:nvPr/>
        </p:nvSpPr>
        <p:spPr>
          <a:xfrm>
            <a:off x="889000" y="1625600"/>
            <a:ext cx="2794000" cy="8128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withRetry.ts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Detects consecutive 529s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exceeds threshold</a:t>
            </a:r>
            <a:endParaRPr lang="en-US" sz="1600" dirty="0"/>
          </a:p>
        </p:txBody>
      </p:sp>
      <p:sp>
        <p:nvSpPr>
          <p:cNvPr id="7" name="Shape 5"/>
          <p:cNvSpPr/>
          <p:nvPr/>
        </p:nvSpPr>
        <p:spPr>
          <a:xfrm>
            <a:off x="3937000" y="1968500"/>
            <a:ext cx="508000" cy="0"/>
          </a:xfrm>
          <a:prstGeom prst="straightConnector1">
            <a:avLst/>
          </a:prstGeom>
          <a:noFill/>
          <a:ln w="25400">
            <a:solidFill>
              <a:srgbClr val="C4A265"/>
            </a:solidFill>
            <a:prstDash val="solid"/>
            <a:headEnd type="none"/>
            <a:tailEnd type="arrow"/>
          </a:ln>
        </p:spPr>
      </p:sp>
      <p:sp>
        <p:nvSpPr>
          <p:cNvPr id="8" name="Shape 6"/>
          <p:cNvSpPr/>
          <p:nvPr/>
        </p:nvSpPr>
        <p:spPr>
          <a:xfrm>
            <a:off x="4572000" y="1524000"/>
            <a:ext cx="3048000" cy="1016000"/>
          </a:xfrm>
          <a:prstGeom prst="rect">
            <a:avLst/>
          </a:prstGeom>
          <a:solidFill>
            <a:srgbClr val="161618"/>
          </a:solidFill>
          <a:ln/>
        </p:spPr>
      </p:sp>
      <p:sp>
        <p:nvSpPr>
          <p:cNvPr id="9" name="Text 7"/>
          <p:cNvSpPr/>
          <p:nvPr/>
        </p:nvSpPr>
        <p:spPr>
          <a:xfrm>
            <a:off x="4699000" y="1625600"/>
            <a:ext cx="2794000" cy="8128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Signal Only</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Throws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FallbackTriggeredError</a:t>
            </a:r>
            <a:endParaRPr lang="en-US" sz="1600" dirty="0"/>
          </a:p>
        </p:txBody>
      </p:sp>
      <p:sp>
        <p:nvSpPr>
          <p:cNvPr id="10" name="Shape 8"/>
          <p:cNvSpPr/>
          <p:nvPr/>
        </p:nvSpPr>
        <p:spPr>
          <a:xfrm>
            <a:off x="7747000" y="1968500"/>
            <a:ext cx="508000" cy="0"/>
          </a:xfrm>
          <a:prstGeom prst="straightConnector1">
            <a:avLst/>
          </a:prstGeom>
          <a:noFill/>
          <a:ln w="25400">
            <a:solidFill>
              <a:srgbClr val="C4A265"/>
            </a:solidFill>
            <a:prstDash val="solid"/>
            <a:headEnd type="none"/>
            <a:tailEnd type="arrow"/>
          </a:ln>
        </p:spPr>
      </p:sp>
      <p:sp>
        <p:nvSpPr>
          <p:cNvPr id="11" name="Shape 9"/>
          <p:cNvSpPr/>
          <p:nvPr/>
        </p:nvSpPr>
        <p:spPr>
          <a:xfrm>
            <a:off x="8382000" y="1524000"/>
            <a:ext cx="3048000" cy="1016000"/>
          </a:xfrm>
          <a:prstGeom prst="rect">
            <a:avLst/>
          </a:prstGeom>
          <a:solidFill>
            <a:srgbClr val="161618"/>
          </a:solidFill>
          <a:ln/>
        </p:spPr>
      </p:sp>
      <p:sp>
        <p:nvSpPr>
          <p:cNvPr id="12" name="Text 10"/>
          <p:cNvSpPr/>
          <p:nvPr/>
        </p:nvSpPr>
        <p:spPr>
          <a:xfrm>
            <a:off x="8509000" y="1625600"/>
            <a:ext cx="2794000" cy="8128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query.ts Catches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Catches signal,</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performs cleanup</a:t>
            </a:r>
            <a:endParaRPr lang="en-US" sz="1600" dirty="0"/>
          </a:p>
        </p:txBody>
      </p:sp>
      <p:sp>
        <p:nvSpPr>
          <p:cNvPr id="13" name="Shape 11"/>
          <p:cNvSpPr/>
          <p:nvPr/>
        </p:nvSpPr>
        <p:spPr>
          <a:xfrm>
            <a:off x="11557000" y="1968500"/>
            <a:ext cx="508000" cy="0"/>
          </a:xfrm>
          <a:prstGeom prst="straightConnector1">
            <a:avLst/>
          </a:prstGeom>
          <a:noFill/>
          <a:ln w="25400">
            <a:solidFill>
              <a:srgbClr val="C4A265"/>
            </a:solidFill>
            <a:prstDash val="solid"/>
            <a:headEnd type="none"/>
            <a:tailEnd type="arrow"/>
          </a:ln>
        </p:spPr>
      </p:sp>
      <p:sp>
        <p:nvSpPr>
          <p:cNvPr id="14" name="Shape 12"/>
          <p:cNvSpPr/>
          <p:nvPr/>
        </p:nvSpPr>
        <p:spPr>
          <a:xfrm>
            <a:off x="12192000" y="1524000"/>
            <a:ext cx="3302000" cy="1016000"/>
          </a:xfrm>
          <a:prstGeom prst="rect">
            <a:avLst/>
          </a:prstGeom>
          <a:solidFill>
            <a:srgbClr val="161618"/>
          </a:solidFill>
          <a:ln w="12700">
            <a:solidFill>
              <a:srgbClr val="C4A265"/>
            </a:solidFill>
            <a:prstDash val="solid"/>
          </a:ln>
        </p:spPr>
      </p:sp>
      <p:sp>
        <p:nvSpPr>
          <p:cNvPr id="15" name="Text 13"/>
          <p:cNvSpPr/>
          <p:nvPr/>
        </p:nvSpPr>
        <p:spPr>
          <a:xfrm>
            <a:off x="12319000" y="1625600"/>
            <a:ext cx="3048000" cy="8128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State Migration</a:t>
            </a:r>
            <a:endParaRPr lang="en-US" sz="1600" dirty="0"/>
          </a:p>
          <a:p>
            <a:pPr algn="ctr">
              <a:lnSpc>
                <a:spcPct val="140000"/>
              </a:lnSpc>
            </a:pPr>
            <a:r>
              <a:rPr lang="en-US" sz="1400" dirty="0">
                <a:solidFill>
                  <a:srgbClr val="C4A265"/>
                </a:solidFill>
                <a:latin typeface="Quattrocento Sans" pitchFamily="34" charset="0"/>
                <a:ea typeface="Quattrocento Sans" pitchFamily="34" charset="-122"/>
                <a:cs typeface="Quattrocento Sans" pitchFamily="34" charset="-120"/>
              </a:rPr>
              <a:t>Switches model with</a:t>
            </a:r>
            <a:endParaRPr lang="en-US" sz="1600" dirty="0"/>
          </a:p>
          <a:p>
            <a:pPr algn="ctr">
              <a:lnSpc>
                <a:spcPct val="140000"/>
              </a:lnSpc>
            </a:pPr>
            <a:r>
              <a:rPr lang="en-US" sz="1400" dirty="0">
                <a:solidFill>
                  <a:srgbClr val="C4A265"/>
                </a:solidFill>
                <a:latin typeface="Quattrocento Sans" pitchFamily="34" charset="0"/>
                <a:ea typeface="Quattrocento Sans" pitchFamily="34" charset="-122"/>
                <a:cs typeface="Quattrocento Sans" pitchFamily="34" charset="-120"/>
              </a:rPr>
              <a:t>clean state</a:t>
            </a:r>
            <a:endParaRPr lang="en-US" sz="1600" dirty="0"/>
          </a:p>
        </p:txBody>
      </p:sp>
      <p:sp>
        <p:nvSpPr>
          <p:cNvPr id="16" name="Text 14"/>
          <p:cNvSpPr/>
          <p:nvPr/>
        </p:nvSpPr>
        <p:spPr>
          <a:xfrm>
            <a:off x="762000" y="2794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State Cleanup Required</a:t>
            </a:r>
            <a:endParaRPr lang="en-US" sz="2200" dirty="0"/>
          </a:p>
        </p:txBody>
      </p:sp>
      <p:sp>
        <p:nvSpPr>
          <p:cNvPr id="17" name="Shape 15"/>
          <p:cNvSpPr/>
          <p:nvPr/>
        </p:nvSpPr>
        <p:spPr>
          <a:xfrm>
            <a:off x="762000" y="3276600"/>
            <a:ext cx="7112000" cy="2667000"/>
          </a:xfrm>
          <a:prstGeom prst="roundRect">
            <a:avLst>
              <a:gd name="adj" fmla="val 4000"/>
            </a:avLst>
          </a:prstGeom>
          <a:solidFill>
            <a:srgbClr val="161618"/>
          </a:solidFill>
          <a:ln/>
        </p:spPr>
      </p:sp>
      <p:sp>
        <p:nvSpPr>
          <p:cNvPr id="18" name="Text 16"/>
          <p:cNvSpPr/>
          <p:nvPr/>
        </p:nvSpPr>
        <p:spPr>
          <a:xfrm>
            <a:off x="1016000" y="3378200"/>
            <a:ext cx="6604000" cy="2463800"/>
          </a:xfrm>
          <a:prstGeom prst="rect">
            <a:avLst/>
          </a:prstGeom>
          <a:noFill/>
          <a:ln/>
        </p:spPr>
        <p:txBody>
          <a:bodyPr wrap="square" lIns="0" tIns="0" rIns="0" bIns="0" rtlCol="0" anchor="t"/>
          <a:lstStyle/>
          <a:p>
            <a:pPr>
              <a:lnSpc>
                <a:spcPct val="150000"/>
              </a:lnSpc>
            </a:pPr>
            <a:r>
              <a:rPr lang="en-US" sz="1300" dirty="0">
                <a:solidFill>
                  <a:srgbClr val="C4A265"/>
                </a:solidFill>
                <a:latin typeface="MiSans" pitchFamily="34" charset="0"/>
                <a:ea typeface="MiSans" pitchFamily="34" charset="-122"/>
                <a:cs typeface="MiSans" pitchFamily="34" charset="-120"/>
              </a:rPr>
              <a:t>// query.ts: Fallback state cleanup</a:t>
            </a:r>
            <a:endParaRPr lang="en-US" sz="1600" dirty="0"/>
          </a:p>
          <a:p>
            <a:pPr>
              <a:lnSpc>
                <a:spcPct val="150000"/>
              </a:lnSpc>
            </a:pPr>
            <a:r>
              <a:rPr lang="en-US" sz="1300" dirty="0">
                <a:solidFill>
                  <a:srgbClr val="9A9590"/>
                </a:solidFill>
                <a:latin typeface="MiSans" pitchFamily="34" charset="0"/>
                <a:ea typeface="MiSans" pitchFamily="34" charset="-122"/>
                <a:cs typeface="MiSans" pitchFamily="34" charset="-120"/>
              </a:rPr>
              <a:t>// src/query.ts:893-950</a:t>
            </a:r>
            <a:endParaRPr lang="en-US" sz="1600" dirty="0"/>
          </a:p>
          <a:p>
            <a:pPr>
              <a:lnSpc>
                <a:spcPct val="150000"/>
              </a:lnSpc>
            </a:pPr>
            <a:r>
              <a:rPr lang="en-US" sz="1300" dirty="0">
                <a:solidFill>
                  <a:srgbClr val="C4A265"/>
                </a:solidFill>
                <a:latin typeface="MiSans" pitchFamily="34" charset="0"/>
                <a:ea typeface="MiSans" pitchFamily="34" charset="-122"/>
                <a:cs typeface="MiSans" pitchFamily="34" charset="-120"/>
              </a:rPr>
              <a:t>// 1. Clear failed assistant message</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clearCurrentAssistantMessage();</a:t>
            </a:r>
            <a:endParaRPr lang="en-US" sz="1600" dirty="0"/>
          </a:p>
          <a:p>
            <a:pPr>
              <a:lnSpc>
                <a:spcPct val="150000"/>
              </a:lnSpc>
            </a:pPr>
            <a:r>
              <a:rPr lang="en-US" sz="1300" dirty="0">
                <a:solidFill>
                  <a:srgbClr val="C4A265"/>
                </a:solidFill>
                <a:latin typeface="MiSans" pitchFamily="34" charset="0"/>
                <a:ea typeface="MiSans" pitchFamily="34" charset="-122"/>
                <a:cs typeface="MiSans" pitchFamily="34" charset="-120"/>
              </a:rPr>
              <a:t>// 2.补齐 missing tool_results</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yieldMissingToolResultBlocks();</a:t>
            </a:r>
            <a:endParaRPr lang="en-US" sz="1600" dirty="0"/>
          </a:p>
          <a:p>
            <a:pPr>
              <a:lnSpc>
                <a:spcPct val="150000"/>
              </a:lnSpc>
            </a:pPr>
            <a:r>
              <a:rPr lang="en-US" sz="1300" dirty="0">
                <a:solidFill>
                  <a:srgbClr val="C4A265"/>
                </a:solidFill>
                <a:latin typeface="MiSans" pitchFamily="34" charset="0"/>
                <a:ea typeface="MiSans" pitchFamily="34" charset="-122"/>
                <a:cs typeface="MiSans" pitchFamily="34" charset="-120"/>
              </a:rPr>
              <a:t>// 3. Clear tool state</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toolResults = []; toolUseBlocks = [];</a:t>
            </a:r>
            <a:endParaRPr lang="en-US" sz="1600" dirty="0"/>
          </a:p>
          <a:p>
            <a:pPr>
              <a:lnSpc>
                <a:spcPct val="150000"/>
              </a:lnSpc>
            </a:pPr>
            <a:r>
              <a:rPr lang="en-US" sz="1300" dirty="0">
                <a:solidFill>
                  <a:srgbClr val="C4A265"/>
                </a:solidFill>
                <a:latin typeface="MiSans" pitchFamily="34" charset="0"/>
                <a:ea typeface="MiSans" pitchFamily="34" charset="-122"/>
                <a:cs typeface="MiSans" pitchFamily="34" charset="-120"/>
              </a:rPr>
              <a:t>// 4. Strip thinking signatures</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stripThinkingSignatures();</a:t>
            </a:r>
            <a:endParaRPr lang="en-US" sz="1600" dirty="0"/>
          </a:p>
        </p:txBody>
      </p:sp>
      <p:sp>
        <p:nvSpPr>
          <p:cNvPr id="19" name="Text 17"/>
          <p:cNvSpPr/>
          <p:nvPr/>
        </p:nvSpPr>
        <p:spPr>
          <a:xfrm>
            <a:off x="8382000" y="2794000"/>
            <a:ext cx="7112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Why Not Directly Switch in API Layer?</a:t>
            </a:r>
            <a:endParaRPr lang="en-US" sz="2200" dirty="0"/>
          </a:p>
        </p:txBody>
      </p:sp>
      <p:sp>
        <p:nvSpPr>
          <p:cNvPr id="20" name="Text 18"/>
          <p:cNvSpPr/>
          <p:nvPr/>
        </p:nvSpPr>
        <p:spPr>
          <a:xfrm>
            <a:off x="8382000" y="3276600"/>
            <a:ext cx="7112000" cy="2667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Model fallback is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NOT "resend the same request with different model"</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It requires:</a:t>
            </a:r>
            <a:endParaRPr lang="en-US" sz="1800" dirty="0"/>
          </a:p>
          <a:p>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spcBef>
                <a:spcPts val="600"/>
              </a:spcBef>
            </a:pPr>
            <a:r>
              <a:rPr lang="en-US" sz="1700" b="1" dirty="0">
                <a:solidFill>
                  <a:srgbClr val="E8DCC8"/>
                </a:solidFill>
                <a:latin typeface="QuattrocentoSans" pitchFamily="34" charset="0"/>
                <a:ea typeface="QuattrocentoSans" pitchFamily="34" charset="-122"/>
                <a:cs typeface="QuattrocentoSans" pitchFamily="34" charset="-120"/>
              </a:rPr>
              <a:t>Message state cleanup</a:t>
            </a:r>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 — the failed assistant message must be tombstoned, not left as a gap in the transcript</a:t>
            </a:r>
            <a:endParaRPr lang="en-US" sz="1800" dirty="0"/>
          </a:p>
          <a:p>
            <a:pPr>
              <a:lnSpc>
                <a:spcPct val="160000"/>
              </a:lnSpc>
              <a:spcBef>
                <a:spcPts val="400"/>
              </a:spcBef>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spcBef>
                <a:spcPts val="400"/>
              </a:spcBef>
            </a:pPr>
            <a:r>
              <a:rPr lang="en-US" sz="1700" b="1" dirty="0">
                <a:solidFill>
                  <a:srgbClr val="E8DCC8"/>
                </a:solidFill>
                <a:latin typeface="QuattrocentoSans" pitchFamily="34" charset="0"/>
                <a:ea typeface="QuattrocentoSans" pitchFamily="34" charset="-122"/>
                <a:cs typeface="QuattrocentoSans" pitchFamily="34" charset="-120"/>
              </a:rPr>
              <a:t>Tool result pairing</a:t>
            </a:r>
            <a:pPr>
              <a:lnSpc>
                <a:spcPct val="160000"/>
              </a:lnSpc>
              <a:spcBef>
                <a:spcPts val="400"/>
              </a:spcBef>
            </a:pPr>
            <a:r>
              <a:rPr lang="en-US" sz="1700" dirty="0">
                <a:solidFill>
                  <a:srgbClr val="E8DCC8"/>
                </a:solidFill>
                <a:latin typeface="QuattrocentoSans" pitchFamily="34" charset="0"/>
                <a:ea typeface="QuattrocentoSans" pitchFamily="34" charset="-122"/>
                <a:cs typeface="QuattrocentoSans" pitchFamily="34" charset="-120"/>
              </a:rPr>
              <a:t> — any tool_use blocks from the failed attempt need synthetic tool_results to maintain trajectory consistency</a:t>
            </a:r>
            <a:endParaRPr lang="en-US" sz="1800" dirty="0"/>
          </a:p>
          <a:p>
            <a:pPr>
              <a:lnSpc>
                <a:spcPct val="160000"/>
              </a:lnSpc>
              <a:spcBef>
                <a:spcPts val="400"/>
              </a:spcBef>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spcBef>
                <a:spcPts val="400"/>
              </a:spcBef>
            </a:pPr>
            <a:r>
              <a:rPr lang="en-US" sz="1700" b="1" dirty="0">
                <a:solidFill>
                  <a:srgbClr val="E8DCC8"/>
                </a:solidFill>
                <a:latin typeface="QuattrocentoSans" pitchFamily="34" charset="0"/>
                <a:ea typeface="QuattrocentoSans" pitchFamily="34" charset="-122"/>
                <a:cs typeface="QuattrocentoSans" pitchFamily="34" charset="-120"/>
              </a:rPr>
              <a:t>Thinking signature stripping</a:t>
            </a:r>
            <a:pPr>
              <a:lnSpc>
                <a:spcPct val="160000"/>
              </a:lnSpc>
              <a:spcBef>
                <a:spcPts val="400"/>
              </a:spcBef>
            </a:pPr>
            <a:r>
              <a:rPr lang="en-US" sz="1700" dirty="0">
                <a:solidFill>
                  <a:srgbClr val="E8DCC8"/>
                </a:solidFill>
                <a:latin typeface="QuattrocentoSans" pitchFamily="34" charset="0"/>
                <a:ea typeface="QuattrocentoSans" pitchFamily="34" charset="-122"/>
                <a:cs typeface="QuattrocentoSans" pitchFamily="34" charset="-120"/>
              </a:rPr>
              <a:t> — new model cannot consume old model's thinking signature blocks</a:t>
            </a:r>
            <a:endParaRPr lang="en-US" sz="1800" dirty="0"/>
          </a:p>
          <a:p>
            <a:pPr>
              <a:lnSpc>
                <a:spcPct val="160000"/>
              </a:lnSpc>
              <a:spcBef>
                <a:spcPts val="400"/>
              </a:spcBef>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spcBef>
                <a:spcPts val="400"/>
              </a:spcBef>
            </a:pPr>
            <a:r>
              <a:rPr lang="en-US" sz="1700" b="1" dirty="0">
                <a:solidFill>
                  <a:srgbClr val="E8DCC8"/>
                </a:solidFill>
                <a:latin typeface="QuattrocentoSans" pitchFamily="34" charset="0"/>
                <a:ea typeface="QuattrocentoSans" pitchFamily="34" charset="-122"/>
                <a:cs typeface="QuattrocentoSans" pitchFamily="34" charset="-120"/>
              </a:rPr>
              <a:t>Executor discard</a:t>
            </a:r>
            <a:pPr>
              <a:lnSpc>
                <a:spcPct val="160000"/>
              </a:lnSpc>
              <a:spcBef>
                <a:spcPts val="400"/>
              </a:spcBef>
            </a:pPr>
            <a:r>
              <a:rPr lang="en-US" sz="1700" dirty="0">
                <a:solidFill>
                  <a:srgbClr val="E8DCC8"/>
                </a:solidFill>
                <a:latin typeface="QuattrocentoSans" pitchFamily="34" charset="0"/>
                <a:ea typeface="QuattrocentoSans" pitchFamily="34" charset="-122"/>
                <a:cs typeface="QuattrocentoSans" pitchFamily="34" charset="-120"/>
              </a:rPr>
              <a:t> — old StreamingToolExecutor must be discarded to prevent result leakage</a:t>
            </a:r>
            <a:endParaRPr lang="en-US" sz="1800" dirty="0"/>
          </a:p>
        </p:txBody>
      </p:sp>
      <p:sp>
        <p:nvSpPr>
          <p:cNvPr id="21" name="Shape 19"/>
          <p:cNvSpPr/>
          <p:nvPr/>
        </p:nvSpPr>
        <p:spPr>
          <a:xfrm>
            <a:off x="762000" y="6223000"/>
            <a:ext cx="50800" cy="2032000"/>
          </a:xfrm>
          <a:prstGeom prst="rect">
            <a:avLst/>
          </a:prstGeom>
          <a:solidFill>
            <a:srgbClr val="C4A265"/>
          </a:solidFill>
          <a:ln/>
        </p:spPr>
      </p:sp>
      <p:sp>
        <p:nvSpPr>
          <p:cNvPr id="22" name="Text 20"/>
          <p:cNvSpPr/>
          <p:nvPr/>
        </p:nvSpPr>
        <p:spPr>
          <a:xfrm>
            <a:off x="1016000" y="62230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Advantage vs Disadvantage</a:t>
            </a:r>
            <a:endParaRPr lang="en-US" sz="1600" dirty="0"/>
          </a:p>
        </p:txBody>
      </p:sp>
      <p:sp>
        <p:nvSpPr>
          <p:cNvPr id="23" name="Text 21"/>
          <p:cNvSpPr/>
          <p:nvPr/>
        </p:nvSpPr>
        <p:spPr>
          <a:xfrm>
            <a:off x="1016000" y="6604000"/>
            <a:ext cx="6858000" cy="7620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State machine continues rather than terminating. Graceful degradation under provider overload. Clean separation of concerns — API layer signals, orchestration layer decides.</a:t>
            </a:r>
            <a:endParaRPr lang="en-US" sz="1600" dirty="0"/>
          </a:p>
        </p:txBody>
      </p:sp>
      <p:sp>
        <p:nvSpPr>
          <p:cNvPr id="24" name="Text 22"/>
          <p:cNvSpPr/>
          <p:nvPr/>
        </p:nvSpPr>
        <p:spPr>
          <a:xfrm>
            <a:off x="8382000" y="6604000"/>
            <a:ext cx="7112000" cy="762000"/>
          </a:xfrm>
          <a:prstGeom prst="rect">
            <a:avLst/>
          </a:prstGeom>
          <a:noFill/>
          <a:ln/>
        </p:spPr>
        <p:txBody>
          <a:bodyPr wrap="square" lIns="0" tIns="0" rIns="0" bIns="0" rtlCol="0" anchor="t"/>
          <a:lstStyle/>
          <a:p>
            <a:pPr>
              <a:lnSpc>
                <a:spcPct val="150000"/>
              </a:lnSpc>
            </a:pPr>
            <a:r>
              <a:rPr lang="en-US" sz="1600" dirty="0">
                <a:solidFill>
                  <a:srgbClr val="D4A088"/>
                </a:solidFill>
                <a:latin typeface="Quattrocento Sans" pitchFamily="34" charset="0"/>
                <a:ea typeface="Quattrocento Sans" pitchFamily="34" charset="-122"/>
                <a:cs typeface="Quattrocento Sans" pitchFamily="34" charset="-120"/>
              </a:rPr>
              <a:t>Disadvantage: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Complex state cleanup logic. Risk of incomplete cleanup leaving transcript in inconsistent state. Thinking signature stripping loses valuable reasoning context.</a:t>
            </a:r>
            <a:endParaRPr lang="en-US" sz="1600" dirty="0"/>
          </a:p>
        </p:txBody>
      </p:sp>
      <p:sp>
        <p:nvSpPr>
          <p:cNvPr id="25" name="Text 23"/>
          <p:cNvSpPr/>
          <p:nvPr/>
        </p:nvSpPr>
        <p:spPr>
          <a:xfrm>
            <a:off x="1016000" y="7620000"/>
            <a:ext cx="14224000" cy="508000"/>
          </a:xfrm>
          <a:prstGeom prst="rect">
            <a:avLst/>
          </a:prstGeom>
          <a:noFill/>
          <a:ln/>
        </p:spPr>
        <p:txBody>
          <a:bodyPr wrap="square" lIns="0" tIns="0" rIns="0" bIns="0" rtlCol="0" anchor="ctr"/>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Core Principle: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"Request failure prioritizes keeping the state machine running rather than immediately terminating the entire session."</a:t>
            </a:r>
            <a:endParaRPr lang="en-US" sz="1600" dirty="0"/>
          </a:p>
        </p:txBody>
      </p:sp>
      <p:sp>
        <p:nvSpPr>
          <p:cNvPr id="26" name="Shape 24"/>
          <p:cNvSpPr/>
          <p:nvPr/>
        </p:nvSpPr>
        <p:spPr>
          <a:xfrm>
            <a:off x="762000" y="8636000"/>
            <a:ext cx="14732000" cy="12700"/>
          </a:xfrm>
          <a:prstGeom prst="rect">
            <a:avLst/>
          </a:prstGeom>
          <a:solidFill>
            <a:srgbClr val="3A3A3E"/>
          </a:solidFill>
          <a:ln/>
        </p:spPr>
      </p:sp>
      <p:sp>
        <p:nvSpPr>
          <p:cNvPr id="27" name="Text 25"/>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src/services/api/withRetry.ts:326-350, src/query.ts:893-950</a:t>
            </a:r>
            <a:endParaRPr lang="en-US" sz="13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02 CONVERSATION EXECUTION ENGINE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Usage Accounting: updateUsage vs accumulateUsage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498600"/>
            <a:ext cx="50800" cy="762000"/>
          </a:xfrm>
          <a:prstGeom prst="rect">
            <a:avLst/>
          </a:prstGeom>
          <a:solidFill>
            <a:srgbClr val="8B5A3C"/>
          </a:solidFill>
          <a:ln/>
        </p:spPr>
      </p:sp>
      <p:sp>
        <p:nvSpPr>
          <p:cNvPr id="6" name="Text 4"/>
          <p:cNvSpPr/>
          <p:nvPr/>
        </p:nvSpPr>
        <p:spPr>
          <a:xfrm>
            <a:off x="990600" y="1498600"/>
            <a:ext cx="14224000" cy="762000"/>
          </a:xfrm>
          <a:prstGeom prst="rect">
            <a:avLst/>
          </a:prstGeom>
          <a:noFill/>
          <a:ln/>
        </p:spPr>
        <p:txBody>
          <a:bodyPr wrap="square" lIns="0" tIns="0" rIns="0" bIns="0" rtlCol="0" anchor="ctr"/>
          <a:lstStyle/>
          <a:p>
            <a:pPr>
              <a:lnSpc>
                <a:spcPct val="150000"/>
              </a:lnSpc>
            </a:pPr>
            <a:r>
              <a:rPr lang="en-US" sz="1700" b="1" dirty="0">
                <a:solidFill>
                  <a:srgbClr val="D4A088"/>
                </a:solidFill>
                <a:latin typeface="Quattrocento Sans" pitchFamily="34" charset="0"/>
                <a:ea typeface="Quattrocento Sans" pitchFamily="34" charset="-122"/>
                <a:cs typeface="Quattrocento Sans" pitchFamily="34" charset="-120"/>
              </a:rPr>
              <a:t>This is a very easy place to get wrong.</a:t>
            </a:r>
            <a:pPr>
              <a:lnSpc>
                <a:spcPct val="150000"/>
              </a:lnSpc>
            </a:pPr>
            <a:r>
              <a:rPr lang="en-US" sz="1700" dirty="0">
                <a:solidFill>
                  <a:srgbClr val="E8DCC8"/>
                </a:solidFill>
                <a:latin typeface="Quattrocento Sans" pitchFamily="34" charset="0"/>
                <a:ea typeface="Quattrocento Sans" pitchFamily="34" charset="-122"/>
                <a:cs typeface="Quattrocento Sans" pitchFamily="34" charset="-120"/>
              </a:rPr>
              <a:t> Two functions handle usage, and their distinction is critical for correct cost tracking and budget enforcement.</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62000" y="2540000"/>
          <a:ext cx="14732000" cy="2794000"/>
        </p:xfrm>
        <a:graphic>
          <a:graphicData uri="http://schemas.openxmlformats.org/drawingml/2006/table">
            <a:tbl>
              <a:tblPr/>
              <a:tblGrid>
                <a:gridCol w="2946400"/>
                <a:gridCol w="5892800"/>
                <a:gridCol w="5892800"/>
              </a:tblGrid>
              <a:tr h="558800">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Function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updateUsage()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accumulateUsage()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11176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Scope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Single streaming request internal usage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Multi-round aggregation across tool loops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11176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Logic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"Cover with new cumulative value" — Anthropic streaming usage is cumulative not incremental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"Add incrementally" — sum usage across multiple assistant/tool cycles in one turn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bl>
          </a:graphicData>
        </a:graphic>
      </p:graphicFrame>
      <p:sp>
        <p:nvSpPr>
          <p:cNvPr id="8" name="Text 5"/>
          <p:cNvSpPr/>
          <p:nvPr/>
        </p:nvSpPr>
        <p:spPr>
          <a:xfrm>
            <a:off x="762000" y="5651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The Critical Difference</a:t>
            </a:r>
            <a:endParaRPr lang="en-US" sz="2200" dirty="0"/>
          </a:p>
        </p:txBody>
      </p:sp>
      <p:sp>
        <p:nvSpPr>
          <p:cNvPr id="9" name="Text 6"/>
          <p:cNvSpPr/>
          <p:nvPr/>
        </p:nvSpPr>
        <p:spPr>
          <a:xfrm>
            <a:off x="762000" y="6096000"/>
            <a:ext cx="14732000" cy="1016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Inside one streaming request: Anthropic sends cumulative usage totals, not deltas. So updateUsage()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replaces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previous value with the new cumulative value — "cover, don't add". Across multiple assistant/tool cycles in one turn: each cycle has its own usage, so accumulateUsage()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sums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them incrementally. Mixing these up leads to either double-counting (adding cumulative values) or under-counting (covering when you should add).</a:t>
            </a:r>
            <a:endParaRPr lang="en-US" sz="1800" dirty="0"/>
          </a:p>
        </p:txBody>
      </p:sp>
      <p:sp>
        <p:nvSpPr>
          <p:cNvPr id="10" name="Shape 7"/>
          <p:cNvSpPr/>
          <p:nvPr/>
        </p:nvSpPr>
        <p:spPr>
          <a:xfrm>
            <a:off x="762000" y="7366000"/>
            <a:ext cx="14732000" cy="889000"/>
          </a:xfrm>
          <a:prstGeom prst="roundRect">
            <a:avLst>
              <a:gd name="adj" fmla="val 4000"/>
            </a:avLst>
          </a:prstGeom>
          <a:solidFill>
            <a:srgbClr val="161618"/>
          </a:solidFill>
          <a:ln/>
        </p:spPr>
      </p:sp>
      <p:sp>
        <p:nvSpPr>
          <p:cNvPr id="11" name="Text 8"/>
          <p:cNvSpPr/>
          <p:nvPr/>
        </p:nvSpPr>
        <p:spPr>
          <a:xfrm>
            <a:off x="1016000" y="7467600"/>
            <a:ext cx="14224000" cy="685800"/>
          </a:xfrm>
          <a:prstGeom prst="rect">
            <a:avLst/>
          </a:prstGeom>
          <a:noFill/>
          <a:ln/>
        </p:spPr>
        <p:txBody>
          <a:bodyPr wrap="square" lIns="0" tIns="0" rIns="0" bIns="0" rtlCol="0" anchor="ctr"/>
          <a:lstStyle/>
          <a:p>
            <a:pPr>
              <a:lnSpc>
                <a:spcPct val="150000"/>
              </a:lnSpc>
            </a:pPr>
            <a:r>
              <a:rPr lang="en-US" sz="1400" dirty="0">
                <a:solidFill>
                  <a:srgbClr val="C4A265"/>
                </a:solidFill>
                <a:latin typeface="MiSans" pitchFamily="34" charset="0"/>
                <a:ea typeface="MiSans" pitchFamily="34" charset="-122"/>
                <a:cs typeface="MiSans" pitchFamily="34" charset="-120"/>
              </a:rPr>
              <a:t>// One turn internally uses updateUsage; entire turn across multiple cycles uses accumulateUsage</a:t>
            </a:r>
            <a:endParaRPr lang="en-US" sz="1600" dirty="0"/>
          </a:p>
          <a:p>
            <a:pPr>
              <a:lnSpc>
                <a:spcPct val="150000"/>
              </a:lnSpc>
            </a:pPr>
            <a:r>
              <a:rPr lang="en-US" sz="1400" dirty="0">
                <a:solidFill>
                  <a:srgbClr val="9A9590"/>
                </a:solidFill>
                <a:latin typeface="MiSans" pitchFamily="34" charset="0"/>
                <a:ea typeface="MiSans" pitchFamily="34" charset="-122"/>
                <a:cs typeface="MiSans" pitchFamily="34" charset="-120"/>
              </a:rPr>
              <a:t>// This distinction is easy to miss and causes subtle cost tracking bugs</a:t>
            </a:r>
            <a:endParaRPr lang="en-US" sz="1600" dirty="0"/>
          </a:p>
        </p:txBody>
      </p:sp>
      <p:sp>
        <p:nvSpPr>
          <p:cNvPr id="12" name="Shape 9"/>
          <p:cNvSpPr/>
          <p:nvPr/>
        </p:nvSpPr>
        <p:spPr>
          <a:xfrm>
            <a:off x="762000" y="8636000"/>
            <a:ext cx="14732000" cy="12700"/>
          </a:xfrm>
          <a:prstGeom prst="rect">
            <a:avLst/>
          </a:prstGeom>
          <a:solidFill>
            <a:srgbClr val="3A3A3E"/>
          </a:solidFill>
          <a:ln/>
        </p:spPr>
      </p:sp>
      <p:sp>
        <p:nvSpPr>
          <p:cNvPr id="13" name="Text 10"/>
          <p:cNvSpPr/>
          <p:nvPr/>
        </p:nvSpPr>
        <p:spPr>
          <a:xfrm>
            <a:off x="762000" y="8763000"/>
            <a:ext cx="635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src/services/api/claude.ts</a:t>
            </a:r>
            <a:endParaRPr lang="en-US" sz="13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03</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THREE</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143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Command &amp; Tool Architecture</a:t>
            </a:r>
            <a:endParaRPr lang="en-US" sz="3800" dirty="0"/>
          </a:p>
        </p:txBody>
      </p:sp>
      <p:sp>
        <p:nvSpPr>
          <p:cNvPr id="6" name="Text 4"/>
          <p:cNvSpPr/>
          <p:nvPr/>
        </p:nvSpPr>
        <p:spPr>
          <a:xfrm>
            <a:off x="762000" y="4699000"/>
            <a:ext cx="889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Commands are for humans; Tools are for models — two entry layers of a unified Agent platform</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03 COMMAND &amp; TOOL ARCHITECTURE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Commands vs Tools: Two Entry Layers</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7112000" cy="2540000"/>
          </a:xfrm>
          <a:prstGeom prst="rect">
            <a:avLst/>
          </a:prstGeom>
          <a:solidFill>
            <a:srgbClr val="161618"/>
          </a:solidFill>
          <a:ln/>
        </p:spPr>
      </p:sp>
      <p:sp>
        <p:nvSpPr>
          <p:cNvPr id="6" name="Shape 4"/>
          <p:cNvSpPr/>
          <p:nvPr/>
        </p:nvSpPr>
        <p:spPr>
          <a:xfrm>
            <a:off x="762000" y="1524000"/>
            <a:ext cx="50800" cy="2540000"/>
          </a:xfrm>
          <a:prstGeom prst="rect">
            <a:avLst/>
          </a:prstGeom>
          <a:solidFill>
            <a:srgbClr val="C4A265"/>
          </a:solidFill>
          <a:ln/>
        </p:spPr>
      </p:sp>
      <p:sp>
        <p:nvSpPr>
          <p:cNvPr id="7" name="Text 5"/>
          <p:cNvSpPr/>
          <p:nvPr/>
        </p:nvSpPr>
        <p:spPr>
          <a:xfrm>
            <a:off x="1016000" y="1625600"/>
            <a:ext cx="2540000" cy="2794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COMMANDS (Human-Facing)</a:t>
            </a:r>
            <a:endParaRPr lang="en-US" sz="1600" dirty="0"/>
          </a:p>
        </p:txBody>
      </p:sp>
      <p:sp>
        <p:nvSpPr>
          <p:cNvPr id="8" name="Text 6"/>
          <p:cNvSpPr/>
          <p:nvPr/>
        </p:nvSpPr>
        <p:spPr>
          <a:xfrm>
            <a:off x="1016000" y="1981200"/>
            <a:ext cx="6604000" cy="19050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Face </a:t>
            </a:r>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"humans"</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explicit entries in terminal</a:t>
            </a:r>
            <a:endParaRPr lang="en-US" sz="1600" dirty="0"/>
          </a:p>
          <a:p>
            <a:pPr>
              <a:lnSpc>
                <a:spcPct val="150000"/>
              </a:lnSpc>
              <a:spcBef>
                <a:spcPts val="400"/>
              </a:spcBef>
            </a:pPr>
            <a:r>
              <a:rPr lang="en-US" sz="1600" dirty="0">
                <a:solidFill>
                  <a:srgbClr val="E8DCC8"/>
                </a:solidFill>
                <a:latin typeface="Quattrocento Sans" pitchFamily="34" charset="0"/>
                <a:ea typeface="Quattrocento Sans" pitchFamily="34" charset="-122"/>
                <a:cs typeface="Quattrocento Sans" pitchFamily="34" charset="-120"/>
              </a:rPr>
              <a:t>• </a:t>
            </a:r>
            <a:pPr>
              <a:lnSpc>
                <a:spcPct val="150000"/>
              </a:lnSpc>
              <a:spcBef>
                <a:spcPts val="400"/>
              </a:spcBef>
            </a:pPr>
            <a:r>
              <a:rPr lang="en-US" sz="1600" dirty="0">
                <a:solidFill>
                  <a:srgbClr val="C4A265"/>
                </a:solidFill>
                <a:latin typeface="Quattrocento Sans" pitchFamily="34" charset="0"/>
                <a:ea typeface="Quattrocento Sans" pitchFamily="34" charset="-122"/>
                <a:cs typeface="Quattrocento Sans" pitchFamily="34" charset="-120"/>
              </a:rPr>
              <a:t>/plan</a:t>
            </a:r>
            <a:pPr>
              <a:lnSpc>
                <a:spcPct val="150000"/>
              </a:lnSpc>
              <a:spcBef>
                <a:spcPts val="400"/>
              </a:spcBef>
            </a:pPr>
            <a:r>
              <a:rPr lang="en-US" sz="1600" dirty="0">
                <a:solidFill>
                  <a:srgbClr val="E8DCC8"/>
                </a:solidFill>
                <a:latin typeface="Quattrocento Sans" pitchFamily="34" charset="0"/>
                <a:ea typeface="Quattrocento Sans" pitchFamily="34" charset="-122"/>
                <a:cs typeface="Quattrocento Sans" pitchFamily="34" charset="-120"/>
              </a:rPr>
              <a:t> — enter plan mode</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a:t>
            </a:r>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/mcp</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manage MCP servers</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a:t>
            </a:r>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/review</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code review</a:t>
            </a:r>
            <a:endParaRPr lang="en-US" sz="1600" dirty="0"/>
          </a:p>
          <a:p>
            <a:pPr>
              <a:lnSpc>
                <a:spcPct val="150000"/>
              </a:lnSpc>
              <a:spcBef>
                <a:spcPts val="400"/>
              </a:spcBef>
            </a:pPr>
            <a:r>
              <a:rPr lang="en-US" sz="1600" dirty="0">
                <a:solidFill>
                  <a:srgbClr val="9A9590"/>
                </a:solidFill>
                <a:latin typeface="Quattrocento Sans" pitchFamily="34" charset="0"/>
                <a:ea typeface="Quattrocento Sans" pitchFamily="34" charset="-122"/>
                <a:cs typeface="Quattrocento Sans" pitchFamily="34" charset="-120"/>
              </a:rPr>
              <a:t>commands.ts aggregates "user-visible entries"</a:t>
            </a:r>
            <a:endParaRPr lang="en-US" sz="1600" dirty="0"/>
          </a:p>
        </p:txBody>
      </p:sp>
      <p:sp>
        <p:nvSpPr>
          <p:cNvPr id="9" name="Shape 7"/>
          <p:cNvSpPr/>
          <p:nvPr/>
        </p:nvSpPr>
        <p:spPr>
          <a:xfrm>
            <a:off x="8382000" y="1524000"/>
            <a:ext cx="7112000" cy="2540000"/>
          </a:xfrm>
          <a:prstGeom prst="rect">
            <a:avLst/>
          </a:prstGeom>
          <a:solidFill>
            <a:srgbClr val="161618"/>
          </a:solidFill>
          <a:ln/>
        </p:spPr>
      </p:sp>
      <p:sp>
        <p:nvSpPr>
          <p:cNvPr id="10" name="Shape 8"/>
          <p:cNvSpPr/>
          <p:nvPr/>
        </p:nvSpPr>
        <p:spPr>
          <a:xfrm>
            <a:off x="8382000" y="1524000"/>
            <a:ext cx="50800" cy="2540000"/>
          </a:xfrm>
          <a:prstGeom prst="rect">
            <a:avLst/>
          </a:prstGeom>
          <a:solidFill>
            <a:srgbClr val="6B8E6B"/>
          </a:solidFill>
          <a:ln/>
        </p:spPr>
      </p:sp>
      <p:sp>
        <p:nvSpPr>
          <p:cNvPr id="11" name="Text 9"/>
          <p:cNvSpPr/>
          <p:nvPr/>
        </p:nvSpPr>
        <p:spPr>
          <a:xfrm>
            <a:off x="8636000" y="1625600"/>
            <a:ext cx="2540000" cy="279400"/>
          </a:xfrm>
          <a:prstGeom prst="rect">
            <a:avLst/>
          </a:prstGeom>
          <a:noFill/>
          <a:ln/>
        </p:spPr>
        <p:txBody>
          <a:bodyPr wrap="none" lIns="0" tIns="0" rIns="0" bIns="0" rtlCol="0" anchor="ctr"/>
          <a:lstStyle/>
          <a:p>
            <a:pPr>
              <a:lnSpc>
                <a:spcPct val="100000"/>
              </a:lnSpc>
            </a:pPr>
            <a:r>
              <a:rPr lang="en-US" sz="1400" b="1" dirty="0">
                <a:solidFill>
                  <a:srgbClr val="8FBC8F"/>
                </a:solidFill>
                <a:latin typeface="Liter" pitchFamily="34" charset="0"/>
                <a:ea typeface="Liter" pitchFamily="34" charset="-122"/>
                <a:cs typeface="Liter" pitchFamily="34" charset="-120"/>
              </a:rPr>
              <a:t>TOOLS (Model-Facing)</a:t>
            </a:r>
            <a:endParaRPr lang="en-US" sz="1600" dirty="0"/>
          </a:p>
        </p:txBody>
      </p:sp>
      <p:sp>
        <p:nvSpPr>
          <p:cNvPr id="12" name="Text 10"/>
          <p:cNvSpPr/>
          <p:nvPr/>
        </p:nvSpPr>
        <p:spPr>
          <a:xfrm>
            <a:off x="8636000" y="1981200"/>
            <a:ext cx="6604000" cy="19050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Face </a:t>
            </a:r>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"models"</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execution units Agent calls</a:t>
            </a:r>
            <a:endParaRPr lang="en-US" sz="1600" dirty="0"/>
          </a:p>
          <a:p>
            <a:pPr>
              <a:lnSpc>
                <a:spcPct val="150000"/>
              </a:lnSpc>
              <a:spcBef>
                <a:spcPts val="400"/>
              </a:spcBef>
            </a:pPr>
            <a:r>
              <a:rPr lang="en-US" sz="1600" dirty="0">
                <a:solidFill>
                  <a:srgbClr val="E8DCC8"/>
                </a:solidFill>
                <a:latin typeface="Quattrocento Sans" pitchFamily="34" charset="0"/>
                <a:ea typeface="Quattrocento Sans" pitchFamily="34" charset="-122"/>
                <a:cs typeface="Quattrocento Sans" pitchFamily="34" charset="-120"/>
              </a:rPr>
              <a:t>• </a:t>
            </a:r>
            <a:pPr>
              <a:lnSpc>
                <a:spcPct val="150000"/>
              </a:lnSpc>
              <a:spcBef>
                <a:spcPts val="400"/>
              </a:spcBef>
            </a:pPr>
            <a:r>
              <a:rPr lang="en-US" sz="1600" dirty="0">
                <a:solidFill>
                  <a:srgbClr val="8FBC8F"/>
                </a:solidFill>
                <a:latin typeface="Quattrocento Sans" pitchFamily="34" charset="0"/>
                <a:ea typeface="Quattrocento Sans" pitchFamily="34" charset="-122"/>
                <a:cs typeface="Quattrocento Sans" pitchFamily="34" charset="-120"/>
              </a:rPr>
              <a:t>Bash</a:t>
            </a:r>
            <a:pPr>
              <a:lnSpc>
                <a:spcPct val="150000"/>
              </a:lnSpc>
              <a:spcBef>
                <a:spcPts val="400"/>
              </a:spcBef>
            </a:pPr>
            <a:r>
              <a:rPr lang="en-US" sz="1600" dirty="0">
                <a:solidFill>
                  <a:srgbClr val="E8DCC8"/>
                </a:solidFill>
                <a:latin typeface="Quattrocento Sans" pitchFamily="34" charset="0"/>
                <a:ea typeface="Quattrocento Sans" pitchFamily="34" charset="-122"/>
                <a:cs typeface="Quattrocento Sans" pitchFamily="34" charset="-120"/>
              </a:rPr>
              <a:t> — shell command execution</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a:t>
            </a:r>
            <a:pPr>
              <a:lnSpc>
                <a:spcPct val="150000"/>
              </a:lnSpc>
            </a:pPr>
            <a:r>
              <a:rPr lang="en-US" sz="1600" dirty="0">
                <a:solidFill>
                  <a:srgbClr val="8FBC8F"/>
                </a:solidFill>
                <a:latin typeface="Quattrocento Sans" pitchFamily="34" charset="0"/>
                <a:ea typeface="Quattrocento Sans" pitchFamily="34" charset="-122"/>
                <a:cs typeface="Quattrocento Sans" pitchFamily="34" charset="-120"/>
              </a:rPr>
              <a:t>Edit</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file modification</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a:t>
            </a:r>
            <a:pPr>
              <a:lnSpc>
                <a:spcPct val="150000"/>
              </a:lnSpc>
            </a:pPr>
            <a:r>
              <a:rPr lang="en-US" sz="1600" dirty="0">
                <a:solidFill>
                  <a:srgbClr val="8FBC8F"/>
                </a:solidFill>
                <a:latin typeface="Quattrocento Sans" pitchFamily="34" charset="0"/>
                <a:ea typeface="Quattrocento Sans" pitchFamily="34" charset="-122"/>
                <a:cs typeface="Quattrocento Sans" pitchFamily="34" charset="-120"/>
              </a:rPr>
              <a:t>Read</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file reading</a:t>
            </a:r>
            <a:endParaRPr lang="en-US" sz="1600" dirty="0"/>
          </a:p>
          <a:p>
            <a:pPr>
              <a:lnSpc>
                <a:spcPct val="150000"/>
              </a:lnSpc>
              <a:spcBef>
                <a:spcPts val="400"/>
              </a:spcBef>
            </a:pPr>
            <a:r>
              <a:rPr lang="en-US" sz="1600" dirty="0">
                <a:solidFill>
                  <a:srgbClr val="9A9590"/>
                </a:solidFill>
                <a:latin typeface="Quattrocento Sans" pitchFamily="34" charset="0"/>
                <a:ea typeface="Quattrocento Sans" pitchFamily="34" charset="-122"/>
                <a:cs typeface="Quattrocento Sans" pitchFamily="34" charset="-120"/>
              </a:rPr>
              <a:t>tools.ts aggregates "model-visible capability set"</a:t>
            </a:r>
            <a:endParaRPr lang="en-US" sz="1600" dirty="0"/>
          </a:p>
        </p:txBody>
      </p:sp>
      <p:sp>
        <p:nvSpPr>
          <p:cNvPr id="13" name="Text 11"/>
          <p:cNvSpPr/>
          <p:nvPr/>
        </p:nvSpPr>
        <p:spPr>
          <a:xfrm>
            <a:off x="762000" y="43434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The Tool Loop: Core Agent Pattern</a:t>
            </a:r>
            <a:endParaRPr lang="en-US" sz="2200" dirty="0"/>
          </a:p>
        </p:txBody>
      </p:sp>
      <p:sp>
        <p:nvSpPr>
          <p:cNvPr id="14" name="Shape 12"/>
          <p:cNvSpPr/>
          <p:nvPr/>
        </p:nvSpPr>
        <p:spPr>
          <a:xfrm>
            <a:off x="762000" y="4826000"/>
            <a:ext cx="14732000" cy="1270000"/>
          </a:xfrm>
          <a:prstGeom prst="roundRect">
            <a:avLst>
              <a:gd name="adj" fmla="val 4000"/>
            </a:avLst>
          </a:prstGeom>
          <a:solidFill>
            <a:srgbClr val="161618"/>
          </a:solidFill>
          <a:ln/>
        </p:spPr>
      </p:sp>
      <p:sp>
        <p:nvSpPr>
          <p:cNvPr id="15" name="Text 13"/>
          <p:cNvSpPr/>
          <p:nvPr/>
        </p:nvSpPr>
        <p:spPr>
          <a:xfrm>
            <a:off x="1016000" y="4927600"/>
            <a:ext cx="14224000" cy="1066800"/>
          </a:xfrm>
          <a:prstGeom prst="rect">
            <a:avLst/>
          </a:prstGeom>
          <a:noFill/>
          <a:ln/>
        </p:spPr>
        <p:txBody>
          <a:bodyPr wrap="square" lIns="0" tIns="0" rIns="0" bIns="0" rtlCol="0" anchor="t"/>
          <a:lstStyle/>
          <a:p>
            <a:pPr>
              <a:lnSpc>
                <a:spcPct val="150000"/>
              </a:lnSpc>
            </a:pPr>
            <a:r>
              <a:rPr lang="en-US" sz="1500" dirty="0">
                <a:solidFill>
                  <a:srgbClr val="C4A265"/>
                </a:solidFill>
                <a:latin typeface="MiSans" pitchFamily="34" charset="0"/>
                <a:ea typeface="MiSans" pitchFamily="34" charset="-122"/>
                <a:cs typeface="MiSans" pitchFamily="34" charset="-120"/>
              </a:rPr>
              <a:t>// query.ts drives the fundamental agent loop:</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model output tool_use → execute tool → backfill tool_result → continue reasoning</a:t>
            </a:r>
            <a:endParaRPr lang="en-US" sz="1600" dirty="0"/>
          </a:p>
          <a:p>
            <a:pPr>
              <a:lnSpc>
                <a:spcPct val="150000"/>
              </a:lnSpc>
            </a:pPr>
            <a:r>
              <a:rPr lang="en-US" sz="1500" dirty="0">
                <a:solidFill>
                  <a:srgbClr val="9A9590"/>
                </a:solidFill>
                <a:latin typeface="MiSans" pitchFamily="34" charset="0"/>
                <a:ea typeface="MiSans" pitchFamily="34" charset="-122"/>
                <a:cs typeface="MiSans" pitchFamily="34" charset="-120"/>
              </a:rPr>
              <a:t>This loop continues until the model produces a response without tool_use, or max turns/budget is reached.</a:t>
            </a:r>
            <a:endParaRPr lang="en-US" sz="1600" dirty="0"/>
          </a:p>
        </p:txBody>
      </p:sp>
      <p:sp>
        <p:nvSpPr>
          <p:cNvPr id="16" name="Text 14"/>
          <p:cNvSpPr/>
          <p:nvPr/>
        </p:nvSpPr>
        <p:spPr>
          <a:xfrm>
            <a:off x="762000" y="6350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The Bridge: SkillTool</a:t>
            </a:r>
            <a:endParaRPr lang="en-US" sz="2200" dirty="0"/>
          </a:p>
        </p:txBody>
      </p:sp>
      <p:sp>
        <p:nvSpPr>
          <p:cNvPr id="17" name="Text 15"/>
          <p:cNvSpPr/>
          <p:nvPr/>
        </p:nvSpPr>
        <p:spPr>
          <a:xfrm>
            <a:off x="762000" y="6807200"/>
            <a:ext cx="14732000" cy="889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SkillTool</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bridges commands and tools. For users, a Skill is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/xxx</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command. For models, the same Skill is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SkillTool(skill, args)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This dual-facet design means skills are discoverable both through the command palette (human) and through tool use (model) — maximizing reuse.</a:t>
            </a:r>
            <a:endParaRPr lang="en-US" sz="1800" dirty="0"/>
          </a:p>
        </p:txBody>
      </p:sp>
      <p:sp>
        <p:nvSpPr>
          <p:cNvPr id="18" name="Shape 16"/>
          <p:cNvSpPr/>
          <p:nvPr/>
        </p:nvSpPr>
        <p:spPr>
          <a:xfrm>
            <a:off x="762000" y="8636000"/>
            <a:ext cx="14732000" cy="12700"/>
          </a:xfrm>
          <a:prstGeom prst="rect">
            <a:avLst/>
          </a:prstGeom>
          <a:solidFill>
            <a:srgbClr val="3A3A3E"/>
          </a:solidFill>
          <a:ln/>
        </p:spPr>
      </p:sp>
      <p:sp>
        <p:nvSpPr>
          <p:cNvPr id="19" name="Text 17"/>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src/commands.ts, src/tools.ts, src/Tool.ts</a:t>
            </a:r>
            <a:endParaRPr lang="en-US" sz="13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03 COMMAND &amp; TOOL ARCHITECTURE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Tool Protocol: Not Just a Function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635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Each Tool must answer a complete set of questions. It's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a "double-sided adapter"</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upward adapts to model protocol, downward adapts to terminal interaction experience.</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62000" y="2286000"/>
          <a:ext cx="14732000" cy="4699000"/>
        </p:xfrm>
        <a:graphic>
          <a:graphicData uri="http://schemas.openxmlformats.org/drawingml/2006/table">
            <a:tbl>
              <a:tblPr/>
              <a:tblGrid>
                <a:gridCol w="4124960"/>
                <a:gridCol w="5303520"/>
                <a:gridCol w="5303520"/>
              </a:tblGrid>
              <a:tr h="469900">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Protocol Method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Purpose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Example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name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Unique identifier in tool set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"Bash", "Edit", "mcp__github__create_issue"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inputSchema</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Zod schema for parameter validation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z.object({ command: z.string() })</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description() / prompt()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Dynamic description for model context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Returns tool docs + current state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isConcurrencySafe()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Can execute in parallel with others?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Read=true, Edit=false, Bash=false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isReadOnly()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Does not modify external state?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Glob=true, Bash=false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isDestructive()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Can cause irreversible damage?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rm -rf=true, grep=false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checkPermissions()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Permission decision for this call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allow / ask / deny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call()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Actual tool execution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Returns ToolResult&lt;T&gt;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699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mapToolResultToBlockParam()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Format result for model consumption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Converts to tool_result block</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bl>
          </a:graphicData>
        </a:graphic>
      </p:graphicFrame>
      <p:sp>
        <p:nvSpPr>
          <p:cNvPr id="7" name="Text 4"/>
          <p:cNvSpPr/>
          <p:nvPr/>
        </p:nvSpPr>
        <p:spPr>
          <a:xfrm>
            <a:off x="762000" y="7239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buildTool() Defaults: Fail-Closed</a:t>
            </a:r>
            <a:endParaRPr lang="en-US" sz="2200" dirty="0"/>
          </a:p>
        </p:txBody>
      </p:sp>
      <p:sp>
        <p:nvSpPr>
          <p:cNvPr id="8" name="Text 5"/>
          <p:cNvSpPr/>
          <p:nvPr/>
        </p:nvSpPr>
        <p:spPr>
          <a:xfrm>
            <a:off x="762000" y="7683500"/>
            <a:ext cx="14732000" cy="635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buildTool() provides safe defaults: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isEnabled()→true, isConcurrencySafe()→false, isReadOnly()→false, isDestructive()→false, checkPermissions()→allow</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Each tool must explicitly opt into more permissive behavior. This is defense-in-depth: the safest behavior is the default.</a:t>
            </a:r>
            <a:endParaRPr lang="en-US" sz="1800" dirty="0"/>
          </a:p>
        </p:txBody>
      </p:sp>
      <p:sp>
        <p:nvSpPr>
          <p:cNvPr id="9" name="Shape 6"/>
          <p:cNvSpPr/>
          <p:nvPr/>
        </p:nvSpPr>
        <p:spPr>
          <a:xfrm>
            <a:off x="762000" y="8636000"/>
            <a:ext cx="14732000" cy="12700"/>
          </a:xfrm>
          <a:prstGeom prst="rect">
            <a:avLst/>
          </a:prstGeom>
          <a:solidFill>
            <a:srgbClr val="3A3A3E"/>
          </a:solidFill>
          <a:ln/>
        </p:spPr>
      </p:sp>
      <p:sp>
        <p:nvSpPr>
          <p:cNvPr id="10" name="Text 7"/>
          <p:cNvSpPr/>
          <p:nvPr/>
        </p:nvSpPr>
        <p:spPr>
          <a:xfrm>
            <a:off x="762000" y="8763000"/>
            <a:ext cx="635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src/Tool.ts, src/tools.ts</a:t>
            </a:r>
            <a:endParaRPr lang="en-US" sz="13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03 COMMAND &amp; TOOL ARCHITECTURE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Tool Result: More Than a String</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635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ToolResult&lt;T&gt; separates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"tool本体 output"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from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"loop control output"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enabling tools to not just "produce results" but also "change subsequent rounds' runtime context".</a:t>
            </a:r>
            <a:endParaRPr lang="en-US" sz="1800" dirty="0"/>
          </a:p>
        </p:txBody>
      </p:sp>
      <p:sp>
        <p:nvSpPr>
          <p:cNvPr id="6" name="Shape 4"/>
          <p:cNvSpPr/>
          <p:nvPr/>
        </p:nvSpPr>
        <p:spPr>
          <a:xfrm>
            <a:off x="762000" y="2286000"/>
            <a:ext cx="14732000" cy="2286000"/>
          </a:xfrm>
          <a:prstGeom prst="roundRect">
            <a:avLst>
              <a:gd name="adj" fmla="val 4000"/>
            </a:avLst>
          </a:prstGeom>
          <a:solidFill>
            <a:srgbClr val="161618"/>
          </a:solidFill>
          <a:ln/>
        </p:spPr>
      </p:sp>
      <p:sp>
        <p:nvSpPr>
          <p:cNvPr id="7" name="Text 5"/>
          <p:cNvSpPr/>
          <p:nvPr/>
        </p:nvSpPr>
        <p:spPr>
          <a:xfrm>
            <a:off x="1016000" y="2413000"/>
            <a:ext cx="14224000" cy="2032000"/>
          </a:xfrm>
          <a:prstGeom prst="rect">
            <a:avLst/>
          </a:prstGeom>
          <a:noFill/>
          <a:ln/>
        </p:spPr>
        <p:txBody>
          <a:bodyPr wrap="square" lIns="0" tIns="0" rIns="0" bIns="0" rtlCol="0" anchor="t"/>
          <a:lstStyle/>
          <a:p>
            <a:pPr>
              <a:lnSpc>
                <a:spcPct val="150000"/>
              </a:lnSpc>
            </a:pPr>
            <a:r>
              <a:rPr lang="en-US" sz="1500" dirty="0">
                <a:solidFill>
                  <a:srgbClr val="C4A265"/>
                </a:solidFill>
                <a:latin typeface="MiSans" pitchFamily="34" charset="0"/>
                <a:ea typeface="MiSans" pitchFamily="34" charset="-122"/>
                <a:cs typeface="MiSans" pitchFamily="34" charset="-120"/>
              </a:rPr>
              <a:t>// src/Tool.ts — ToolResult&lt;T&gt; structure</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interface ToolResult&lt;T&gt; {</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data: T; </a:t>
            </a:r>
            <a:pPr>
              <a:lnSpc>
                <a:spcPct val="150000"/>
              </a:lnSpc>
            </a:pPr>
            <a:r>
              <a:rPr lang="en-US" sz="1500" dirty="0">
                <a:solidFill>
                  <a:srgbClr val="9A9590"/>
                </a:solidFill>
                <a:latin typeface="MiSans" pitchFamily="34" charset="0"/>
                <a:ea typeface="MiSans" pitchFamily="34" charset="-122"/>
                <a:cs typeface="MiSans" pitchFamily="34" charset="-120"/>
              </a:rPr>
              <a:t>// Tool business result (what the tool produced)</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newMessages?: Message[]; </a:t>
            </a:r>
            <a:pPr>
              <a:lnSpc>
                <a:spcPct val="150000"/>
              </a:lnSpc>
            </a:pPr>
            <a:r>
              <a:rPr lang="en-US" sz="1500" dirty="0">
                <a:solidFill>
                  <a:srgbClr val="9A9590"/>
                </a:solidFill>
                <a:latin typeface="MiSans" pitchFamily="34" charset="0"/>
                <a:ea typeface="MiSans" pitchFamily="34" charset="-122"/>
                <a:cs typeface="MiSans" pitchFamily="34" charset="-120"/>
              </a:rPr>
              <a:t>// Insert additional messages into message flow</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contextModifier?: ContextModifier; </a:t>
            </a:r>
            <a:pPr>
              <a:lnSpc>
                <a:spcPct val="150000"/>
              </a:lnSpc>
            </a:pPr>
            <a:r>
              <a:rPr lang="en-US" sz="1500" dirty="0">
                <a:solidFill>
                  <a:srgbClr val="9A9590"/>
                </a:solidFill>
                <a:latin typeface="MiSans" pitchFamily="34" charset="0"/>
                <a:ea typeface="MiSans" pitchFamily="34" charset="-122"/>
                <a:cs typeface="MiSans" pitchFamily="34" charset="-120"/>
              </a:rPr>
              <a:t>// Modify ToolUseContext after execution</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a:t>
            </a:r>
            <a:endParaRPr lang="en-US" sz="1600" dirty="0"/>
          </a:p>
        </p:txBody>
      </p:sp>
      <p:sp>
        <p:nvSpPr>
          <p:cNvPr id="8" name="Text 6"/>
          <p:cNvSpPr/>
          <p:nvPr/>
        </p:nvSpPr>
        <p:spPr>
          <a:xfrm>
            <a:off x="762000" y="4826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Three Fields, Three Purposes</a:t>
            </a:r>
            <a:endParaRPr lang="en-US" sz="2200" dirty="0"/>
          </a:p>
        </p:txBody>
      </p:sp>
      <p:sp>
        <p:nvSpPr>
          <p:cNvPr id="9" name="Shape 7"/>
          <p:cNvSpPr/>
          <p:nvPr/>
        </p:nvSpPr>
        <p:spPr>
          <a:xfrm>
            <a:off x="762000" y="5334000"/>
            <a:ext cx="4699000" cy="1651000"/>
          </a:xfrm>
          <a:prstGeom prst="rect">
            <a:avLst/>
          </a:prstGeom>
          <a:solidFill>
            <a:srgbClr val="161618"/>
          </a:solidFill>
          <a:ln/>
        </p:spPr>
      </p:sp>
      <p:sp>
        <p:nvSpPr>
          <p:cNvPr id="10" name="Shape 8"/>
          <p:cNvSpPr/>
          <p:nvPr/>
        </p:nvSpPr>
        <p:spPr>
          <a:xfrm>
            <a:off x="762000" y="5334000"/>
            <a:ext cx="4699000" cy="50800"/>
          </a:xfrm>
          <a:prstGeom prst="rect">
            <a:avLst/>
          </a:prstGeom>
          <a:solidFill>
            <a:srgbClr val="C4A265"/>
          </a:solidFill>
          <a:ln/>
        </p:spPr>
      </p:sp>
      <p:sp>
        <p:nvSpPr>
          <p:cNvPr id="11" name="Text 9"/>
          <p:cNvSpPr/>
          <p:nvPr/>
        </p:nvSpPr>
        <p:spPr>
          <a:xfrm>
            <a:off x="1016000" y="5486400"/>
            <a:ext cx="4191000" cy="3048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data</a:t>
            </a:r>
            <a:endParaRPr lang="en-US" sz="1600" dirty="0"/>
          </a:p>
        </p:txBody>
      </p:sp>
      <p:sp>
        <p:nvSpPr>
          <p:cNvPr id="12" name="Text 10"/>
          <p:cNvSpPr/>
          <p:nvPr/>
        </p:nvSpPr>
        <p:spPr>
          <a:xfrm>
            <a:off x="1016000" y="5867400"/>
            <a:ext cx="4191000" cy="9652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The tool's business output — file contents, command output, search results. This is what gets formatted into tool_result for the model.</a:t>
            </a:r>
            <a:endParaRPr lang="en-US" sz="1600" dirty="0"/>
          </a:p>
        </p:txBody>
      </p:sp>
      <p:sp>
        <p:nvSpPr>
          <p:cNvPr id="13" name="Shape 11"/>
          <p:cNvSpPr/>
          <p:nvPr/>
        </p:nvSpPr>
        <p:spPr>
          <a:xfrm>
            <a:off x="5715000" y="5334000"/>
            <a:ext cx="4699000" cy="1651000"/>
          </a:xfrm>
          <a:prstGeom prst="rect">
            <a:avLst/>
          </a:prstGeom>
          <a:solidFill>
            <a:srgbClr val="161618"/>
          </a:solidFill>
          <a:ln/>
        </p:spPr>
      </p:sp>
      <p:sp>
        <p:nvSpPr>
          <p:cNvPr id="14" name="Shape 12"/>
          <p:cNvSpPr/>
          <p:nvPr/>
        </p:nvSpPr>
        <p:spPr>
          <a:xfrm>
            <a:off x="5715000" y="5334000"/>
            <a:ext cx="4699000" cy="50800"/>
          </a:xfrm>
          <a:prstGeom prst="rect">
            <a:avLst/>
          </a:prstGeom>
          <a:solidFill>
            <a:srgbClr val="6B8E6B"/>
          </a:solidFill>
          <a:ln/>
        </p:spPr>
      </p:sp>
      <p:sp>
        <p:nvSpPr>
          <p:cNvPr id="15" name="Text 13"/>
          <p:cNvSpPr/>
          <p:nvPr/>
        </p:nvSpPr>
        <p:spPr>
          <a:xfrm>
            <a:off x="5969000" y="5486400"/>
            <a:ext cx="4191000" cy="304800"/>
          </a:xfrm>
          <a:prstGeom prst="rect">
            <a:avLst/>
          </a:prstGeom>
          <a:noFill/>
          <a:ln/>
        </p:spPr>
        <p:txBody>
          <a:bodyPr wrap="none" lIns="0" tIns="0" rIns="0" bIns="0" rtlCol="0" anchor="ctr"/>
          <a:lstStyle/>
          <a:p>
            <a:pPr>
              <a:lnSpc>
                <a:spcPct val="100000"/>
              </a:lnSpc>
            </a:pPr>
            <a:r>
              <a:rPr lang="en-US" sz="1800" b="1" dirty="0">
                <a:solidFill>
                  <a:srgbClr val="8FBC8F"/>
                </a:solidFill>
                <a:latin typeface="Liter" pitchFamily="34" charset="0"/>
                <a:ea typeface="Liter" pitchFamily="34" charset="-122"/>
                <a:cs typeface="Liter" pitchFamily="34" charset="-120"/>
              </a:rPr>
              <a:t>newMessages</a:t>
            </a:r>
            <a:endParaRPr lang="en-US" sz="1600" dirty="0"/>
          </a:p>
        </p:txBody>
      </p:sp>
      <p:sp>
        <p:nvSpPr>
          <p:cNvPr id="16" name="Text 14"/>
          <p:cNvSpPr/>
          <p:nvPr/>
        </p:nvSpPr>
        <p:spPr>
          <a:xfrm>
            <a:off x="5969000" y="5867400"/>
            <a:ext cx="4191000" cy="9652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Insert messages into the conversation flow. Used by Skill expansion and Agent execution to inject sub-conversation results.</a:t>
            </a:r>
            <a:endParaRPr lang="en-US" sz="1600" dirty="0"/>
          </a:p>
        </p:txBody>
      </p:sp>
      <p:sp>
        <p:nvSpPr>
          <p:cNvPr id="17" name="Shape 15"/>
          <p:cNvSpPr/>
          <p:nvPr/>
        </p:nvSpPr>
        <p:spPr>
          <a:xfrm>
            <a:off x="10668000" y="5334000"/>
            <a:ext cx="4826000" cy="1651000"/>
          </a:xfrm>
          <a:prstGeom prst="rect">
            <a:avLst/>
          </a:prstGeom>
          <a:solidFill>
            <a:srgbClr val="161618"/>
          </a:solidFill>
          <a:ln/>
        </p:spPr>
      </p:sp>
      <p:sp>
        <p:nvSpPr>
          <p:cNvPr id="18" name="Shape 16"/>
          <p:cNvSpPr/>
          <p:nvPr/>
        </p:nvSpPr>
        <p:spPr>
          <a:xfrm>
            <a:off x="10668000" y="5334000"/>
            <a:ext cx="4826000" cy="50800"/>
          </a:xfrm>
          <a:prstGeom prst="rect">
            <a:avLst/>
          </a:prstGeom>
          <a:solidFill>
            <a:srgbClr val="8B7B6B"/>
          </a:solidFill>
          <a:ln/>
        </p:spPr>
      </p:sp>
      <p:sp>
        <p:nvSpPr>
          <p:cNvPr id="19" name="Text 17"/>
          <p:cNvSpPr/>
          <p:nvPr/>
        </p:nvSpPr>
        <p:spPr>
          <a:xfrm>
            <a:off x="10922000" y="5486400"/>
            <a:ext cx="4318000" cy="304800"/>
          </a:xfrm>
          <a:prstGeom prst="rect">
            <a:avLst/>
          </a:prstGeom>
          <a:noFill/>
          <a:ln/>
        </p:spPr>
        <p:txBody>
          <a:bodyPr wrap="none" lIns="0" tIns="0" rIns="0" bIns="0" rtlCol="0" anchor="ctr"/>
          <a:lstStyle/>
          <a:p>
            <a:pPr>
              <a:lnSpc>
                <a:spcPct val="100000"/>
              </a:lnSpc>
            </a:pPr>
            <a:r>
              <a:rPr lang="en-US" sz="1800" b="1" dirty="0">
                <a:solidFill>
                  <a:srgbClr val="C4A88A"/>
                </a:solidFill>
                <a:latin typeface="Liter" pitchFamily="34" charset="0"/>
                <a:ea typeface="Liter" pitchFamily="34" charset="-122"/>
                <a:cs typeface="Liter" pitchFamily="34" charset="-120"/>
              </a:rPr>
              <a:t>contextModifier</a:t>
            </a:r>
            <a:endParaRPr lang="en-US" sz="1600" dirty="0"/>
          </a:p>
        </p:txBody>
      </p:sp>
      <p:sp>
        <p:nvSpPr>
          <p:cNvPr id="20" name="Text 18"/>
          <p:cNvSpPr/>
          <p:nvPr/>
        </p:nvSpPr>
        <p:spPr>
          <a:xfrm>
            <a:off x="10922000" y="5867400"/>
            <a:ext cx="4318000" cy="9652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Modify ToolUseContext after execution — changes the environment for subsequent tools in the same turn (e.g., cd changes working directory).</a:t>
            </a:r>
            <a:endParaRPr lang="en-US" sz="1600" dirty="0"/>
          </a:p>
        </p:txBody>
      </p:sp>
      <p:sp>
        <p:nvSpPr>
          <p:cNvPr id="21" name="Shape 19"/>
          <p:cNvSpPr/>
          <p:nvPr/>
        </p:nvSpPr>
        <p:spPr>
          <a:xfrm>
            <a:off x="762000" y="7239000"/>
            <a:ext cx="50800" cy="1016000"/>
          </a:xfrm>
          <a:prstGeom prst="rect">
            <a:avLst/>
          </a:prstGeom>
          <a:solidFill>
            <a:srgbClr val="C4A265"/>
          </a:solidFill>
          <a:ln/>
        </p:spPr>
      </p:sp>
      <p:sp>
        <p:nvSpPr>
          <p:cNvPr id="22" name="Text 20"/>
          <p:cNvSpPr/>
          <p:nvPr/>
        </p:nvSpPr>
        <p:spPr>
          <a:xfrm>
            <a:off x="1016000" y="72390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contextModifier is the mechanism that makes tools stateful across a turn. When Bash executes "cd /tmp", the contextModifier updates ToolUseContext.cwd — so the next Read tool knows to look in /tmp. Without this, each tool would be stateless and the model would need to pass full paths every time.</a:t>
            </a:r>
            <a:endParaRPr lang="en-US" sz="1800" dirty="0"/>
          </a:p>
        </p:txBody>
      </p:sp>
      <p:sp>
        <p:nvSpPr>
          <p:cNvPr id="23" name="Shape 21"/>
          <p:cNvSpPr/>
          <p:nvPr/>
        </p:nvSpPr>
        <p:spPr>
          <a:xfrm>
            <a:off x="762000" y="8636000"/>
            <a:ext cx="14732000" cy="12700"/>
          </a:xfrm>
          <a:prstGeom prst="rect">
            <a:avLst/>
          </a:prstGeom>
          <a:solidFill>
            <a:srgbClr val="3A3A3E"/>
          </a:solidFill>
          <a:ln/>
        </p:spPr>
      </p:sp>
      <p:sp>
        <p:nvSpPr>
          <p:cNvPr id="24" name="Text 22"/>
          <p:cNvSpPr/>
          <p:nvPr/>
        </p:nvSpPr>
        <p:spPr>
          <a:xfrm>
            <a:off x="762000" y="8763000"/>
            <a:ext cx="635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src/Tool.ts</a:t>
            </a:r>
            <a:endParaRPr lang="en-US" sz="13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03 COMMAND &amp; TOOL ARCHITECTURE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ToolSet Assembly: From Multiple Sources</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635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tools.ts getAllBaseTools()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is the "single source of truth" for all built-in tools. It assembles tools from multiple source categories, then applies multi-round filtering.</a:t>
            </a:r>
            <a:endParaRPr lang="en-US" sz="1800" dirty="0"/>
          </a:p>
        </p:txBody>
      </p:sp>
      <p:sp>
        <p:nvSpPr>
          <p:cNvPr id="6" name="Text 4"/>
          <p:cNvSpPr/>
          <p:nvPr/>
        </p:nvSpPr>
        <p:spPr>
          <a:xfrm>
            <a:off x="762000" y="2222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Assembly Sources</a:t>
            </a:r>
            <a:endParaRPr lang="en-US" sz="2200" dirty="0"/>
          </a:p>
        </p:txBody>
      </p:sp>
      <p:sp>
        <p:nvSpPr>
          <p:cNvPr id="7" name="Shape 5"/>
          <p:cNvSpPr/>
          <p:nvPr/>
        </p:nvSpPr>
        <p:spPr>
          <a:xfrm>
            <a:off x="762000" y="2692400"/>
            <a:ext cx="2794000" cy="1016000"/>
          </a:xfrm>
          <a:prstGeom prst="rect">
            <a:avLst/>
          </a:prstGeom>
          <a:solidFill>
            <a:srgbClr val="161618"/>
          </a:solidFill>
          <a:ln/>
        </p:spPr>
      </p:sp>
      <p:sp>
        <p:nvSpPr>
          <p:cNvPr id="8" name="Text 6"/>
          <p:cNvSpPr/>
          <p:nvPr/>
        </p:nvSpPr>
        <p:spPr>
          <a:xfrm>
            <a:off x="889000" y="2768600"/>
            <a:ext cx="2540000" cy="8636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File Tools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Read / Edit / Write / NotebookEdit</a:t>
            </a:r>
            <a:endParaRPr lang="en-US" sz="1600" dirty="0"/>
          </a:p>
        </p:txBody>
      </p:sp>
      <p:sp>
        <p:nvSpPr>
          <p:cNvPr id="9" name="Shape 7"/>
          <p:cNvSpPr/>
          <p:nvPr/>
        </p:nvSpPr>
        <p:spPr>
          <a:xfrm>
            <a:off x="3746500" y="2692400"/>
            <a:ext cx="2794000" cy="1016000"/>
          </a:xfrm>
          <a:prstGeom prst="rect">
            <a:avLst/>
          </a:prstGeom>
          <a:solidFill>
            <a:srgbClr val="161618"/>
          </a:solidFill>
          <a:ln/>
        </p:spPr>
      </p:sp>
      <p:sp>
        <p:nvSpPr>
          <p:cNvPr id="10" name="Text 8"/>
          <p:cNvSpPr/>
          <p:nvPr/>
        </p:nvSpPr>
        <p:spPr>
          <a:xfrm>
            <a:off x="3873500" y="2768600"/>
            <a:ext cx="2540000" cy="8636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Shell Tools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Bash / PowerShell</a:t>
            </a:r>
            <a:endParaRPr lang="en-US" sz="1600" dirty="0"/>
          </a:p>
        </p:txBody>
      </p:sp>
      <p:sp>
        <p:nvSpPr>
          <p:cNvPr id="11" name="Shape 9"/>
          <p:cNvSpPr/>
          <p:nvPr/>
        </p:nvSpPr>
        <p:spPr>
          <a:xfrm>
            <a:off x="6731000" y="2692400"/>
            <a:ext cx="2794000" cy="1016000"/>
          </a:xfrm>
          <a:prstGeom prst="rect">
            <a:avLst/>
          </a:prstGeom>
          <a:solidFill>
            <a:srgbClr val="161618"/>
          </a:solidFill>
          <a:ln/>
        </p:spPr>
      </p:sp>
      <p:sp>
        <p:nvSpPr>
          <p:cNvPr id="12" name="Text 10"/>
          <p:cNvSpPr/>
          <p:nvPr/>
        </p:nvSpPr>
        <p:spPr>
          <a:xfrm>
            <a:off x="6858000" y="2768600"/>
            <a:ext cx="2540000" cy="8636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Search Tools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Glob / Grep / WebFetch / WebSearch</a:t>
            </a:r>
            <a:endParaRPr lang="en-US" sz="1600" dirty="0"/>
          </a:p>
        </p:txBody>
      </p:sp>
      <p:sp>
        <p:nvSpPr>
          <p:cNvPr id="13" name="Shape 11"/>
          <p:cNvSpPr/>
          <p:nvPr/>
        </p:nvSpPr>
        <p:spPr>
          <a:xfrm>
            <a:off x="9715500" y="2692400"/>
            <a:ext cx="2794000" cy="1016000"/>
          </a:xfrm>
          <a:prstGeom prst="rect">
            <a:avLst/>
          </a:prstGeom>
          <a:solidFill>
            <a:srgbClr val="161618"/>
          </a:solidFill>
          <a:ln/>
        </p:spPr>
      </p:sp>
      <p:sp>
        <p:nvSpPr>
          <p:cNvPr id="14" name="Text 12"/>
          <p:cNvSpPr/>
          <p:nvPr/>
        </p:nvSpPr>
        <p:spPr>
          <a:xfrm>
            <a:off x="9842500" y="2768600"/>
            <a:ext cx="2540000" cy="8636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Task Tools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TaskCreate / Update / List / Stop / Output</a:t>
            </a:r>
            <a:endParaRPr lang="en-US" sz="1600" dirty="0"/>
          </a:p>
        </p:txBody>
      </p:sp>
      <p:sp>
        <p:nvSpPr>
          <p:cNvPr id="15" name="Shape 13"/>
          <p:cNvSpPr/>
          <p:nvPr/>
        </p:nvSpPr>
        <p:spPr>
          <a:xfrm>
            <a:off x="12700000" y="2692400"/>
            <a:ext cx="2794000" cy="1016000"/>
          </a:xfrm>
          <a:prstGeom prst="rect">
            <a:avLst/>
          </a:prstGeom>
          <a:solidFill>
            <a:srgbClr val="161618"/>
          </a:solidFill>
          <a:ln/>
        </p:spPr>
      </p:sp>
      <p:sp>
        <p:nvSpPr>
          <p:cNvPr id="16" name="Text 14"/>
          <p:cNvSpPr/>
          <p:nvPr/>
        </p:nvSpPr>
        <p:spPr>
          <a:xfrm>
            <a:off x="12827000" y="2768600"/>
            <a:ext cx="2540000" cy="863600"/>
          </a:xfrm>
          <a:prstGeom prst="rect">
            <a:avLst/>
          </a:prstGeom>
          <a:noFill/>
          <a:ln/>
        </p:spPr>
        <p:txBody>
          <a:bodyPr wrap="square" lIns="0" tIns="0" rIns="0" bIns="0" rtlCol="0" anchor="ctr"/>
          <a:lstStyle/>
          <a:p>
            <a:pPr algn="ct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Flow Tools</a:t>
            </a:r>
            <a:endParaRPr lang="en-US" sz="1600" dirty="0"/>
          </a:p>
          <a:p>
            <a:pPr algn="ct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Enter/Exit PlanMode / Worktree</a:t>
            </a:r>
            <a:endParaRPr lang="en-US" sz="1600" dirty="0"/>
          </a:p>
        </p:txBody>
      </p:sp>
      <p:sp>
        <p:nvSpPr>
          <p:cNvPr id="17" name="Text 15"/>
          <p:cNvSpPr/>
          <p:nvPr/>
        </p:nvSpPr>
        <p:spPr>
          <a:xfrm>
            <a:off x="762000" y="3937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Multi-Round Filtering Pipeline</a:t>
            </a:r>
            <a:endParaRPr lang="en-US" sz="2200" dirty="0"/>
          </a:p>
        </p:txBody>
      </p:sp>
      <p:sp>
        <p:nvSpPr>
          <p:cNvPr id="18" name="Text 16"/>
          <p:cNvSpPr/>
          <p:nvPr/>
        </p:nvSpPr>
        <p:spPr>
          <a:xfrm>
            <a:off x="762000" y="4419600"/>
            <a:ext cx="14732000" cy="1143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getTools(permissionContext) applies filters in order:</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1.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Simple mode filtering</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reduce tool set for simpler queries</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2.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Remove special tools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hide internal/debug tools</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3.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Deny rules filtering</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remove tools blocked by permission rules ←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Critical: acts at visibility stage</a:t>
            </a:r>
            <a:endParaRPr lang="en-US" sz="1800" dirty="0"/>
          </a:p>
        </p:txBody>
      </p:sp>
      <p:sp>
        <p:nvSpPr>
          <p:cNvPr id="19" name="Text 17"/>
          <p:cNvSpPr/>
          <p:nvPr/>
        </p:nvSpPr>
        <p:spPr>
          <a:xfrm>
            <a:off x="762000" y="5689600"/>
            <a:ext cx="14732000" cy="762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4.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REPL mode hiding</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—某些 tools only available in specific modes</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5.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isEnabled() check</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tool can dynamically disable itself based on context</a:t>
            </a:r>
            <a:endParaRPr lang="en-US" sz="1800" dirty="0"/>
          </a:p>
        </p:txBody>
      </p:sp>
      <p:sp>
        <p:nvSpPr>
          <p:cNvPr id="20" name="Shape 18"/>
          <p:cNvSpPr/>
          <p:nvPr/>
        </p:nvSpPr>
        <p:spPr>
          <a:xfrm>
            <a:off x="762000" y="6731000"/>
            <a:ext cx="50800" cy="1524000"/>
          </a:xfrm>
          <a:prstGeom prst="rect">
            <a:avLst/>
          </a:prstGeom>
          <a:solidFill>
            <a:srgbClr val="C4A265"/>
          </a:solidFill>
          <a:ln/>
        </p:spPr>
      </p:sp>
      <p:sp>
        <p:nvSpPr>
          <p:cNvPr id="21" name="Text 19"/>
          <p:cNvSpPr/>
          <p:nvPr/>
        </p:nvSpPr>
        <p:spPr>
          <a:xfrm>
            <a:off x="1016000" y="67310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Key Design Insight</a:t>
            </a:r>
            <a:endParaRPr lang="en-US" sz="1600" dirty="0"/>
          </a:p>
        </p:txBody>
      </p:sp>
      <p:sp>
        <p:nvSpPr>
          <p:cNvPr id="22" name="Text 20"/>
          <p:cNvSpPr/>
          <p:nvPr/>
        </p:nvSpPr>
        <p:spPr>
          <a:xfrm>
            <a:off x="1016000" y="7112000"/>
            <a:ext cx="14224000" cy="1016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Deny rules act at "tool visibility stage" not just "execution stage".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If a tool is deny-ruled, it's removed from the tool pool entirely — the model never sees it in its context. This is stronger than runtime permission denial: it's a compile-time removal from the capability set. This prevents the model from even thinking about using denied tools.</a:t>
            </a:r>
            <a:endParaRPr lang="en-US" sz="1800" dirty="0"/>
          </a:p>
        </p:txBody>
      </p:sp>
      <p:sp>
        <p:nvSpPr>
          <p:cNvPr id="23" name="Shape 21"/>
          <p:cNvSpPr/>
          <p:nvPr/>
        </p:nvSpPr>
        <p:spPr>
          <a:xfrm>
            <a:off x="762000" y="8636000"/>
            <a:ext cx="14732000" cy="12700"/>
          </a:xfrm>
          <a:prstGeom prst="rect">
            <a:avLst/>
          </a:prstGeom>
          <a:solidFill>
            <a:srgbClr val="3A3A3E"/>
          </a:solidFill>
          <a:ln/>
        </p:spPr>
      </p:sp>
      <p:sp>
        <p:nvSpPr>
          <p:cNvPr id="24" name="Text 22"/>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src/tools.ts (getAllBaseTools, getTools, filterToolsByDenyRules)</a:t>
            </a:r>
            <a:endParaRPr lang="en-US" sz="13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03 COMMAND &amp; TOOL ARCHITECTURE</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MCP Tool Integration: Unified Not Special</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635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MCP tools are not "specially treated bypass logic" — they're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adapted into the same Tool abstraction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as built-in tools. The model cannot distinguish between a built-in tool and an MCP tool.</a:t>
            </a:r>
            <a:endParaRPr lang="en-US" sz="1800" dirty="0"/>
          </a:p>
        </p:txBody>
      </p:sp>
      <p:sp>
        <p:nvSpPr>
          <p:cNvPr id="6" name="Text 4"/>
          <p:cNvSpPr/>
          <p:nvPr/>
        </p:nvSpPr>
        <p:spPr>
          <a:xfrm>
            <a:off x="762000" y="2286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Namespace Convention</a:t>
            </a:r>
            <a:endParaRPr lang="en-US" sz="2200" dirty="0"/>
          </a:p>
        </p:txBody>
      </p:sp>
      <p:sp>
        <p:nvSpPr>
          <p:cNvPr id="7" name="Shape 5"/>
          <p:cNvSpPr/>
          <p:nvPr/>
        </p:nvSpPr>
        <p:spPr>
          <a:xfrm>
            <a:off x="762000" y="2768600"/>
            <a:ext cx="7112000" cy="1016000"/>
          </a:xfrm>
          <a:prstGeom prst="roundRect">
            <a:avLst>
              <a:gd name="adj" fmla="val 4000"/>
            </a:avLst>
          </a:prstGeom>
          <a:solidFill>
            <a:srgbClr val="161618"/>
          </a:solidFill>
          <a:ln/>
        </p:spPr>
      </p:sp>
      <p:sp>
        <p:nvSpPr>
          <p:cNvPr id="8" name="Text 6"/>
          <p:cNvSpPr/>
          <p:nvPr/>
        </p:nvSpPr>
        <p:spPr>
          <a:xfrm>
            <a:off x="1016000" y="2870200"/>
            <a:ext cx="6604000" cy="812800"/>
          </a:xfrm>
          <a:prstGeom prst="rect">
            <a:avLst/>
          </a:prstGeom>
          <a:noFill/>
          <a:ln/>
        </p:spPr>
        <p:txBody>
          <a:bodyPr wrap="square" lIns="0" tIns="0" rIns="0" bIns="0" rtlCol="0" anchor="ctr"/>
          <a:lstStyle/>
          <a:p>
            <a:pPr>
              <a:lnSpc>
                <a:spcPct val="150000"/>
              </a:lnSpc>
            </a:pPr>
            <a:r>
              <a:rPr lang="en-US" sz="1500" dirty="0">
                <a:solidFill>
                  <a:srgbClr val="C4A265"/>
                </a:solidFill>
                <a:latin typeface="MiSans" pitchFamily="34" charset="0"/>
                <a:ea typeface="MiSans" pitchFamily="34" charset="-122"/>
                <a:cs typeface="MiSans" pitchFamily="34" charset="-120"/>
              </a:rPr>
              <a:t>mcp__&lt;normalized_server_name&gt;__&lt;normalized_tool_name&gt;</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Example: </a:t>
            </a:r>
            <a:pPr>
              <a:lnSpc>
                <a:spcPct val="150000"/>
              </a:lnSpc>
            </a:pPr>
            <a:r>
              <a:rPr lang="en-US" sz="1500" dirty="0">
                <a:solidFill>
                  <a:srgbClr val="C4A265"/>
                </a:solidFill>
                <a:latin typeface="MiSans" pitchFamily="34" charset="0"/>
                <a:ea typeface="MiSans" pitchFamily="34" charset="-122"/>
                <a:cs typeface="MiSans" pitchFamily="34" charset="-120"/>
              </a:rPr>
              <a:t>mcp__github__create_issue</a:t>
            </a:r>
            <a:endParaRPr lang="en-US" sz="1600" dirty="0"/>
          </a:p>
        </p:txBody>
      </p:sp>
      <p:sp>
        <p:nvSpPr>
          <p:cNvPr id="9" name="Text 7"/>
          <p:cNvSpPr/>
          <p:nvPr/>
        </p:nvSpPr>
        <p:spPr>
          <a:xfrm>
            <a:off x="8382000" y="2768600"/>
            <a:ext cx="7112000" cy="1016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Three purposes:</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1. Avoid conflicts with built-in tools</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2. Enable permission rules to precisely match</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3. Provide unified namespace for model</a:t>
            </a:r>
            <a:endParaRPr lang="en-US" sz="1800" dirty="0"/>
          </a:p>
        </p:txBody>
      </p:sp>
      <p:sp>
        <p:nvSpPr>
          <p:cNvPr id="10" name="Text 8"/>
          <p:cNvSpPr/>
          <p:nvPr/>
        </p:nvSpPr>
        <p:spPr>
          <a:xfrm>
            <a:off x="762000" y="40386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Tool Pool Assembly with Cache Stability</a:t>
            </a:r>
            <a:endParaRPr lang="en-US" sz="2200" dirty="0"/>
          </a:p>
        </p:txBody>
      </p:sp>
      <p:sp>
        <p:nvSpPr>
          <p:cNvPr id="11" name="Text 9"/>
          <p:cNvSpPr/>
          <p:nvPr/>
        </p:nvSpPr>
        <p:spPr>
          <a:xfrm>
            <a:off x="762000" y="4508500"/>
            <a:ext cx="14732000" cy="1016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assembleToolPool()</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merges built-in and MCP tools with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sorting for prompt cache stability</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Built-in tools maintain a continuous prefix — this ensures that adding/removing MCP tools doesn't invalidate the prompt cache for built-in tools. Cache stability is critical for performance: each cache hit saves tokens and reduces latency.</a:t>
            </a:r>
            <a:endParaRPr lang="en-US" sz="1800" dirty="0"/>
          </a:p>
        </p:txBody>
      </p:sp>
      <p:sp>
        <p:nvSpPr>
          <p:cNvPr id="12" name="Shape 10"/>
          <p:cNvSpPr/>
          <p:nvPr/>
        </p:nvSpPr>
        <p:spPr>
          <a:xfrm>
            <a:off x="762000" y="5715000"/>
            <a:ext cx="14732000" cy="1143000"/>
          </a:xfrm>
          <a:prstGeom prst="roundRect">
            <a:avLst>
              <a:gd name="adj" fmla="val 4000"/>
            </a:avLst>
          </a:prstGeom>
          <a:solidFill>
            <a:srgbClr val="161618"/>
          </a:solidFill>
          <a:ln/>
        </p:spPr>
      </p:sp>
      <p:sp>
        <p:nvSpPr>
          <p:cNvPr id="13" name="Text 11"/>
          <p:cNvSpPr/>
          <p:nvPr/>
        </p:nvSpPr>
        <p:spPr>
          <a:xfrm>
            <a:off x="1016000" y="5816600"/>
            <a:ext cx="14224000" cy="939800"/>
          </a:xfrm>
          <a:prstGeom prst="rect">
            <a:avLst/>
          </a:prstGeom>
          <a:noFill/>
          <a:ln/>
        </p:spPr>
        <p:txBody>
          <a:bodyPr wrap="square" lIns="0" tIns="0" rIns="0" bIns="0" rtlCol="0" anchor="ctr"/>
          <a:lstStyle/>
          <a:p>
            <a:pPr>
              <a:lnSpc>
                <a:spcPct val="150000"/>
              </a:lnSpc>
            </a:pPr>
            <a:r>
              <a:rPr lang="en-US" sz="1400" dirty="0">
                <a:solidFill>
                  <a:srgbClr val="C4A265"/>
                </a:solidFill>
                <a:latin typeface="MiSans" pitchFamily="34" charset="0"/>
                <a:ea typeface="MiSans" pitchFamily="34" charset="-122"/>
                <a:cs typeface="MiSans" pitchFamily="34" charset="-120"/>
              </a:rPr>
              <a:t>// Tool pool assembly flow:</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getAllBaseTools() → fetch MCP tools from connected servers → normalize names (mcp__server__tool) → sort (built-in first, then MCP alphabetically) → apply filters → return final tool set</a:t>
            </a:r>
            <a:endParaRPr lang="en-US" sz="1600" dirty="0"/>
          </a:p>
          <a:p>
            <a:pPr>
              <a:lnSpc>
                <a:spcPct val="150000"/>
              </a:lnSpc>
            </a:pPr>
            <a:r>
              <a:rPr lang="en-US" sz="1400" dirty="0">
                <a:solidFill>
                  <a:srgbClr val="9A9590"/>
                </a:solidFill>
                <a:latin typeface="MiSans" pitchFamily="34" charset="0"/>
                <a:ea typeface="MiSans" pitchFamily="34" charset="-122"/>
                <a:cs typeface="MiSans" pitchFamily="34" charset="-120"/>
              </a:rPr>
              <a:t>Source: src/services/mcp/mcpStringUtils.ts, src/tools.ts</a:t>
            </a:r>
            <a:endParaRPr lang="en-US" sz="1600" dirty="0"/>
          </a:p>
        </p:txBody>
      </p:sp>
      <p:sp>
        <p:nvSpPr>
          <p:cNvPr id="14" name="Shape 12"/>
          <p:cNvSpPr/>
          <p:nvPr/>
        </p:nvSpPr>
        <p:spPr>
          <a:xfrm>
            <a:off x="762000" y="7112000"/>
            <a:ext cx="50800" cy="1143000"/>
          </a:xfrm>
          <a:prstGeom prst="rect">
            <a:avLst/>
          </a:prstGeom>
          <a:solidFill>
            <a:srgbClr val="C4A265"/>
          </a:solidFill>
          <a:ln/>
        </p:spPr>
      </p:sp>
      <p:sp>
        <p:nvSpPr>
          <p:cNvPr id="15" name="Text 13"/>
          <p:cNvSpPr/>
          <p:nvPr/>
        </p:nvSpPr>
        <p:spPr>
          <a:xfrm>
            <a:off x="1016000" y="7112000"/>
            <a:ext cx="14224000" cy="1143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Principle: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By treating MCP tools as first-class citizens in the Tool abstraction, Claude Code avoids creating a parallel system for external capabilities. The same permission system, execution harness, and result formatting apply uniformly — reducing code duplication and ensuring consistent behavior.</a:t>
            </a:r>
            <a:endParaRPr lang="en-US" sz="1800" dirty="0"/>
          </a:p>
        </p:txBody>
      </p:sp>
      <p:sp>
        <p:nvSpPr>
          <p:cNvPr id="16" name="Shape 14"/>
          <p:cNvSpPr/>
          <p:nvPr/>
        </p:nvSpPr>
        <p:spPr>
          <a:xfrm>
            <a:off x="762000" y="8636000"/>
            <a:ext cx="14732000" cy="12700"/>
          </a:xfrm>
          <a:prstGeom prst="rect">
            <a:avLst/>
          </a:prstGeom>
          <a:solidFill>
            <a:srgbClr val="3A3A3E"/>
          </a:solidFill>
          <a:ln/>
        </p:spPr>
      </p:sp>
      <p:sp>
        <p:nvSpPr>
          <p:cNvPr id="17" name="Text 15"/>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src/services/mcp/mcpStringUtils.ts, src/tools.ts</a:t>
            </a:r>
            <a:endParaRPr lang="en-US" sz="13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04</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FOUR</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889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MCP Integration</a:t>
            </a:r>
            <a:endParaRPr lang="en-US" sz="3800" dirty="0"/>
          </a:p>
        </p:txBody>
      </p:sp>
      <p:sp>
        <p:nvSpPr>
          <p:cNvPr id="6" name="Text 4"/>
          <p:cNvSpPr/>
          <p:nvPr/>
        </p:nvSpPr>
        <p:spPr>
          <a:xfrm>
            <a:off x="762000" y="4699000"/>
            <a:ext cx="889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Model Context Protocol — a complete external capability access subsystem, not just "adding a few external tools"</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04 MCP INTEGRATION</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MCP Four-Layer Architecture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3429000" cy="3048000"/>
          </a:xfrm>
          <a:prstGeom prst="rect">
            <a:avLst/>
          </a:prstGeom>
          <a:solidFill>
            <a:srgbClr val="161618"/>
          </a:solidFill>
          <a:ln/>
        </p:spPr>
      </p:sp>
      <p:sp>
        <p:nvSpPr>
          <p:cNvPr id="6" name="Shape 4"/>
          <p:cNvSpPr/>
          <p:nvPr/>
        </p:nvSpPr>
        <p:spPr>
          <a:xfrm>
            <a:off x="762000" y="1524000"/>
            <a:ext cx="3429000" cy="50800"/>
          </a:xfrm>
          <a:prstGeom prst="rect">
            <a:avLst/>
          </a:prstGeom>
          <a:solidFill>
            <a:srgbClr val="C4A265"/>
          </a:solidFill>
          <a:ln/>
        </p:spPr>
      </p:sp>
      <p:sp>
        <p:nvSpPr>
          <p:cNvPr id="7" name="Text 5"/>
          <p:cNvSpPr/>
          <p:nvPr/>
        </p:nvSpPr>
        <p:spPr>
          <a:xfrm>
            <a:off x="952500" y="1714500"/>
            <a:ext cx="508000" cy="355600"/>
          </a:xfrm>
          <a:prstGeom prst="rect">
            <a:avLst/>
          </a:prstGeom>
          <a:noFill/>
          <a:ln/>
        </p:spPr>
        <p:txBody>
          <a:bodyPr wrap="none" lIns="0" tIns="0" rIns="0" bIns="0" rtlCol="0" anchor="ctr"/>
          <a:lstStyle/>
          <a:p>
            <a:pPr algn="ctr">
              <a:lnSpc>
                <a:spcPct val="100000"/>
              </a:lnSpc>
            </a:pPr>
            <a:r>
              <a:rPr lang="en-US" sz="2200" b="1" dirty="0">
                <a:solidFill>
                  <a:srgbClr val="C4A265"/>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524000" y="1714500"/>
            <a:ext cx="2540000" cy="3556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CONFIGURATION</a:t>
            </a:r>
            <a:endParaRPr lang="en-US" sz="1600" dirty="0"/>
          </a:p>
        </p:txBody>
      </p:sp>
      <p:sp>
        <p:nvSpPr>
          <p:cNvPr id="9" name="Text 7"/>
          <p:cNvSpPr/>
          <p:nvPr/>
        </p:nvSpPr>
        <p:spPr>
          <a:xfrm>
            <a:off x="952500" y="2184400"/>
            <a:ext cx="3048000" cy="2222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Decides "which MCP servers system can see"</a:t>
            </a:r>
            <a:endParaRPr lang="en-US" sz="1600" dirty="0"/>
          </a:p>
          <a:p>
            <a:pPr>
              <a:lnSpc>
                <a:spcPct val="150000"/>
              </a:lnSpc>
              <a:spcBef>
                <a:spcPts val="600"/>
              </a:spcBef>
            </a:pPr>
            <a:r>
              <a:rPr lang="en-US" sz="1400" dirty="0">
                <a:solidFill>
                  <a:srgbClr val="9A9590"/>
                </a:solidFill>
                <a:latin typeface="Quattrocento Sans" pitchFamily="34" charset="0"/>
                <a:ea typeface="Quattrocento Sans" pitchFamily="34" charset="-122"/>
                <a:cs typeface="Quattrocento Sans" pitchFamily="34" charset="-120"/>
              </a:rPr>
              <a:t>Sources: user, project, local, dynamic, enterprise, claudeai, plugin</a:t>
            </a:r>
            <a:endParaRPr lang="en-US" sz="1600" dirty="0"/>
          </a:p>
          <a:p>
            <a:pPr>
              <a:lnSpc>
                <a:spcPct val="150000"/>
              </a:lnSpc>
              <a:spcBef>
                <a:spcPts val="600"/>
              </a:spcBef>
            </a:pPr>
            <a:r>
              <a:rPr lang="en-US" sz="1400" dirty="0">
                <a:solidFill>
                  <a:srgbClr val="9A9590"/>
                </a:solidFill>
                <a:latin typeface="Quattrocento Sans" pitchFamily="34" charset="0"/>
                <a:ea typeface="Quattrocento Sans" pitchFamily="34" charset="-122"/>
                <a:cs typeface="Quattrocento Sans" pitchFamily="34" charset="-120"/>
              </a:rPr>
              <a:t>Files: config.ts, types.ts, addCommand.ts</a:t>
            </a:r>
            <a:endParaRPr lang="en-US" sz="1600" dirty="0"/>
          </a:p>
        </p:txBody>
      </p:sp>
      <p:sp>
        <p:nvSpPr>
          <p:cNvPr id="10" name="Shape 8"/>
          <p:cNvSpPr/>
          <p:nvPr/>
        </p:nvSpPr>
        <p:spPr>
          <a:xfrm>
            <a:off x="4508500" y="1524000"/>
            <a:ext cx="3429000" cy="3048000"/>
          </a:xfrm>
          <a:prstGeom prst="rect">
            <a:avLst/>
          </a:prstGeom>
          <a:solidFill>
            <a:srgbClr val="161618"/>
          </a:solidFill>
          <a:ln/>
        </p:spPr>
      </p:sp>
      <p:sp>
        <p:nvSpPr>
          <p:cNvPr id="11" name="Shape 9"/>
          <p:cNvSpPr/>
          <p:nvPr/>
        </p:nvSpPr>
        <p:spPr>
          <a:xfrm>
            <a:off x="4508500" y="1524000"/>
            <a:ext cx="3429000" cy="50800"/>
          </a:xfrm>
          <a:prstGeom prst="rect">
            <a:avLst/>
          </a:prstGeom>
          <a:solidFill>
            <a:srgbClr val="C4A265"/>
          </a:solidFill>
          <a:ln/>
        </p:spPr>
      </p:sp>
      <p:sp>
        <p:nvSpPr>
          <p:cNvPr id="12" name="Text 10"/>
          <p:cNvSpPr/>
          <p:nvPr/>
        </p:nvSpPr>
        <p:spPr>
          <a:xfrm>
            <a:off x="4699000" y="1714500"/>
            <a:ext cx="508000" cy="355600"/>
          </a:xfrm>
          <a:prstGeom prst="rect">
            <a:avLst/>
          </a:prstGeom>
          <a:noFill/>
          <a:ln/>
        </p:spPr>
        <p:txBody>
          <a:bodyPr wrap="none" lIns="0" tIns="0" rIns="0" bIns="0" rtlCol="0" anchor="ctr"/>
          <a:lstStyle/>
          <a:p>
            <a:pPr algn="ctr">
              <a:lnSpc>
                <a:spcPct val="100000"/>
              </a:lnSpc>
            </a:pPr>
            <a:r>
              <a:rPr lang="en-US" sz="2200" b="1" dirty="0">
                <a:solidFill>
                  <a:srgbClr val="C4A265"/>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5270500" y="1714500"/>
            <a:ext cx="2540000" cy="3556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CONNECTION</a:t>
            </a:r>
            <a:endParaRPr lang="en-US" sz="1600" dirty="0"/>
          </a:p>
        </p:txBody>
      </p:sp>
      <p:sp>
        <p:nvSpPr>
          <p:cNvPr id="14" name="Text 12"/>
          <p:cNvSpPr/>
          <p:nvPr/>
        </p:nvSpPr>
        <p:spPr>
          <a:xfrm>
            <a:off x="4699000" y="2184400"/>
            <a:ext cx="3048000" cy="2222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Decides "how to connect and speak MCP protocol"</a:t>
            </a:r>
            <a:endParaRPr lang="en-US" sz="1600" dirty="0"/>
          </a:p>
          <a:p>
            <a:pPr>
              <a:lnSpc>
                <a:spcPct val="150000"/>
              </a:lnSpc>
              <a:spcBef>
                <a:spcPts val="600"/>
              </a:spcBef>
            </a:pPr>
            <a:r>
              <a:rPr lang="en-US" sz="1400" dirty="0">
                <a:solidFill>
                  <a:srgbClr val="9A9590"/>
                </a:solidFill>
                <a:latin typeface="Quattrocento Sans" pitchFamily="34" charset="0"/>
                <a:ea typeface="Quattrocento Sans" pitchFamily="34" charset="-122"/>
                <a:cs typeface="Quattrocento Sans" pitchFamily="34" charset="-120"/>
              </a:rPr>
              <a:t>Stdio, SSE, HTTP transports</a:t>
            </a:r>
            <a:endParaRPr lang="en-US" sz="1600" dirty="0"/>
          </a:p>
          <a:p>
            <a:pPr>
              <a:lnSpc>
                <a:spcPct val="150000"/>
              </a:lnSpc>
              <a:spcBef>
                <a:spcPts val="600"/>
              </a:spcBef>
            </a:pPr>
            <a:r>
              <a:rPr lang="en-US" sz="1400" dirty="0">
                <a:solidFill>
                  <a:srgbClr val="9A9590"/>
                </a:solidFill>
                <a:latin typeface="Quattrocento Sans" pitchFamily="34" charset="0"/>
                <a:ea typeface="Quattrocento Sans" pitchFamily="34" charset="-122"/>
                <a:cs typeface="Quattrocento Sans" pitchFamily="34" charset="-120"/>
              </a:rPr>
              <a:t>File: client.ts</a:t>
            </a:r>
            <a:endParaRPr lang="en-US" sz="1600" dirty="0"/>
          </a:p>
        </p:txBody>
      </p:sp>
      <p:sp>
        <p:nvSpPr>
          <p:cNvPr id="15" name="Shape 13"/>
          <p:cNvSpPr/>
          <p:nvPr/>
        </p:nvSpPr>
        <p:spPr>
          <a:xfrm>
            <a:off x="8255000" y="1524000"/>
            <a:ext cx="3429000" cy="3048000"/>
          </a:xfrm>
          <a:prstGeom prst="rect">
            <a:avLst/>
          </a:prstGeom>
          <a:solidFill>
            <a:srgbClr val="161618"/>
          </a:solidFill>
          <a:ln/>
        </p:spPr>
      </p:sp>
      <p:sp>
        <p:nvSpPr>
          <p:cNvPr id="16" name="Shape 14"/>
          <p:cNvSpPr/>
          <p:nvPr/>
        </p:nvSpPr>
        <p:spPr>
          <a:xfrm>
            <a:off x="8255000" y="1524000"/>
            <a:ext cx="3429000" cy="50800"/>
          </a:xfrm>
          <a:prstGeom prst="rect">
            <a:avLst/>
          </a:prstGeom>
          <a:solidFill>
            <a:srgbClr val="C4A265"/>
          </a:solidFill>
          <a:ln/>
        </p:spPr>
      </p:sp>
      <p:sp>
        <p:nvSpPr>
          <p:cNvPr id="17" name="Text 15"/>
          <p:cNvSpPr/>
          <p:nvPr/>
        </p:nvSpPr>
        <p:spPr>
          <a:xfrm>
            <a:off x="8445500" y="1714500"/>
            <a:ext cx="508000" cy="355600"/>
          </a:xfrm>
          <a:prstGeom prst="rect">
            <a:avLst/>
          </a:prstGeom>
          <a:noFill/>
          <a:ln/>
        </p:spPr>
        <p:txBody>
          <a:bodyPr wrap="none" lIns="0" tIns="0" rIns="0" bIns="0" rtlCol="0" anchor="ctr"/>
          <a:lstStyle/>
          <a:p>
            <a:pPr algn="ctr">
              <a:lnSpc>
                <a:spcPct val="100000"/>
              </a:lnSpc>
            </a:pPr>
            <a:r>
              <a:rPr lang="en-US" sz="2200" b="1" dirty="0">
                <a:solidFill>
                  <a:srgbClr val="C4A265"/>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9017000" y="1714500"/>
            <a:ext cx="2540000" cy="3556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RUNTIME MGMT</a:t>
            </a:r>
            <a:endParaRPr lang="en-US" sz="1600" dirty="0"/>
          </a:p>
        </p:txBody>
      </p:sp>
      <p:sp>
        <p:nvSpPr>
          <p:cNvPr id="19" name="Text 17"/>
          <p:cNvSpPr/>
          <p:nvPr/>
        </p:nvSpPr>
        <p:spPr>
          <a:xfrm>
            <a:off x="8445500" y="2184400"/>
            <a:ext cx="3048000" cy="2222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Decides "how to sync connection state, tools, commands, resources to AppState"</a:t>
            </a:r>
            <a:endParaRPr lang="en-US" sz="1600" dirty="0"/>
          </a:p>
          <a:p>
            <a:pPr>
              <a:lnSpc>
                <a:spcPct val="150000"/>
              </a:lnSpc>
              <a:spcBef>
                <a:spcPts val="600"/>
              </a:spcBef>
            </a:pPr>
            <a:r>
              <a:rPr lang="en-US" sz="1400" dirty="0">
                <a:solidFill>
                  <a:srgbClr val="9A9590"/>
                </a:solidFill>
                <a:latin typeface="Quattrocento Sans" pitchFamily="34" charset="0"/>
                <a:ea typeface="Quattrocento Sans" pitchFamily="34" charset="-122"/>
                <a:cs typeface="Quattrocento Sans" pitchFamily="34" charset="-120"/>
              </a:rPr>
              <a:t>File: useManageMCPConnections.ts</a:t>
            </a:r>
            <a:endParaRPr lang="en-US" sz="1600" dirty="0"/>
          </a:p>
        </p:txBody>
      </p:sp>
      <p:sp>
        <p:nvSpPr>
          <p:cNvPr id="20" name="Shape 18"/>
          <p:cNvSpPr/>
          <p:nvPr/>
        </p:nvSpPr>
        <p:spPr>
          <a:xfrm>
            <a:off x="12001500" y="1524000"/>
            <a:ext cx="3492500" cy="3048000"/>
          </a:xfrm>
          <a:prstGeom prst="rect">
            <a:avLst/>
          </a:prstGeom>
          <a:solidFill>
            <a:srgbClr val="161618"/>
          </a:solidFill>
          <a:ln/>
        </p:spPr>
      </p:sp>
      <p:sp>
        <p:nvSpPr>
          <p:cNvPr id="21" name="Shape 19"/>
          <p:cNvSpPr/>
          <p:nvPr/>
        </p:nvSpPr>
        <p:spPr>
          <a:xfrm>
            <a:off x="12001500" y="1524000"/>
            <a:ext cx="3492500" cy="50800"/>
          </a:xfrm>
          <a:prstGeom prst="rect">
            <a:avLst/>
          </a:prstGeom>
          <a:solidFill>
            <a:srgbClr val="C4A265"/>
          </a:solidFill>
          <a:ln/>
        </p:spPr>
      </p:sp>
      <p:sp>
        <p:nvSpPr>
          <p:cNvPr id="22" name="Text 20"/>
          <p:cNvSpPr/>
          <p:nvPr/>
        </p:nvSpPr>
        <p:spPr>
          <a:xfrm>
            <a:off x="12192000" y="1714500"/>
            <a:ext cx="508000" cy="355600"/>
          </a:xfrm>
          <a:prstGeom prst="rect">
            <a:avLst/>
          </a:prstGeom>
          <a:noFill/>
          <a:ln/>
        </p:spPr>
        <p:txBody>
          <a:bodyPr wrap="none" lIns="0" tIns="0" rIns="0" bIns="0" rtlCol="0" anchor="ctr"/>
          <a:lstStyle/>
          <a:p>
            <a:pPr algn="ctr">
              <a:lnSpc>
                <a:spcPct val="100000"/>
              </a:lnSpc>
            </a:pPr>
            <a:r>
              <a:rPr lang="en-US" sz="2200" b="1" dirty="0">
                <a:solidFill>
                  <a:srgbClr val="C4A265"/>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12763500" y="1714500"/>
            <a:ext cx="2540000" cy="3556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TOOL INTEGRATION</a:t>
            </a:r>
            <a:endParaRPr lang="en-US" sz="1600" dirty="0"/>
          </a:p>
        </p:txBody>
      </p:sp>
      <p:sp>
        <p:nvSpPr>
          <p:cNvPr id="24" name="Text 22"/>
          <p:cNvSpPr/>
          <p:nvPr/>
        </p:nvSpPr>
        <p:spPr>
          <a:xfrm>
            <a:off x="12192000" y="2184400"/>
            <a:ext cx="3111500" cy="2222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Decides "what tool names model sees, how to call, how results flow back"</a:t>
            </a:r>
            <a:endParaRPr lang="en-US" sz="1600" dirty="0"/>
          </a:p>
          <a:p>
            <a:pPr>
              <a:lnSpc>
                <a:spcPct val="150000"/>
              </a:lnSpc>
              <a:spcBef>
                <a:spcPts val="600"/>
              </a:spcBef>
            </a:pPr>
            <a:r>
              <a:rPr lang="en-US" sz="1400" dirty="0">
                <a:solidFill>
                  <a:srgbClr val="9A9590"/>
                </a:solidFill>
                <a:latin typeface="Quattrocento Sans" pitchFamily="34" charset="0"/>
                <a:ea typeface="Quattrocento Sans" pitchFamily="34" charset="-122"/>
                <a:cs typeface="Quattrocento Sans" pitchFamily="34" charset="-120"/>
              </a:rPr>
              <a:t>Files: client.ts fetchTools, toolExecution.ts</a:t>
            </a:r>
            <a:endParaRPr lang="en-US" sz="1600" dirty="0"/>
          </a:p>
        </p:txBody>
      </p:sp>
      <p:sp>
        <p:nvSpPr>
          <p:cNvPr id="25" name="Shape 23"/>
          <p:cNvSpPr/>
          <p:nvPr/>
        </p:nvSpPr>
        <p:spPr>
          <a:xfrm>
            <a:off x="762000" y="4889500"/>
            <a:ext cx="50800" cy="1016000"/>
          </a:xfrm>
          <a:prstGeom prst="rect">
            <a:avLst/>
          </a:prstGeom>
          <a:solidFill>
            <a:srgbClr val="C4A265"/>
          </a:solidFill>
          <a:ln/>
        </p:spPr>
      </p:sp>
      <p:sp>
        <p:nvSpPr>
          <p:cNvPr id="26" name="Text 24"/>
          <p:cNvSpPr/>
          <p:nvPr/>
        </p:nvSpPr>
        <p:spPr>
          <a:xfrm>
            <a:off x="1016000" y="48895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Key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MCP is not "just adding external tools" — it's a complete subsystem with its own configuration management, connection lifecycle, runtime state synchronization, and tool adaptation. Each layer has clear boundaries and can evolve independently.</a:t>
            </a:r>
            <a:endParaRPr lang="en-US" sz="1800" dirty="0"/>
          </a:p>
        </p:txBody>
      </p:sp>
      <p:sp>
        <p:nvSpPr>
          <p:cNvPr id="27" name="Text 25"/>
          <p:cNvSpPr/>
          <p:nvPr/>
        </p:nvSpPr>
        <p:spPr>
          <a:xfrm>
            <a:off x="762000" y="6159500"/>
            <a:ext cx="14732000" cy="889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Configuration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defines available servers →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Connection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establishes protocol channels →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Runtime Management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syncs to AppState →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Tool Integration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exposes to model</a:t>
            </a:r>
            <a:endParaRPr lang="en-US" sz="1800" dirty="0"/>
          </a:p>
        </p:txBody>
      </p:sp>
      <p:sp>
        <p:nvSpPr>
          <p:cNvPr id="28" name="Text 26"/>
          <p:cNvSpPr/>
          <p:nvPr/>
        </p:nvSpPr>
        <p:spPr>
          <a:xfrm>
            <a:off x="762000" y="7239000"/>
            <a:ext cx="14732000" cy="1016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Source files:</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src/services/mcp/config.ts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configuration parsing, validation, source merging</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src/services/mcp/client.ts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connection management, protocol handling, tool fetching</a:t>
            </a:r>
            <a:endParaRPr lang="en-US" sz="1800" dirty="0"/>
          </a:p>
        </p:txBody>
      </p:sp>
      <p:sp>
        <p:nvSpPr>
          <p:cNvPr id="29" name="Shape 27"/>
          <p:cNvSpPr/>
          <p:nvPr/>
        </p:nvSpPr>
        <p:spPr>
          <a:xfrm>
            <a:off x="762000" y="8636000"/>
            <a:ext cx="14732000" cy="12700"/>
          </a:xfrm>
          <a:prstGeom prst="rect">
            <a:avLst/>
          </a:prstGeom>
          <a:solidFill>
            <a:srgbClr val="3A3A3E"/>
          </a:solidFill>
          <a:ln/>
        </p:spPr>
      </p:sp>
      <p:sp>
        <p:nvSpPr>
          <p:cNvPr id="30" name="Text 28"/>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src/services/mcp/config.ts, src/services/mcp/client.ts</a:t>
            </a:r>
            <a:endParaRPr lang="en-US" sz="13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04 MCP INTEGRATION</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MCP Connection State Machine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635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MCPServerConnection is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explicitly modeled as a state machine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not simplified to "connected/not connected". This is why /mcp menu can accurately display runtime status.</a:t>
            </a:r>
            <a:endParaRPr lang="en-US" sz="1800" dirty="0"/>
          </a:p>
        </p:txBody>
      </p:sp>
      <p:sp>
        <p:nvSpPr>
          <p:cNvPr id="6" name="Shape 4"/>
          <p:cNvSpPr/>
          <p:nvPr/>
        </p:nvSpPr>
        <p:spPr>
          <a:xfrm>
            <a:off x="762000" y="2349500"/>
            <a:ext cx="2540000" cy="1270000"/>
          </a:xfrm>
          <a:prstGeom prst="rect">
            <a:avLst/>
          </a:prstGeom>
          <a:solidFill>
            <a:srgbClr val="161618"/>
          </a:solidFill>
          <a:ln/>
        </p:spPr>
      </p:sp>
      <p:sp>
        <p:nvSpPr>
          <p:cNvPr id="7" name="Shape 5"/>
          <p:cNvSpPr/>
          <p:nvPr/>
        </p:nvSpPr>
        <p:spPr>
          <a:xfrm>
            <a:off x="889000" y="2476500"/>
            <a:ext cx="152400" cy="152400"/>
          </a:xfrm>
          <a:prstGeom prst="ellipse">
            <a:avLst/>
          </a:prstGeom>
          <a:solidFill>
            <a:srgbClr val="D4A088"/>
          </a:solidFill>
          <a:ln/>
        </p:spPr>
      </p:sp>
      <p:sp>
        <p:nvSpPr>
          <p:cNvPr id="8" name="Text 6"/>
          <p:cNvSpPr/>
          <p:nvPr/>
        </p:nvSpPr>
        <p:spPr>
          <a:xfrm>
            <a:off x="889000" y="2730500"/>
            <a:ext cx="2286000" cy="762000"/>
          </a:xfrm>
          <a:prstGeom prst="rect">
            <a:avLst/>
          </a:prstGeom>
          <a:noFill/>
          <a:ln/>
        </p:spPr>
        <p:txBody>
          <a:bodyPr wrap="square" lIns="0" tIns="0" rIns="0" bIns="0" rtlCol="0" anchor="t"/>
          <a:lstStyle/>
          <a:p>
            <a:pPr>
              <a:lnSpc>
                <a:spcPct val="140000"/>
              </a:lnSpc>
            </a:pPr>
            <a:r>
              <a:rPr lang="en-US" sz="1400" b="1" dirty="0">
                <a:solidFill>
                  <a:srgbClr val="D4A088"/>
                </a:solidFill>
                <a:latin typeface="Quattrocento Sans" pitchFamily="34" charset="0"/>
                <a:ea typeface="Quattrocento Sans" pitchFamily="34" charset="-122"/>
                <a:cs typeface="Quattrocento Sans" pitchFamily="34" charset="-120"/>
              </a:rPr>
              <a:t>pending</a:t>
            </a:r>
            <a:endParaRPr lang="en-US" sz="1600" dirty="0"/>
          </a:p>
          <a:p>
            <a:pP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Waiting for connection or reconnecting</a:t>
            </a:r>
            <a:endParaRPr lang="en-US" sz="1600" dirty="0"/>
          </a:p>
        </p:txBody>
      </p:sp>
      <p:sp>
        <p:nvSpPr>
          <p:cNvPr id="9" name="Shape 7"/>
          <p:cNvSpPr/>
          <p:nvPr/>
        </p:nvSpPr>
        <p:spPr>
          <a:xfrm>
            <a:off x="3429000" y="2921000"/>
            <a:ext cx="381000" cy="0"/>
          </a:xfrm>
          <a:prstGeom prst="straightConnector1">
            <a:avLst/>
          </a:prstGeom>
          <a:noFill/>
          <a:ln w="25400">
            <a:solidFill>
              <a:srgbClr val="3A3A3E"/>
            </a:solidFill>
            <a:prstDash val="solid"/>
            <a:headEnd type="none"/>
            <a:tailEnd type="arrow"/>
          </a:ln>
        </p:spPr>
      </p:sp>
      <p:sp>
        <p:nvSpPr>
          <p:cNvPr id="10" name="Shape 8"/>
          <p:cNvSpPr/>
          <p:nvPr/>
        </p:nvSpPr>
        <p:spPr>
          <a:xfrm>
            <a:off x="3937000" y="2349500"/>
            <a:ext cx="2540000" cy="1270000"/>
          </a:xfrm>
          <a:prstGeom prst="rect">
            <a:avLst/>
          </a:prstGeom>
          <a:solidFill>
            <a:srgbClr val="161618"/>
          </a:solidFill>
          <a:ln w="12700">
            <a:solidFill>
              <a:srgbClr val="6B8E6B"/>
            </a:solidFill>
            <a:prstDash val="solid"/>
          </a:ln>
        </p:spPr>
      </p:sp>
      <p:sp>
        <p:nvSpPr>
          <p:cNvPr id="11" name="Shape 9"/>
          <p:cNvSpPr/>
          <p:nvPr/>
        </p:nvSpPr>
        <p:spPr>
          <a:xfrm>
            <a:off x="4064000" y="2476500"/>
            <a:ext cx="152400" cy="152400"/>
          </a:xfrm>
          <a:prstGeom prst="ellipse">
            <a:avLst/>
          </a:prstGeom>
          <a:solidFill>
            <a:srgbClr val="8FBC8F"/>
          </a:solidFill>
          <a:ln/>
        </p:spPr>
      </p:sp>
      <p:sp>
        <p:nvSpPr>
          <p:cNvPr id="12" name="Text 10"/>
          <p:cNvSpPr/>
          <p:nvPr/>
        </p:nvSpPr>
        <p:spPr>
          <a:xfrm>
            <a:off x="4064000" y="2730500"/>
            <a:ext cx="2286000" cy="762000"/>
          </a:xfrm>
          <a:prstGeom prst="rect">
            <a:avLst/>
          </a:prstGeom>
          <a:noFill/>
          <a:ln/>
        </p:spPr>
        <p:txBody>
          <a:bodyPr wrap="square" lIns="0" tIns="0" rIns="0" bIns="0" rtlCol="0" anchor="t"/>
          <a:lstStyle/>
          <a:p>
            <a:pPr>
              <a:lnSpc>
                <a:spcPct val="140000"/>
              </a:lnSpc>
            </a:pPr>
            <a:r>
              <a:rPr lang="en-US" sz="1400" b="1" dirty="0">
                <a:solidFill>
                  <a:srgbClr val="8FBC8F"/>
                </a:solidFill>
                <a:latin typeface="Quattrocento Sans" pitchFamily="34" charset="0"/>
                <a:ea typeface="Quattrocento Sans" pitchFamily="34" charset="-122"/>
                <a:cs typeface="Quattrocento Sans" pitchFamily="34" charset="-120"/>
              </a:rPr>
              <a:t>connected</a:t>
            </a:r>
            <a:endParaRPr lang="en-US" sz="1600" dirty="0"/>
          </a:p>
          <a:p>
            <a:pP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Can discover tools, commands, resources</a:t>
            </a:r>
            <a:endParaRPr lang="en-US" sz="1600" dirty="0"/>
          </a:p>
        </p:txBody>
      </p:sp>
      <p:sp>
        <p:nvSpPr>
          <p:cNvPr id="13" name="Shape 11"/>
          <p:cNvSpPr/>
          <p:nvPr/>
        </p:nvSpPr>
        <p:spPr>
          <a:xfrm>
            <a:off x="6604000" y="2921000"/>
            <a:ext cx="381000" cy="0"/>
          </a:xfrm>
          <a:prstGeom prst="straightConnector1">
            <a:avLst/>
          </a:prstGeom>
          <a:noFill/>
          <a:ln w="25400">
            <a:solidFill>
              <a:srgbClr val="3A3A3E"/>
            </a:solidFill>
            <a:prstDash val="solid"/>
            <a:headEnd type="none"/>
            <a:tailEnd type="arrow"/>
          </a:ln>
        </p:spPr>
      </p:sp>
      <p:sp>
        <p:nvSpPr>
          <p:cNvPr id="14" name="Shape 12"/>
          <p:cNvSpPr/>
          <p:nvPr/>
        </p:nvSpPr>
        <p:spPr>
          <a:xfrm>
            <a:off x="7112000" y="2349500"/>
            <a:ext cx="2540000" cy="1270000"/>
          </a:xfrm>
          <a:prstGeom prst="rect">
            <a:avLst/>
          </a:prstGeom>
          <a:solidFill>
            <a:srgbClr val="161618"/>
          </a:solidFill>
          <a:ln/>
        </p:spPr>
      </p:sp>
      <p:sp>
        <p:nvSpPr>
          <p:cNvPr id="15" name="Shape 13"/>
          <p:cNvSpPr/>
          <p:nvPr/>
        </p:nvSpPr>
        <p:spPr>
          <a:xfrm>
            <a:off x="7239000" y="2476500"/>
            <a:ext cx="152400" cy="152400"/>
          </a:xfrm>
          <a:prstGeom prst="ellipse">
            <a:avLst/>
          </a:prstGeom>
          <a:solidFill>
            <a:srgbClr val="C4A265"/>
          </a:solidFill>
          <a:ln/>
        </p:spPr>
      </p:sp>
      <p:sp>
        <p:nvSpPr>
          <p:cNvPr id="16" name="Text 14"/>
          <p:cNvSpPr/>
          <p:nvPr/>
        </p:nvSpPr>
        <p:spPr>
          <a:xfrm>
            <a:off x="7239000" y="2730500"/>
            <a:ext cx="2286000" cy="762000"/>
          </a:xfrm>
          <a:prstGeom prst="rect">
            <a:avLst/>
          </a:prstGeom>
          <a:noFill/>
          <a:ln/>
        </p:spPr>
        <p:txBody>
          <a:bodyPr wrap="square" lIns="0" tIns="0" rIns="0" bIns="0" rtlCol="0" anchor="t"/>
          <a:lstStyle/>
          <a:p>
            <a:pPr>
              <a:lnSpc>
                <a:spcPct val="140000"/>
              </a:lnSpc>
            </a:pPr>
            <a:r>
              <a:rPr lang="en-US" sz="1400" b="1" dirty="0">
                <a:solidFill>
                  <a:srgbClr val="C4A265"/>
                </a:solidFill>
                <a:latin typeface="Quattrocento Sans" pitchFamily="34" charset="0"/>
                <a:ea typeface="Quattrocento Sans" pitchFamily="34" charset="-122"/>
                <a:cs typeface="Quattrocento Sans" pitchFamily="34" charset="-120"/>
              </a:rPr>
              <a:t>needs-auth</a:t>
            </a:r>
            <a:endParaRPr lang="en-US" sz="1600" dirty="0"/>
          </a:p>
          <a:p>
            <a:pP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Connection found missing auth</a:t>
            </a:r>
            <a:endParaRPr lang="en-US" sz="1600" dirty="0"/>
          </a:p>
        </p:txBody>
      </p:sp>
      <p:sp>
        <p:nvSpPr>
          <p:cNvPr id="17" name="Shape 15"/>
          <p:cNvSpPr/>
          <p:nvPr/>
        </p:nvSpPr>
        <p:spPr>
          <a:xfrm>
            <a:off x="9779000" y="2921000"/>
            <a:ext cx="381000" cy="0"/>
          </a:xfrm>
          <a:prstGeom prst="straightConnector1">
            <a:avLst/>
          </a:prstGeom>
          <a:noFill/>
          <a:ln w="25400">
            <a:solidFill>
              <a:srgbClr val="3A3A3E"/>
            </a:solidFill>
            <a:prstDash val="solid"/>
            <a:headEnd type="none"/>
            <a:tailEnd type="arrow"/>
          </a:ln>
        </p:spPr>
      </p:sp>
      <p:sp>
        <p:nvSpPr>
          <p:cNvPr id="18" name="Shape 16"/>
          <p:cNvSpPr/>
          <p:nvPr/>
        </p:nvSpPr>
        <p:spPr>
          <a:xfrm>
            <a:off x="10287000" y="2349500"/>
            <a:ext cx="2540000" cy="1270000"/>
          </a:xfrm>
          <a:prstGeom prst="rect">
            <a:avLst/>
          </a:prstGeom>
          <a:solidFill>
            <a:srgbClr val="161618"/>
          </a:solidFill>
          <a:ln/>
        </p:spPr>
      </p:sp>
      <p:sp>
        <p:nvSpPr>
          <p:cNvPr id="19" name="Shape 17"/>
          <p:cNvSpPr/>
          <p:nvPr/>
        </p:nvSpPr>
        <p:spPr>
          <a:xfrm>
            <a:off x="10414000" y="2476500"/>
            <a:ext cx="152400" cy="152400"/>
          </a:xfrm>
          <a:prstGeom prst="ellipse">
            <a:avLst/>
          </a:prstGeom>
          <a:solidFill>
            <a:srgbClr val="8B5A3C"/>
          </a:solidFill>
          <a:ln/>
        </p:spPr>
      </p:sp>
      <p:sp>
        <p:nvSpPr>
          <p:cNvPr id="20" name="Text 18"/>
          <p:cNvSpPr/>
          <p:nvPr/>
        </p:nvSpPr>
        <p:spPr>
          <a:xfrm>
            <a:off x="10414000" y="2730500"/>
            <a:ext cx="2286000" cy="762000"/>
          </a:xfrm>
          <a:prstGeom prst="rect">
            <a:avLst/>
          </a:prstGeom>
          <a:noFill/>
          <a:ln/>
        </p:spPr>
        <p:txBody>
          <a:bodyPr wrap="square" lIns="0" tIns="0" rIns="0" bIns="0" rtlCol="0" anchor="t"/>
          <a:lstStyle/>
          <a:p>
            <a:pPr>
              <a:lnSpc>
                <a:spcPct val="140000"/>
              </a:lnSpc>
            </a:pPr>
            <a:r>
              <a:rPr lang="en-US" sz="1400" b="1" dirty="0">
                <a:solidFill>
                  <a:srgbClr val="D4A088"/>
                </a:solidFill>
                <a:latin typeface="Quattrocento Sans" pitchFamily="34" charset="0"/>
                <a:ea typeface="Quattrocento Sans" pitchFamily="34" charset="-122"/>
                <a:cs typeface="Quattrocento Sans" pitchFamily="34" charset="-120"/>
              </a:rPr>
              <a:t>failed</a:t>
            </a:r>
            <a:endParaRPr lang="en-US" sz="1600" dirty="0"/>
          </a:p>
          <a:p>
            <a:pP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Connection failed</a:t>
            </a:r>
            <a:endParaRPr lang="en-US" sz="1600" dirty="0"/>
          </a:p>
        </p:txBody>
      </p:sp>
      <p:sp>
        <p:nvSpPr>
          <p:cNvPr id="21" name="Shape 19"/>
          <p:cNvSpPr/>
          <p:nvPr/>
        </p:nvSpPr>
        <p:spPr>
          <a:xfrm>
            <a:off x="12954000" y="2921000"/>
            <a:ext cx="381000" cy="0"/>
          </a:xfrm>
          <a:prstGeom prst="straightConnector1">
            <a:avLst/>
          </a:prstGeom>
          <a:noFill/>
          <a:ln w="25400">
            <a:solidFill>
              <a:srgbClr val="3A3A3E"/>
            </a:solidFill>
            <a:prstDash val="solid"/>
            <a:headEnd type="none"/>
            <a:tailEnd type="arrow"/>
          </a:ln>
        </p:spPr>
      </p:sp>
      <p:sp>
        <p:nvSpPr>
          <p:cNvPr id="22" name="Shape 20"/>
          <p:cNvSpPr/>
          <p:nvPr/>
        </p:nvSpPr>
        <p:spPr>
          <a:xfrm>
            <a:off x="13462000" y="2349500"/>
            <a:ext cx="2032000" cy="1270000"/>
          </a:xfrm>
          <a:prstGeom prst="rect">
            <a:avLst/>
          </a:prstGeom>
          <a:solidFill>
            <a:srgbClr val="161618"/>
          </a:solidFill>
          <a:ln/>
        </p:spPr>
      </p:sp>
      <p:sp>
        <p:nvSpPr>
          <p:cNvPr id="23" name="Shape 21"/>
          <p:cNvSpPr/>
          <p:nvPr/>
        </p:nvSpPr>
        <p:spPr>
          <a:xfrm>
            <a:off x="13589000" y="2476500"/>
            <a:ext cx="152400" cy="152400"/>
          </a:xfrm>
          <a:prstGeom prst="ellipse">
            <a:avLst/>
          </a:prstGeom>
          <a:solidFill>
            <a:srgbClr val="3A3A3E"/>
          </a:solidFill>
          <a:ln/>
        </p:spPr>
      </p:sp>
      <p:sp>
        <p:nvSpPr>
          <p:cNvPr id="24" name="Text 22"/>
          <p:cNvSpPr/>
          <p:nvPr/>
        </p:nvSpPr>
        <p:spPr>
          <a:xfrm>
            <a:off x="13589000" y="2730500"/>
            <a:ext cx="1778000" cy="762000"/>
          </a:xfrm>
          <a:prstGeom prst="rect">
            <a:avLst/>
          </a:prstGeom>
          <a:noFill/>
          <a:ln/>
        </p:spPr>
        <p:txBody>
          <a:bodyPr wrap="square" lIns="0" tIns="0" rIns="0" bIns="0" rtlCol="0" anchor="t"/>
          <a:lstStyle/>
          <a:p>
            <a:pPr>
              <a:lnSpc>
                <a:spcPct val="140000"/>
              </a:lnSpc>
            </a:pPr>
            <a:r>
              <a:rPr lang="en-US" sz="1400" b="1" dirty="0">
                <a:solidFill>
                  <a:srgbClr val="9A9590"/>
                </a:solidFill>
                <a:latin typeface="Quattrocento Sans" pitchFamily="34" charset="0"/>
                <a:ea typeface="Quattrocento Sans" pitchFamily="34" charset="-122"/>
                <a:cs typeface="Quattrocento Sans" pitchFamily="34" charset="-120"/>
              </a:rPr>
              <a:t>disabled</a:t>
            </a:r>
            <a:endParaRPr lang="en-US" sz="1600" dirty="0"/>
          </a:p>
          <a:p>
            <a:pPr>
              <a:lnSpc>
                <a:spcPct val="140000"/>
              </a:lnSpc>
            </a:pPr>
            <a:r>
              <a:rPr lang="en-US" sz="1400" dirty="0">
                <a:solidFill>
                  <a:srgbClr val="E8DCC8"/>
                </a:solidFill>
                <a:latin typeface="Quattrocento Sans" pitchFamily="34" charset="0"/>
                <a:ea typeface="Quattrocento Sans" pitchFamily="34" charset="-122"/>
                <a:cs typeface="Quattrocento Sans" pitchFamily="34" charset="-120"/>
              </a:rPr>
              <a:t>Logically disabled</a:t>
            </a:r>
            <a:endParaRPr lang="en-US" sz="1600" dirty="0"/>
          </a:p>
        </p:txBody>
      </p:sp>
      <p:sp>
        <p:nvSpPr>
          <p:cNvPr id="25" name="Text 23"/>
          <p:cNvSpPr/>
          <p:nvPr/>
        </p:nvSpPr>
        <p:spPr>
          <a:xfrm>
            <a:off x="762000" y="3937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Two-Phase Loading at Startup</a:t>
            </a:r>
            <a:endParaRPr lang="en-US" sz="2200" dirty="0"/>
          </a:p>
        </p:txBody>
      </p:sp>
      <p:sp>
        <p:nvSpPr>
          <p:cNvPr id="26" name="Shape 24"/>
          <p:cNvSpPr/>
          <p:nvPr/>
        </p:nvSpPr>
        <p:spPr>
          <a:xfrm>
            <a:off x="762000" y="4445000"/>
            <a:ext cx="7112000" cy="1270000"/>
          </a:xfrm>
          <a:prstGeom prst="rect">
            <a:avLst/>
          </a:prstGeom>
          <a:solidFill>
            <a:srgbClr val="161618"/>
          </a:solidFill>
          <a:ln/>
        </p:spPr>
      </p:sp>
      <p:sp>
        <p:nvSpPr>
          <p:cNvPr id="27" name="Shape 25"/>
          <p:cNvSpPr/>
          <p:nvPr/>
        </p:nvSpPr>
        <p:spPr>
          <a:xfrm>
            <a:off x="762000" y="4445000"/>
            <a:ext cx="50800" cy="1270000"/>
          </a:xfrm>
          <a:prstGeom prst="rect">
            <a:avLst/>
          </a:prstGeom>
          <a:solidFill>
            <a:srgbClr val="C4A265"/>
          </a:solidFill>
          <a:ln/>
        </p:spPr>
      </p:sp>
      <p:sp>
        <p:nvSpPr>
          <p:cNvPr id="28" name="Text 26"/>
          <p:cNvSpPr/>
          <p:nvPr/>
        </p:nvSpPr>
        <p:spPr>
          <a:xfrm>
            <a:off x="1016000" y="4546600"/>
            <a:ext cx="6604000" cy="1066800"/>
          </a:xfrm>
          <a:prstGeom prst="rect">
            <a:avLst/>
          </a:prstGeom>
          <a:noFill/>
          <a:ln/>
        </p:spPr>
        <p:txBody>
          <a:bodyPr wrap="square" lIns="0" tIns="0" rIns="0" bIns="0" rtlCol="0" anchor="t"/>
          <a:lstStyle/>
          <a:p>
            <a:pPr>
              <a:lnSpc>
                <a:spcPct val="150000"/>
              </a:lnSpc>
            </a:pPr>
            <a:r>
              <a:rPr lang="en-US" sz="1600" b="1" dirty="0">
                <a:solidFill>
                  <a:srgbClr val="C4A265"/>
                </a:solidFill>
                <a:latin typeface="Quattrocento Sans" pitchFamily="34" charset="0"/>
                <a:ea typeface="Quattrocento Sans" pitchFamily="34" charset="-122"/>
                <a:cs typeface="Quattrocento Sans" pitchFamily="34" charset="-120"/>
              </a:rPr>
              <a:t>Phase 1 — Fast Local Load</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Load Claude Code local MCP configs</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No remote dependency — immediate availability</a:t>
            </a:r>
            <a:endParaRPr lang="en-US" sz="1600" dirty="0"/>
          </a:p>
        </p:txBody>
      </p:sp>
      <p:sp>
        <p:nvSpPr>
          <p:cNvPr id="29" name="Shape 27"/>
          <p:cNvSpPr/>
          <p:nvPr/>
        </p:nvSpPr>
        <p:spPr>
          <a:xfrm>
            <a:off x="8382000" y="4445000"/>
            <a:ext cx="7112000" cy="1270000"/>
          </a:xfrm>
          <a:prstGeom prst="rect">
            <a:avLst/>
          </a:prstGeom>
          <a:solidFill>
            <a:srgbClr val="161618"/>
          </a:solidFill>
          <a:ln/>
        </p:spPr>
      </p:sp>
      <p:sp>
        <p:nvSpPr>
          <p:cNvPr id="30" name="Shape 28"/>
          <p:cNvSpPr/>
          <p:nvPr/>
        </p:nvSpPr>
        <p:spPr>
          <a:xfrm>
            <a:off x="8382000" y="4445000"/>
            <a:ext cx="50800" cy="1270000"/>
          </a:xfrm>
          <a:prstGeom prst="rect">
            <a:avLst/>
          </a:prstGeom>
          <a:solidFill>
            <a:srgbClr val="6B8E6B"/>
          </a:solidFill>
          <a:ln/>
        </p:spPr>
      </p:sp>
      <p:sp>
        <p:nvSpPr>
          <p:cNvPr id="31" name="Text 29"/>
          <p:cNvSpPr/>
          <p:nvPr/>
        </p:nvSpPr>
        <p:spPr>
          <a:xfrm>
            <a:off x="8636000" y="4546600"/>
            <a:ext cx="6604000" cy="1066800"/>
          </a:xfrm>
          <a:prstGeom prst="rect">
            <a:avLst/>
          </a:prstGeom>
          <a:noFill/>
          <a:ln/>
        </p:spPr>
        <p:txBody>
          <a:bodyPr wrap="square" lIns="0" tIns="0" rIns="0" bIns="0" rtlCol="0" anchor="t"/>
          <a:lstStyle/>
          <a:p>
            <a:pPr>
              <a:lnSpc>
                <a:spcPct val="150000"/>
              </a:lnSpc>
            </a:pPr>
            <a:r>
              <a:rPr lang="en-US" sz="1600" b="1" dirty="0">
                <a:solidFill>
                  <a:srgbClr val="8FBC8F"/>
                </a:solidFill>
                <a:latin typeface="Quattrocento Sans" pitchFamily="34" charset="0"/>
                <a:ea typeface="Quattrocento Sans" pitchFamily="34" charset="-122"/>
                <a:cs typeface="Quattrocento Sans" pitchFamily="34" charset="-120"/>
              </a:rPr>
              <a:t>Phase 2 — Async Remote Pull</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Pull claude.ai connectors, dedup, supplement</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Non-blocking — tools available before this completes</a:t>
            </a:r>
            <a:endParaRPr lang="en-US" sz="1600" dirty="0"/>
          </a:p>
        </p:txBody>
      </p:sp>
      <p:sp>
        <p:nvSpPr>
          <p:cNvPr id="32" name="Shape 30"/>
          <p:cNvSpPr/>
          <p:nvPr/>
        </p:nvSpPr>
        <p:spPr>
          <a:xfrm>
            <a:off x="762000" y="6032500"/>
            <a:ext cx="50800" cy="1016000"/>
          </a:xfrm>
          <a:prstGeom prst="rect">
            <a:avLst/>
          </a:prstGeom>
          <a:solidFill>
            <a:srgbClr val="C4A265"/>
          </a:solidFill>
          <a:ln/>
        </p:spPr>
      </p:sp>
      <p:sp>
        <p:nvSpPr>
          <p:cNvPr id="33" name="Text 31"/>
          <p:cNvSpPr/>
          <p:nvPr/>
        </p:nvSpPr>
        <p:spPr>
          <a:xfrm>
            <a:off x="1016000" y="60325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Why a state machine?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Simplifying to boolean "connected" would lose critical information. When a server is in needs-auth state, the UI can show a re-authorization prompt. When failed, it can offer retry. When disabled, it knows not to attempt reconnection. Each state has distinct user-facing behavior.</a:t>
            </a:r>
            <a:endParaRPr lang="en-US" sz="1800" dirty="0"/>
          </a:p>
        </p:txBody>
      </p:sp>
      <p:sp>
        <p:nvSpPr>
          <p:cNvPr id="34" name="Shape 32"/>
          <p:cNvSpPr/>
          <p:nvPr/>
        </p:nvSpPr>
        <p:spPr>
          <a:xfrm>
            <a:off x="762000" y="8636000"/>
            <a:ext cx="14732000" cy="12700"/>
          </a:xfrm>
          <a:prstGeom prst="rect">
            <a:avLst/>
          </a:prstGeom>
          <a:solidFill>
            <a:srgbClr val="3A3A3E"/>
          </a:solidFill>
          <a:ln/>
        </p:spPr>
      </p:sp>
      <p:sp>
        <p:nvSpPr>
          <p:cNvPr id="35" name="Text 33"/>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src/services/mcp/types.ts, src/services/mcp/client.ts</a:t>
            </a:r>
            <a:endParaRPr lang="en-US" sz="13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04 MCP INTEGRATION</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MCP Configuration Sources &amp; Priority</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Configuration Sources (7 Total)</a:t>
            </a:r>
            <a:endParaRPr lang="en-US" sz="2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62000" y="1968500"/>
          <a:ext cx="14732000" cy="2667000"/>
        </p:xfrm>
        <a:graphic>
          <a:graphicData uri="http://schemas.openxmlformats.org/drawingml/2006/table">
            <a:tbl>
              <a:tblPr/>
              <a:tblGrid>
                <a:gridCol w="2651760"/>
                <a:gridCol w="6187440"/>
                <a:gridCol w="5892800"/>
              </a:tblGrid>
              <a:tr h="320553">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Source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Description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Priority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333375">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plugin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Plugin-derived MCP servers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Lowest (overridden by all)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333375">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user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User-level ~/.claude/ config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Low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333375">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project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Repo-level .mcp.json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Medium — requires approval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333375">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local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Local project overrides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High</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333375">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dynamic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Runtime-added servers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High</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333375">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enterprise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Organization-managed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Highest — can排斥 others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346197">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claudeai</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claude.ai cloud connectors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Async, non-blocking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bl>
          </a:graphicData>
        </a:graphic>
      </p:graphicFrame>
      <p:sp>
        <p:nvSpPr>
          <p:cNvPr id="7" name="Text 4"/>
          <p:cNvSpPr/>
          <p:nvPr/>
        </p:nvSpPr>
        <p:spPr>
          <a:xfrm>
            <a:off x="762000" y="4889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Project-Level Approval Layer</a:t>
            </a:r>
            <a:endParaRPr lang="en-US" sz="2200" dirty="0"/>
          </a:p>
        </p:txBody>
      </p:sp>
      <p:sp>
        <p:nvSpPr>
          <p:cNvPr id="8" name="Text 5"/>
          <p:cNvSpPr/>
          <p:nvPr/>
        </p:nvSpPr>
        <p:spPr>
          <a:xfrm>
            <a:off x="762000" y="5334000"/>
            <a:ext cx="7112000" cy="1143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Project-level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.mcp.json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has an approval layer: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approved / rejected / pending</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Only approved project servers enter the final connection set.</a:t>
            </a:r>
            <a:endParaRPr lang="en-US" sz="1800" dirty="0"/>
          </a:p>
          <a:p>
            <a:pPr>
              <a:lnSpc>
                <a:spcPct val="160000"/>
              </a:lnSpc>
              <a:spcBef>
                <a:spcPts val="600"/>
              </a:spcBef>
            </a:pPr>
            <a:r>
              <a:rPr lang="en-US" sz="1700" b="1" dirty="0">
                <a:solidFill>
                  <a:srgbClr val="E8DCC8"/>
                </a:solidFill>
                <a:latin typeface="QuattrocentoSans" pitchFamily="34" charset="0"/>
                <a:ea typeface="QuattrocentoSans" pitchFamily="34" charset="-122"/>
                <a:cs typeface="QuattrocentoSans" pitchFamily="34" charset="-120"/>
              </a:rPr>
              <a:t>Why?</a:t>
            </a:r>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 .mcp.json is a repo file — content may come from third parties. Local MCP stdio server means directly launching command processes. Auto-approval would be a security risk.</a:t>
            </a:r>
            <a:endParaRPr lang="en-US" sz="1800" dirty="0"/>
          </a:p>
        </p:txBody>
      </p:sp>
      <p:sp>
        <p:nvSpPr>
          <p:cNvPr id="9" name="Shape 6"/>
          <p:cNvSpPr/>
          <p:nvPr/>
        </p:nvSpPr>
        <p:spPr>
          <a:xfrm>
            <a:off x="8382000" y="4889500"/>
            <a:ext cx="7112000" cy="1651000"/>
          </a:xfrm>
          <a:prstGeom prst="rect">
            <a:avLst/>
          </a:prstGeom>
          <a:solidFill>
            <a:srgbClr val="161618"/>
          </a:solidFill>
          <a:ln/>
        </p:spPr>
      </p:sp>
      <p:sp>
        <p:nvSpPr>
          <p:cNvPr id="10" name="Text 7"/>
          <p:cNvSpPr/>
          <p:nvPr/>
        </p:nvSpPr>
        <p:spPr>
          <a:xfrm>
            <a:off x="8636000" y="5016500"/>
            <a:ext cx="6604000" cy="1397000"/>
          </a:xfrm>
          <a:prstGeom prst="rect">
            <a:avLst/>
          </a:prstGeom>
          <a:noFill/>
          <a:ln/>
        </p:spPr>
        <p:txBody>
          <a:bodyPr wrap="square" lIns="0" tIns="0" rIns="0" bIns="0" rtlCol="0" anchor="t"/>
          <a:lstStyle/>
          <a:p>
            <a:pPr>
              <a:lnSpc>
                <a:spcPct val="150000"/>
              </a:lnSpc>
            </a:pPr>
            <a:r>
              <a:rPr lang="en-US" sz="1600" b="1" dirty="0">
                <a:solidFill>
                  <a:srgbClr val="C4A265"/>
                </a:solidFill>
                <a:latin typeface="Quattrocento Sans" pitchFamily="34" charset="0"/>
                <a:ea typeface="Quattrocento Sans" pitchFamily="34" charset="-122"/>
                <a:cs typeface="Quattrocento Sans" pitchFamily="34" charset="-120"/>
              </a:rPr>
              <a:t>Priority Rule:</a:t>
            </a:r>
            <a:endParaRPr lang="en-US" sz="1600" dirty="0"/>
          </a:p>
          <a:p>
            <a:pPr>
              <a:lnSpc>
                <a:spcPct val="150000"/>
              </a:lnSpc>
              <a:spcBef>
                <a:spcPts val="400"/>
              </a:spcBef>
            </a:pPr>
            <a:r>
              <a:rPr lang="en-US" sz="1600" dirty="0">
                <a:solidFill>
                  <a:srgbClr val="E8DCC8"/>
                </a:solidFill>
                <a:latin typeface="Quattrocento Sans" pitchFamily="34" charset="0"/>
                <a:ea typeface="Quattrocento Sans" pitchFamily="34" charset="-122"/>
                <a:cs typeface="Quattrocento Sans" pitchFamily="34" charset="-120"/>
              </a:rPr>
              <a:t>plugin &lt; user &lt; project &lt; local</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enterprise can排斥其他来源 when present</a:t>
            </a:r>
            <a:endParaRPr lang="en-US" sz="1600" dirty="0"/>
          </a:p>
          <a:p>
            <a:pPr>
              <a:lnSpc>
                <a:spcPct val="150000"/>
              </a:lnSpc>
              <a:spcBef>
                <a:spcPts val="400"/>
              </a:spcBef>
            </a:pPr>
            <a:r>
              <a:rPr lang="en-US" sz="1600" dirty="0">
                <a:solidFill>
                  <a:srgbClr val="9A9590"/>
                </a:solidFill>
                <a:latin typeface="Quattrocento Sans" pitchFamily="34" charset="0"/>
                <a:ea typeface="Quattrocento Sans" pitchFamily="34" charset="-122"/>
                <a:cs typeface="Quattrocento Sans" pitchFamily="34" charset="-120"/>
              </a:rPr>
              <a:t>Configuration processing: Zod schema validation, env var expansion, non-fatal warning collection</a:t>
            </a:r>
            <a:endParaRPr lang="en-US" sz="1600" dirty="0"/>
          </a:p>
        </p:txBody>
      </p:sp>
      <p:sp>
        <p:nvSpPr>
          <p:cNvPr id="11" name="Shape 8"/>
          <p:cNvSpPr/>
          <p:nvPr/>
        </p:nvSpPr>
        <p:spPr>
          <a:xfrm>
            <a:off x="762000" y="8636000"/>
            <a:ext cx="14732000" cy="12700"/>
          </a:xfrm>
          <a:prstGeom prst="rect">
            <a:avLst/>
          </a:prstGeom>
          <a:solidFill>
            <a:srgbClr val="3A3A3E"/>
          </a:solidFill>
          <a:ln/>
        </p:spPr>
      </p:sp>
      <p:sp>
        <p:nvSpPr>
          <p:cNvPr id="12" name="Text 9"/>
          <p:cNvSpPr/>
          <p:nvPr/>
        </p:nvSpPr>
        <p:spPr>
          <a:xfrm>
            <a:off x="762000" y="8763000"/>
            <a:ext cx="635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src/services/mcp/config.ts</a:t>
            </a:r>
            <a:endParaRPr lang="en-US" sz="13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04 MCP INTEGRATION</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MCP Tool Execution: Error as State Transition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MCP tool errors don't just affect current round reasoning — they also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sync修正 system state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Three error patterns with distinct handling:</a:t>
            </a:r>
            <a:endParaRPr lang="en-US" sz="1800" dirty="0"/>
          </a:p>
        </p:txBody>
      </p:sp>
      <p:sp>
        <p:nvSpPr>
          <p:cNvPr id="6" name="Shape 4"/>
          <p:cNvSpPr/>
          <p:nvPr/>
        </p:nvSpPr>
        <p:spPr>
          <a:xfrm>
            <a:off x="762000" y="2159000"/>
            <a:ext cx="4699000" cy="2540000"/>
          </a:xfrm>
          <a:prstGeom prst="rect">
            <a:avLst/>
          </a:prstGeom>
          <a:solidFill>
            <a:srgbClr val="161618"/>
          </a:solidFill>
          <a:ln/>
        </p:spPr>
      </p:sp>
      <p:sp>
        <p:nvSpPr>
          <p:cNvPr id="7" name="Shape 5"/>
          <p:cNvSpPr/>
          <p:nvPr/>
        </p:nvSpPr>
        <p:spPr>
          <a:xfrm>
            <a:off x="762000" y="2159000"/>
            <a:ext cx="4699000" cy="50800"/>
          </a:xfrm>
          <a:prstGeom prst="rect">
            <a:avLst/>
          </a:prstGeom>
          <a:solidFill>
            <a:srgbClr val="8B5A3C"/>
          </a:solidFill>
          <a:ln/>
        </p:spPr>
      </p:sp>
      <p:sp>
        <p:nvSpPr>
          <p:cNvPr id="8" name="Text 6"/>
          <p:cNvSpPr/>
          <p:nvPr/>
        </p:nvSpPr>
        <p:spPr>
          <a:xfrm>
            <a:off x="952500" y="2311400"/>
            <a:ext cx="4318000" cy="304800"/>
          </a:xfrm>
          <a:prstGeom prst="rect">
            <a:avLst/>
          </a:prstGeom>
          <a:noFill/>
          <a:ln/>
        </p:spPr>
        <p:txBody>
          <a:bodyPr wrap="none" lIns="0" tIns="0" rIns="0" bIns="0" rtlCol="0" anchor="ctr"/>
          <a:lstStyle/>
          <a:p>
            <a:pPr>
              <a:lnSpc>
                <a:spcPct val="100000"/>
              </a:lnSpc>
            </a:pPr>
            <a:r>
              <a:rPr lang="en-US" sz="1600" b="1" dirty="0">
                <a:solidFill>
                  <a:srgbClr val="D4A088"/>
                </a:solidFill>
                <a:latin typeface="Liter" pitchFamily="34" charset="0"/>
                <a:ea typeface="Liter" pitchFamily="34" charset="-122"/>
                <a:cs typeface="Liter" pitchFamily="34" charset="-120"/>
              </a:rPr>
              <a:t>401 / Unauthorized</a:t>
            </a:r>
            <a:endParaRPr lang="en-US" sz="1600" dirty="0"/>
          </a:p>
        </p:txBody>
      </p:sp>
      <p:sp>
        <p:nvSpPr>
          <p:cNvPr id="9" name="Text 7"/>
          <p:cNvSpPr/>
          <p:nvPr/>
        </p:nvSpPr>
        <p:spPr>
          <a:xfrm>
            <a:off x="952500" y="2692400"/>
            <a:ext cx="4318000" cy="1841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throw McpAuthError</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toolExecution.ts changes client state to </a:t>
            </a:r>
            <a:pPr>
              <a:lnSpc>
                <a:spcPct val="150000"/>
              </a:lnSpc>
            </a:pPr>
            <a:r>
              <a:rPr lang="en-US" sz="1400" dirty="0">
                <a:solidFill>
                  <a:srgbClr val="C4A265"/>
                </a:solidFill>
                <a:latin typeface="Quattrocento Sans" pitchFamily="34" charset="0"/>
                <a:ea typeface="Quattrocento Sans" pitchFamily="34" charset="-122"/>
                <a:cs typeface="Quattrocento Sans" pitchFamily="34" charset="-120"/>
              </a:rPr>
              <a:t>needs-auth</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/mcp UI displays "needs re-authorization"</a:t>
            </a:r>
            <a:endParaRPr lang="en-US" sz="1600" dirty="0"/>
          </a:p>
          <a:p>
            <a:pPr>
              <a:lnSpc>
                <a:spcPct val="150000"/>
              </a:lnSpc>
              <a:spcBef>
                <a:spcPts val="600"/>
              </a:spcBef>
            </a:pPr>
            <a:r>
              <a:rPr lang="en-US" sz="1400" dirty="0">
                <a:solidFill>
                  <a:srgbClr val="9A9590"/>
                </a:solidFill>
                <a:latin typeface="Quattrocento Sans" pitchFamily="34" charset="0"/>
                <a:ea typeface="Quattrocento Sans" pitchFamily="34" charset="-122"/>
                <a:cs typeface="Quattrocento Sans" pitchFamily="34" charset="-120"/>
              </a:rPr>
              <a:t>Error becomes a state transition, not just a message</a:t>
            </a:r>
            <a:endParaRPr lang="en-US" sz="1600" dirty="0"/>
          </a:p>
        </p:txBody>
      </p:sp>
      <p:sp>
        <p:nvSpPr>
          <p:cNvPr id="10" name="Shape 8"/>
          <p:cNvSpPr/>
          <p:nvPr/>
        </p:nvSpPr>
        <p:spPr>
          <a:xfrm>
            <a:off x="5715000" y="2159000"/>
            <a:ext cx="4699000" cy="2540000"/>
          </a:xfrm>
          <a:prstGeom prst="rect">
            <a:avLst/>
          </a:prstGeom>
          <a:solidFill>
            <a:srgbClr val="161618"/>
          </a:solidFill>
          <a:ln/>
        </p:spPr>
      </p:sp>
      <p:sp>
        <p:nvSpPr>
          <p:cNvPr id="11" name="Shape 9"/>
          <p:cNvSpPr/>
          <p:nvPr/>
        </p:nvSpPr>
        <p:spPr>
          <a:xfrm>
            <a:off x="5715000" y="2159000"/>
            <a:ext cx="4699000" cy="50800"/>
          </a:xfrm>
          <a:prstGeom prst="rect">
            <a:avLst/>
          </a:prstGeom>
          <a:solidFill>
            <a:srgbClr val="C4A265"/>
          </a:solidFill>
          <a:ln/>
        </p:spPr>
      </p:sp>
      <p:sp>
        <p:nvSpPr>
          <p:cNvPr id="12" name="Text 10"/>
          <p:cNvSpPr/>
          <p:nvPr/>
        </p:nvSpPr>
        <p:spPr>
          <a:xfrm>
            <a:off x="5905500" y="2311400"/>
            <a:ext cx="4318000" cy="3048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Session Expired (-32001)</a:t>
            </a:r>
            <a:endParaRPr lang="en-US" sz="1600" dirty="0"/>
          </a:p>
        </p:txBody>
      </p:sp>
      <p:sp>
        <p:nvSpPr>
          <p:cNvPr id="13" name="Text 11"/>
          <p:cNvSpPr/>
          <p:nvPr/>
        </p:nvSpPr>
        <p:spPr>
          <a:xfrm>
            <a:off x="5905500" y="2692400"/>
            <a:ext cx="4318000" cy="1841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Clear server cache</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throw McpSessionExpiredError</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Upper layer re-acquires fresh client</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Retry original tool call</a:t>
            </a:r>
            <a:endParaRPr lang="en-US" sz="1600" dirty="0"/>
          </a:p>
          <a:p>
            <a:pPr>
              <a:lnSpc>
                <a:spcPct val="150000"/>
              </a:lnSpc>
              <a:spcBef>
                <a:spcPts val="600"/>
              </a:spcBef>
            </a:pPr>
            <a:r>
              <a:rPr lang="en-US" sz="1400" dirty="0">
                <a:solidFill>
                  <a:srgbClr val="9A9590"/>
                </a:solidFill>
                <a:latin typeface="Quattrocento Sans" pitchFamily="34" charset="0"/>
                <a:ea typeface="Quattrocento Sans" pitchFamily="34" charset="-122"/>
                <a:cs typeface="Quattrocento Sans" pitchFamily="34" charset="-120"/>
              </a:rPr>
              <a:t>Automatic recovery without user intervention</a:t>
            </a:r>
            <a:endParaRPr lang="en-US" sz="1600" dirty="0"/>
          </a:p>
        </p:txBody>
      </p:sp>
      <p:sp>
        <p:nvSpPr>
          <p:cNvPr id="14" name="Shape 12"/>
          <p:cNvSpPr/>
          <p:nvPr/>
        </p:nvSpPr>
        <p:spPr>
          <a:xfrm>
            <a:off x="10668000" y="2159000"/>
            <a:ext cx="4826000" cy="2540000"/>
          </a:xfrm>
          <a:prstGeom prst="rect">
            <a:avLst/>
          </a:prstGeom>
          <a:solidFill>
            <a:srgbClr val="161618"/>
          </a:solidFill>
          <a:ln/>
        </p:spPr>
      </p:sp>
      <p:sp>
        <p:nvSpPr>
          <p:cNvPr id="15" name="Shape 13"/>
          <p:cNvSpPr/>
          <p:nvPr/>
        </p:nvSpPr>
        <p:spPr>
          <a:xfrm>
            <a:off x="10668000" y="2159000"/>
            <a:ext cx="4826000" cy="50800"/>
          </a:xfrm>
          <a:prstGeom prst="rect">
            <a:avLst/>
          </a:prstGeom>
          <a:solidFill>
            <a:srgbClr val="6B8E6B"/>
          </a:solidFill>
          <a:ln/>
        </p:spPr>
      </p:sp>
      <p:sp>
        <p:nvSpPr>
          <p:cNvPr id="16" name="Text 14"/>
          <p:cNvSpPr/>
          <p:nvPr/>
        </p:nvSpPr>
        <p:spPr>
          <a:xfrm>
            <a:off x="10858500" y="2311400"/>
            <a:ext cx="4445000" cy="304800"/>
          </a:xfrm>
          <a:prstGeom prst="rect">
            <a:avLst/>
          </a:prstGeom>
          <a:noFill/>
          <a:ln/>
        </p:spPr>
        <p:txBody>
          <a:bodyPr wrap="none" lIns="0" tIns="0" rIns="0" bIns="0" rtlCol="0" anchor="ctr"/>
          <a:lstStyle/>
          <a:p>
            <a:pPr>
              <a:lnSpc>
                <a:spcPct val="100000"/>
              </a:lnSpc>
            </a:pPr>
            <a:r>
              <a:rPr lang="en-US" sz="1600" b="1" dirty="0">
                <a:solidFill>
                  <a:srgbClr val="8FBC8F"/>
                </a:solidFill>
                <a:latin typeface="Liter" pitchFamily="34" charset="0"/>
                <a:ea typeface="Liter" pitchFamily="34" charset="-122"/>
                <a:cs typeface="Liter" pitchFamily="34" charset="-120"/>
              </a:rPr>
              <a:t>URL Elicitation Required</a:t>
            </a:r>
            <a:endParaRPr lang="en-US" sz="1600" dirty="0"/>
          </a:p>
        </p:txBody>
      </p:sp>
      <p:sp>
        <p:nvSpPr>
          <p:cNvPr id="17" name="Text 15"/>
          <p:cNvSpPr/>
          <p:nvPr/>
        </p:nvSpPr>
        <p:spPr>
          <a:xfrm>
            <a:off x="10858500" y="2692400"/>
            <a:ext cx="4445000" cy="1841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Capture UrlElicitationRequired</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Parse elicitation data</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Run hooks for programmatic handling</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If fails, go through UI</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 Retry after user completes</a:t>
            </a:r>
            <a:endParaRPr lang="en-US" sz="1600" dirty="0"/>
          </a:p>
        </p:txBody>
      </p:sp>
      <p:sp>
        <p:nvSpPr>
          <p:cNvPr id="18" name="Shape 16"/>
          <p:cNvSpPr/>
          <p:nvPr/>
        </p:nvSpPr>
        <p:spPr>
          <a:xfrm>
            <a:off x="762000" y="5016500"/>
            <a:ext cx="50800" cy="1016000"/>
          </a:xfrm>
          <a:prstGeom prst="rect">
            <a:avLst/>
          </a:prstGeom>
          <a:solidFill>
            <a:srgbClr val="C4A265"/>
          </a:solidFill>
          <a:ln/>
        </p:spPr>
      </p:sp>
      <p:sp>
        <p:nvSpPr>
          <p:cNvPr id="19" name="Text 17"/>
          <p:cNvSpPr/>
          <p:nvPr/>
        </p:nvSpPr>
        <p:spPr>
          <a:xfrm>
            <a:off x="1016000" y="50165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Principle: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Each error type has a specific recovery path that may involve state transitions, user interaction, or automatic retry. The error handling is not "log and continue" — it's "diagnose, transition state, recover". This makes MCP integration resilient to transient failures.</a:t>
            </a:r>
            <a:endParaRPr lang="en-US" sz="1800" dirty="0"/>
          </a:p>
        </p:txBody>
      </p:sp>
      <p:sp>
        <p:nvSpPr>
          <p:cNvPr id="20" name="Shape 18"/>
          <p:cNvSpPr/>
          <p:nvPr/>
        </p:nvSpPr>
        <p:spPr>
          <a:xfrm>
            <a:off x="762000" y="6286500"/>
            <a:ext cx="14732000" cy="1905000"/>
          </a:xfrm>
          <a:prstGeom prst="roundRect">
            <a:avLst>
              <a:gd name="adj" fmla="val 4000"/>
            </a:avLst>
          </a:prstGeom>
          <a:solidFill>
            <a:srgbClr val="161618"/>
          </a:solidFill>
          <a:ln/>
        </p:spPr>
      </p:sp>
      <p:sp>
        <p:nvSpPr>
          <p:cNvPr id="21" name="Text 19"/>
          <p:cNvSpPr/>
          <p:nvPr/>
        </p:nvSpPr>
        <p:spPr>
          <a:xfrm>
            <a:off x="1016000" y="6413500"/>
            <a:ext cx="14224000" cy="16510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src/services/tools/toolExecution.ts:1599-1629</a:t>
            </a:r>
            <a:endParaRPr lang="en-US" sz="1600" dirty="0"/>
          </a:p>
          <a:p>
            <a:pPr>
              <a:lnSpc>
                <a:spcPct val="150000"/>
              </a:lnSpc>
            </a:pPr>
            <a:r>
              <a:rPr lang="en-US" sz="1400" dirty="0">
                <a:solidFill>
                  <a:srgbClr val="C4A265"/>
                </a:solidFill>
                <a:latin typeface="MiSans" pitchFamily="34" charset="0"/>
                <a:ea typeface="MiSans" pitchFamily="34" charset="-122"/>
                <a:cs typeface="MiSans" pitchFamily="34" charset="-120"/>
              </a:rPr>
              <a:t>// MCP error handling synchronizes system state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if (error instanceof McpAuthError) {</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mcpClient.state = 'needs-auth'; </a:t>
            </a:r>
            <a:pPr>
              <a:lnSpc>
                <a:spcPct val="150000"/>
              </a:lnSpc>
            </a:pPr>
            <a:r>
              <a:rPr lang="en-US" sz="1400" dirty="0">
                <a:solidFill>
                  <a:srgbClr val="9A9590"/>
                </a:solidFill>
                <a:latin typeface="MiSans" pitchFamily="34" charset="0"/>
                <a:ea typeface="MiSans" pitchFamily="34" charset="-122"/>
                <a:cs typeface="MiSans" pitchFamily="34" charset="-120"/>
              </a:rPr>
              <a:t>// State transition</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return toolResult({ is_error: true, content: "Auth required..." });</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t>
            </a:r>
            <a:endParaRPr lang="en-US" sz="1600" dirty="0"/>
          </a:p>
        </p:txBody>
      </p:sp>
      <p:sp>
        <p:nvSpPr>
          <p:cNvPr id="22" name="Shape 20"/>
          <p:cNvSpPr/>
          <p:nvPr/>
        </p:nvSpPr>
        <p:spPr>
          <a:xfrm>
            <a:off x="762000" y="8636000"/>
            <a:ext cx="14732000" cy="12700"/>
          </a:xfrm>
          <a:prstGeom prst="rect">
            <a:avLst/>
          </a:prstGeom>
          <a:solidFill>
            <a:srgbClr val="3A3A3E"/>
          </a:solidFill>
          <a:ln/>
        </p:spPr>
      </p:sp>
      <p:sp>
        <p:nvSpPr>
          <p:cNvPr id="23" name="Text 21"/>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src/services/mcp/client.ts, src/services/tools/toolExecution.ts:1599-1629</a:t>
            </a:r>
            <a:endParaRPr lang="en-US" sz="13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05</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FIVE</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016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Tool Execution Harness</a:t>
            </a:r>
            <a:endParaRPr lang="en-US" sz="3800" dirty="0"/>
          </a:p>
        </p:txBody>
      </p:sp>
      <p:sp>
        <p:nvSpPr>
          <p:cNvPr id="6" name="Text 4"/>
          <p:cNvSpPr/>
          <p:nvPr/>
        </p:nvSpPr>
        <p:spPr>
          <a:xfrm>
            <a:off x="762000" y="4699000"/>
            <a:ext cx="889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How a single tool_use travels through validation, hooks, permissions, execution, and result formatting</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05 TOOL EXECUTION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Two-Layer Tool Execution Architecture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7112000" cy="2286000"/>
          </a:xfrm>
          <a:prstGeom prst="rect">
            <a:avLst/>
          </a:prstGeom>
          <a:solidFill>
            <a:srgbClr val="161618"/>
          </a:solidFill>
          <a:ln/>
        </p:spPr>
      </p:sp>
      <p:sp>
        <p:nvSpPr>
          <p:cNvPr id="6" name="Shape 4"/>
          <p:cNvSpPr/>
          <p:nvPr/>
        </p:nvSpPr>
        <p:spPr>
          <a:xfrm>
            <a:off x="762000" y="1524000"/>
            <a:ext cx="7112000" cy="50800"/>
          </a:xfrm>
          <a:prstGeom prst="rect">
            <a:avLst/>
          </a:prstGeom>
          <a:solidFill>
            <a:srgbClr val="C4A265"/>
          </a:solidFill>
          <a:ln/>
        </p:spPr>
      </p:sp>
      <p:sp>
        <p:nvSpPr>
          <p:cNvPr id="7" name="Text 5"/>
          <p:cNvSpPr/>
          <p:nvPr/>
        </p:nvSpPr>
        <p:spPr>
          <a:xfrm>
            <a:off x="1016000" y="1701800"/>
            <a:ext cx="5080000" cy="2794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ORCHESTRATION LAYER</a:t>
            </a:r>
            <a:endParaRPr lang="en-US" sz="1600" dirty="0"/>
          </a:p>
        </p:txBody>
      </p:sp>
      <p:sp>
        <p:nvSpPr>
          <p:cNvPr id="8" name="Text 6"/>
          <p:cNvSpPr/>
          <p:nvPr/>
        </p:nvSpPr>
        <p:spPr>
          <a:xfrm>
            <a:off x="1016000" y="2006600"/>
            <a:ext cx="6604000" cy="279400"/>
          </a:xfrm>
          <a:prstGeom prst="rect">
            <a:avLst/>
          </a:prstGeom>
          <a:noFill/>
          <a:ln/>
        </p:spPr>
        <p:txBody>
          <a:bodyPr wrap="none" lIns="0" tIns="0" rIns="0" bIns="0" rtlCol="0" anchor="ctr"/>
          <a:lstStyle/>
          <a:p>
            <a:pPr>
              <a:lnSpc>
                <a:spcPct val="100000"/>
              </a:lnSpc>
            </a:pPr>
            <a:r>
              <a:rPr lang="en-US" sz="1600" dirty="0">
                <a:solidFill>
                  <a:srgbClr val="E8DCC8"/>
                </a:solidFill>
                <a:latin typeface="Liter" pitchFamily="34" charset="0"/>
                <a:ea typeface="Liter" pitchFamily="34" charset="-122"/>
                <a:cs typeface="Liter" pitchFamily="34" charset="-120"/>
              </a:rPr>
              <a:t>toolOrchestration.ts</a:t>
            </a:r>
            <a:endParaRPr lang="en-US" sz="1600" dirty="0"/>
          </a:p>
        </p:txBody>
      </p:sp>
      <p:sp>
        <p:nvSpPr>
          <p:cNvPr id="9" name="Text 7"/>
          <p:cNvSpPr/>
          <p:nvPr/>
        </p:nvSpPr>
        <p:spPr>
          <a:xfrm>
            <a:off x="1016000" y="2362200"/>
            <a:ext cx="6604000" cy="1270000"/>
          </a:xfrm>
          <a:prstGeom prst="rect">
            <a:avLst/>
          </a:prstGeom>
          <a:noFill/>
          <a:ln/>
        </p:spPr>
        <p:txBody>
          <a:bodyPr wrap="square" lIns="0" tIns="0" rIns="0" bIns="0" rtlCol="0" anchor="t"/>
          <a:lstStyle/>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Responsible for "scheduling":</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 Partition tool calls into batches</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 Determine concurrency (serial/parallel)</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 Organize execution order</a:t>
            </a:r>
            <a:endParaRPr lang="en-US" sz="1600" dirty="0"/>
          </a:p>
        </p:txBody>
      </p:sp>
      <p:sp>
        <p:nvSpPr>
          <p:cNvPr id="10" name="Shape 8"/>
          <p:cNvSpPr/>
          <p:nvPr/>
        </p:nvSpPr>
        <p:spPr>
          <a:xfrm>
            <a:off x="8382000" y="1524000"/>
            <a:ext cx="7112000" cy="2286000"/>
          </a:xfrm>
          <a:prstGeom prst="rect">
            <a:avLst/>
          </a:prstGeom>
          <a:solidFill>
            <a:srgbClr val="161618"/>
          </a:solidFill>
          <a:ln/>
        </p:spPr>
      </p:sp>
      <p:sp>
        <p:nvSpPr>
          <p:cNvPr id="11" name="Shape 9"/>
          <p:cNvSpPr/>
          <p:nvPr/>
        </p:nvSpPr>
        <p:spPr>
          <a:xfrm>
            <a:off x="8382000" y="1524000"/>
            <a:ext cx="7112000" cy="50800"/>
          </a:xfrm>
          <a:prstGeom prst="rect">
            <a:avLst/>
          </a:prstGeom>
          <a:solidFill>
            <a:srgbClr val="6B8E6B"/>
          </a:solidFill>
          <a:ln/>
        </p:spPr>
      </p:sp>
      <p:sp>
        <p:nvSpPr>
          <p:cNvPr id="12" name="Text 10"/>
          <p:cNvSpPr/>
          <p:nvPr/>
        </p:nvSpPr>
        <p:spPr>
          <a:xfrm>
            <a:off x="8636000" y="1701800"/>
            <a:ext cx="5080000" cy="279400"/>
          </a:xfrm>
          <a:prstGeom prst="rect">
            <a:avLst/>
          </a:prstGeom>
          <a:noFill/>
          <a:ln/>
        </p:spPr>
        <p:txBody>
          <a:bodyPr wrap="none" lIns="0" tIns="0" rIns="0" bIns="0" rtlCol="0" anchor="ctr"/>
          <a:lstStyle/>
          <a:p>
            <a:pPr>
              <a:lnSpc>
                <a:spcPct val="100000"/>
              </a:lnSpc>
            </a:pPr>
            <a:r>
              <a:rPr lang="en-US" sz="1400" b="1" dirty="0">
                <a:solidFill>
                  <a:srgbClr val="8FBC8F"/>
                </a:solidFill>
                <a:latin typeface="Liter" pitchFamily="34" charset="0"/>
                <a:ea typeface="Liter" pitchFamily="34" charset="-122"/>
                <a:cs typeface="Liter" pitchFamily="34" charset="-120"/>
              </a:rPr>
              <a:t>SINGLE TOOL EXECUTION LAYER</a:t>
            </a:r>
            <a:endParaRPr lang="en-US" sz="1600" dirty="0"/>
          </a:p>
        </p:txBody>
      </p:sp>
      <p:sp>
        <p:nvSpPr>
          <p:cNvPr id="13" name="Text 11"/>
          <p:cNvSpPr/>
          <p:nvPr/>
        </p:nvSpPr>
        <p:spPr>
          <a:xfrm>
            <a:off x="8636000" y="2006600"/>
            <a:ext cx="6604000" cy="279400"/>
          </a:xfrm>
          <a:prstGeom prst="rect">
            <a:avLst/>
          </a:prstGeom>
          <a:noFill/>
          <a:ln/>
        </p:spPr>
        <p:txBody>
          <a:bodyPr wrap="none" lIns="0" tIns="0" rIns="0" bIns="0" rtlCol="0" anchor="ctr"/>
          <a:lstStyle/>
          <a:p>
            <a:pPr>
              <a:lnSpc>
                <a:spcPct val="100000"/>
              </a:lnSpc>
            </a:pPr>
            <a:r>
              <a:rPr lang="en-US" sz="1600" dirty="0">
                <a:solidFill>
                  <a:srgbClr val="E8DCC8"/>
                </a:solidFill>
                <a:latin typeface="Liter" pitchFamily="34" charset="0"/>
                <a:ea typeface="Liter" pitchFamily="34" charset="-122"/>
                <a:cs typeface="Liter" pitchFamily="34" charset="-120"/>
              </a:rPr>
              <a:t>toolExecution.ts</a:t>
            </a:r>
            <a:endParaRPr lang="en-US" sz="1600" dirty="0"/>
          </a:p>
        </p:txBody>
      </p:sp>
      <p:sp>
        <p:nvSpPr>
          <p:cNvPr id="14" name="Text 12"/>
          <p:cNvSpPr/>
          <p:nvPr/>
        </p:nvSpPr>
        <p:spPr>
          <a:xfrm>
            <a:off x="8636000" y="2362200"/>
            <a:ext cx="6604000" cy="1270000"/>
          </a:xfrm>
          <a:prstGeom prst="rect">
            <a:avLst/>
          </a:prstGeom>
          <a:noFill/>
          <a:ln/>
        </p:spPr>
        <p:txBody>
          <a:bodyPr wrap="square" lIns="0" tIns="0" rIns="0" bIns="0" rtlCol="0" anchor="t"/>
          <a:lstStyle/>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Responsible for "execution":</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 Find tool definition</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 Input validation (schema + business)</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 Hooks, permissions, call, format result</a:t>
            </a:r>
            <a:endParaRPr lang="en-US" sz="1600" dirty="0"/>
          </a:p>
        </p:txBody>
      </p:sp>
      <p:sp>
        <p:nvSpPr>
          <p:cNvPr id="15" name="Text 13"/>
          <p:cNvSpPr/>
          <p:nvPr/>
        </p:nvSpPr>
        <p:spPr>
          <a:xfrm>
            <a:off x="762000" y="40640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Design Principle: Separation of Concerns</a:t>
            </a:r>
            <a:endParaRPr lang="en-US" sz="2200" dirty="0"/>
          </a:p>
        </p:txBody>
      </p:sp>
      <p:sp>
        <p:nvSpPr>
          <p:cNvPr id="16" name="Text 14"/>
          <p:cNvSpPr/>
          <p:nvPr/>
        </p:nvSpPr>
        <p:spPr>
          <a:xfrm>
            <a:off x="762000" y="4508500"/>
            <a:ext cx="14732000" cy="762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Scheduling and execution are independent. The orchestrator doesn't know how individual tools work — it only knows their concurrency safety properties. The execution layer doesn't know about batching — it only knows how to execute one tool correctly. This separation enables both layers to evolve independently.</a:t>
            </a:r>
            <a:endParaRPr lang="en-US" sz="1800" dirty="0"/>
          </a:p>
        </p:txBody>
      </p:sp>
      <p:sp>
        <p:nvSpPr>
          <p:cNvPr id="17" name="Shape 15"/>
          <p:cNvSpPr/>
          <p:nvPr/>
        </p:nvSpPr>
        <p:spPr>
          <a:xfrm>
            <a:off x="762000" y="5461000"/>
            <a:ext cx="14732000" cy="1397000"/>
          </a:xfrm>
          <a:prstGeom prst="roundRect">
            <a:avLst>
              <a:gd name="adj" fmla="val 4000"/>
            </a:avLst>
          </a:prstGeom>
          <a:solidFill>
            <a:srgbClr val="161618"/>
          </a:solidFill>
          <a:ln/>
        </p:spPr>
      </p:sp>
      <p:sp>
        <p:nvSpPr>
          <p:cNvPr id="18" name="Text 16"/>
          <p:cNvSpPr/>
          <p:nvPr/>
        </p:nvSpPr>
        <p:spPr>
          <a:xfrm>
            <a:off x="1016000" y="5588000"/>
            <a:ext cx="14224000" cy="11430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Orchestrator calls executor for each tool in batch:</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for (const batch of partitionedBatches) {</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if (batch.isConcurrent) await Promise.all(batch.tools.map(t =&gt; executeTool(t)));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else for (const tool of batch.tools) await executeTool(tool);</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t>
            </a:r>
            <a:endParaRPr lang="en-US" sz="1600" dirty="0"/>
          </a:p>
        </p:txBody>
      </p:sp>
      <p:sp>
        <p:nvSpPr>
          <p:cNvPr id="19" name="Shape 17"/>
          <p:cNvSpPr/>
          <p:nvPr/>
        </p:nvSpPr>
        <p:spPr>
          <a:xfrm>
            <a:off x="762000" y="7112000"/>
            <a:ext cx="50800" cy="1143000"/>
          </a:xfrm>
          <a:prstGeom prst="rect">
            <a:avLst/>
          </a:prstGeom>
          <a:solidFill>
            <a:srgbClr val="C4A265"/>
          </a:solidFill>
          <a:ln/>
        </p:spPr>
      </p:sp>
      <p:sp>
        <p:nvSpPr>
          <p:cNvPr id="20" name="Text 18"/>
          <p:cNvSpPr/>
          <p:nvPr/>
        </p:nvSpPr>
        <p:spPr>
          <a:xfrm>
            <a:off x="1016000" y="7112000"/>
            <a:ext cx="14224000" cy="1143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Advantage: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orchestrator can be replaced with different scheduling strategies (e.g., priority-based, dependency-graph-based) without touching tool execution logic. The executor can add new validation layers without affecting scheduling.</a:t>
            </a:r>
            <a:endParaRPr lang="en-US" sz="1800" dirty="0"/>
          </a:p>
        </p:txBody>
      </p:sp>
      <p:sp>
        <p:nvSpPr>
          <p:cNvPr id="21" name="Shape 19"/>
          <p:cNvSpPr/>
          <p:nvPr/>
        </p:nvSpPr>
        <p:spPr>
          <a:xfrm>
            <a:off x="762000" y="8636000"/>
            <a:ext cx="14732000" cy="12700"/>
          </a:xfrm>
          <a:prstGeom prst="rect">
            <a:avLst/>
          </a:prstGeom>
          <a:solidFill>
            <a:srgbClr val="3A3A3E"/>
          </a:solidFill>
          <a:ln/>
        </p:spPr>
      </p:sp>
      <p:sp>
        <p:nvSpPr>
          <p:cNvPr id="22" name="Text 20"/>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src/services/tools/toolOrchestration.ts, src/services/tools/toolExecution.ts</a:t>
            </a:r>
            <a:endParaRPr lang="en-US" sz="1300" dirty="0"/>
          </a:p>
        </p:txBody>
      </p:sp>
    </p:spTree>
  </p:cSld>
  <p:clrMapOvr>
    <a:masterClrMapping/>
  </p:clrMapOvr>
  <p:transition>
    <p:fade/>
    <p:spd val="med"/>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05 TOOL EXECUTION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partitionToolCalls(): Semantic Batch Scheduling</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Algorithm goal:</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Consecutive read-only tools can execute concurrently; tools with side effects must execute serially.</a:t>
            </a:r>
            <a:endParaRPr lang="en-US" sz="1800" dirty="0"/>
          </a:p>
        </p:txBody>
      </p:sp>
      <p:sp>
        <p:nvSpPr>
          <p:cNvPr id="6" name="Shape 4"/>
          <p:cNvSpPr/>
          <p:nvPr/>
        </p:nvSpPr>
        <p:spPr>
          <a:xfrm>
            <a:off x="762000" y="2159000"/>
            <a:ext cx="7112000" cy="2540000"/>
          </a:xfrm>
          <a:prstGeom prst="roundRect">
            <a:avLst>
              <a:gd name="adj" fmla="val 4000"/>
            </a:avLst>
          </a:prstGeom>
          <a:solidFill>
            <a:srgbClr val="161618"/>
          </a:solidFill>
          <a:ln/>
        </p:spPr>
      </p:sp>
      <p:sp>
        <p:nvSpPr>
          <p:cNvPr id="7" name="Text 5"/>
          <p:cNvSpPr/>
          <p:nvPr/>
        </p:nvSpPr>
        <p:spPr>
          <a:xfrm>
            <a:off x="1016000" y="2260600"/>
            <a:ext cx="6604000" cy="23368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Algorithm: src/services/tools/toolOrchestration.ts:19-116</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for each tool_use: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1. findToolDefinition(tool_use.name)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2. check tool.isConcurrencySafe(input)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3. if safe + previous safe → same batch</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4. if unsafe → new solo batch</a:t>
            </a:r>
            <a:endParaRPr lang="en-US" sz="1600" dirty="0"/>
          </a:p>
          <a:p>
            <a:pPr>
              <a:lnSpc>
                <a:spcPct val="150000"/>
              </a:lnSpc>
            </a:pPr>
            <a:r>
              <a:rPr lang="en-US" sz="1400" dirty="0">
                <a:solidFill>
                  <a:srgbClr val="9A9590"/>
                </a:solidFill>
                <a:latin typeface="MiSans" pitchFamily="34" charset="0"/>
                <a:ea typeface="MiSans" pitchFamily="34" charset="-122"/>
                <a:cs typeface="MiSans" pitchFamily="34" charset="-120"/>
              </a:rPr>
              <a:t>// Only merges CONSECUTIVE safe tools</a:t>
            </a:r>
            <a:endParaRPr lang="en-US" sz="1600" dirty="0"/>
          </a:p>
        </p:txBody>
      </p:sp>
      <p:sp>
        <p:nvSpPr>
          <p:cNvPr id="8" name="Text 6"/>
          <p:cNvSpPr/>
          <p:nvPr/>
        </p:nvSpPr>
        <p:spPr>
          <a:xfrm>
            <a:off x="8382000" y="2159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Example Partitioning</a:t>
            </a:r>
            <a:endParaRPr lang="en-US" sz="2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8382000" y="2641600"/>
          <a:ext cx="7112000" cy="1739900"/>
        </p:xfrm>
        <a:graphic>
          <a:graphicData uri="http://schemas.openxmlformats.org/drawingml/2006/table">
            <a:tbl>
              <a:tblPr/>
              <a:tblGrid>
                <a:gridCol w="3556000"/>
                <a:gridCol w="3556000"/>
              </a:tblGrid>
              <a:tr h="409388">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Input Sequence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Partitioned Batches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511735">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[read, grep, web_fetch]</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8FBC8F"/>
                          </a:solidFill>
                          <a:latin typeface="QuattrocentoSans" pitchFamily="34" charset="0"/>
                          <a:ea typeface="QuattrocentoSans" pitchFamily="34" charset="-122"/>
                          <a:cs typeface="QuattrocentoSans" pitchFamily="34" charset="-120"/>
                        </a:rPr>
                        <a:t>Batch 1: [read, grep, web_fetch] (concurrent)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09388">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[edit]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D4A088"/>
                          </a:solidFill>
                          <a:latin typeface="QuattrocentoSans" pitchFamily="34" charset="0"/>
                          <a:ea typeface="QuattrocentoSans" pitchFamily="34" charset="-122"/>
                          <a:cs typeface="QuattrocentoSans" pitchFamily="34" charset="-120"/>
                        </a:rPr>
                        <a:t>Batch 2: [edit] (serial)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09388">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[read, read]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8FBC8F"/>
                          </a:solidFill>
                          <a:latin typeface="QuattrocentoSans" pitchFamily="34" charset="0"/>
                          <a:ea typeface="QuattrocentoSans" pitchFamily="34" charset="-122"/>
                          <a:cs typeface="QuattrocentoSans" pitchFamily="34" charset="-120"/>
                        </a:rPr>
                        <a:t>Batch 3: [read, read] (concurrent)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bl>
          </a:graphicData>
        </a:graphic>
      </p:graphicFrame>
      <p:sp>
        <p:nvSpPr>
          <p:cNvPr id="10" name="Text 7"/>
          <p:cNvSpPr/>
          <p:nvPr/>
        </p:nvSpPr>
        <p:spPr>
          <a:xfrm>
            <a:off x="762000" y="50165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Why Only Consecutive Safe Tools?</a:t>
            </a:r>
            <a:endParaRPr lang="en-US" sz="2200" dirty="0"/>
          </a:p>
        </p:txBody>
      </p:sp>
      <p:sp>
        <p:nvSpPr>
          <p:cNvPr id="11" name="Text 8"/>
          <p:cNvSpPr/>
          <p:nvPr/>
        </p:nvSpPr>
        <p:spPr>
          <a:xfrm>
            <a:off x="762000" y="5461000"/>
            <a:ext cx="14732000" cy="1016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The conservative approach only merges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"consecutive"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concurrency-safe tools. This avoids incorrect reordering of read operations around Edit. For example: [read, edit, read] → [[read], [edit], [read]], not [[read, read], [edit]]. The edit in the middle creates a barrier — reads before and after cannot be reordered across it.</a:t>
            </a:r>
            <a:endParaRPr lang="en-US" sz="1800" dirty="0"/>
          </a:p>
        </p:txBody>
      </p:sp>
      <p:sp>
        <p:nvSpPr>
          <p:cNvPr id="12" name="Shape 9"/>
          <p:cNvSpPr/>
          <p:nvPr/>
        </p:nvSpPr>
        <p:spPr>
          <a:xfrm>
            <a:off x="762000" y="6731000"/>
            <a:ext cx="50800" cy="1524000"/>
          </a:xfrm>
          <a:prstGeom prst="rect">
            <a:avLst/>
          </a:prstGeom>
          <a:solidFill>
            <a:srgbClr val="C4A265"/>
          </a:solidFill>
          <a:ln/>
        </p:spPr>
      </p:sp>
      <p:sp>
        <p:nvSpPr>
          <p:cNvPr id="13" name="Text 10"/>
          <p:cNvSpPr/>
          <p:nvPr/>
        </p:nvSpPr>
        <p:spPr>
          <a:xfrm>
            <a:off x="1016000" y="67310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Advantage vs Disadvantage</a:t>
            </a:r>
            <a:endParaRPr lang="en-US" sz="1600" dirty="0"/>
          </a:p>
        </p:txBody>
      </p:sp>
      <p:sp>
        <p:nvSpPr>
          <p:cNvPr id="14" name="Text 11"/>
          <p:cNvSpPr/>
          <p:nvPr/>
        </p:nvSpPr>
        <p:spPr>
          <a:xfrm>
            <a:off x="1016000" y="7112000"/>
            <a:ext cx="6858000" cy="10160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Correctness over performance. Never risks data corruption from out-of-order execution. Simple to understand and debug.</a:t>
            </a:r>
            <a:endParaRPr lang="en-US" sz="1600" dirty="0"/>
          </a:p>
        </p:txBody>
      </p:sp>
      <p:sp>
        <p:nvSpPr>
          <p:cNvPr id="15" name="Text 12"/>
          <p:cNvSpPr/>
          <p:nvPr/>
        </p:nvSpPr>
        <p:spPr>
          <a:xfrm>
            <a:off x="8382000" y="7112000"/>
            <a:ext cx="7112000" cy="1016000"/>
          </a:xfrm>
          <a:prstGeom prst="rect">
            <a:avLst/>
          </a:prstGeom>
          <a:noFill/>
          <a:ln/>
        </p:spPr>
        <p:txBody>
          <a:bodyPr wrap="square" lIns="0" tIns="0" rIns="0" bIns="0" rtlCol="0" anchor="t"/>
          <a:lstStyle/>
          <a:p>
            <a:pPr>
              <a:lnSpc>
                <a:spcPct val="150000"/>
              </a:lnSpc>
            </a:pPr>
            <a:r>
              <a:rPr lang="en-US" sz="1600" dirty="0">
                <a:solidFill>
                  <a:srgbClr val="D4A088"/>
                </a:solidFill>
                <a:latin typeface="Quattrocento Sans" pitchFamily="34" charset="0"/>
                <a:ea typeface="Quattrocento Sans" pitchFamily="34" charset="-122"/>
                <a:cs typeface="Quattrocento Sans" pitchFamily="34" charset="-120"/>
              </a:rPr>
              <a:t>Disadvantage: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May miss concurrency opportunities. A read separated from other reads by a single non-concurrent tool cannot be batched. More conservative than a full dependency graph approach.</a:t>
            </a:r>
            <a:endParaRPr lang="en-US" sz="1600" dirty="0"/>
          </a:p>
        </p:txBody>
      </p:sp>
      <p:sp>
        <p:nvSpPr>
          <p:cNvPr id="16" name="Shape 13"/>
          <p:cNvSpPr/>
          <p:nvPr/>
        </p:nvSpPr>
        <p:spPr>
          <a:xfrm>
            <a:off x="762000" y="8636000"/>
            <a:ext cx="14732000" cy="12700"/>
          </a:xfrm>
          <a:prstGeom prst="rect">
            <a:avLst/>
          </a:prstGeom>
          <a:solidFill>
            <a:srgbClr val="3A3A3E"/>
          </a:solidFill>
          <a:ln/>
        </p:spPr>
      </p:sp>
      <p:sp>
        <p:nvSpPr>
          <p:cNvPr id="17" name="Text 14"/>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src/services/tools/toolOrchestration.ts:19-116</a:t>
            </a:r>
            <a:endParaRPr lang="en-US" sz="1300" dirty="0"/>
          </a:p>
        </p:txBody>
      </p:sp>
    </p:spTree>
  </p:cSld>
  <p:clrMapOvr>
    <a:masterClrMapping/>
  </p:clrMapOvr>
  <p:transition>
    <p:fade/>
    <p:spd val="med"/>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05 TOOL EXECUTION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StreamingToolExecutor: Execute While Streaming</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Normal mode: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tool execution waits for entire streaming to end.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StreamingToolExecutor:</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starts executing as soon as tool_use appears in stream.</a:t>
            </a:r>
            <a:endParaRPr lang="en-US" sz="1800" dirty="0"/>
          </a:p>
        </p:txBody>
      </p:sp>
      <p:sp>
        <p:nvSpPr>
          <p:cNvPr id="6" name="Text 4"/>
          <p:cNvSpPr/>
          <p:nvPr/>
        </p:nvSpPr>
        <p:spPr>
          <a:xfrm>
            <a:off x="762000" y="2159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Internal State Machine</a:t>
            </a:r>
            <a:endParaRPr lang="en-US" sz="2200" dirty="0"/>
          </a:p>
        </p:txBody>
      </p:sp>
      <p:sp>
        <p:nvSpPr>
          <p:cNvPr id="7" name="Text 5"/>
          <p:cNvSpPr/>
          <p:nvPr/>
        </p:nvSpPr>
        <p:spPr>
          <a:xfrm>
            <a:off x="762000" y="2603500"/>
            <a:ext cx="14732000" cy="381000"/>
          </a:xfrm>
          <a:prstGeom prst="rect">
            <a:avLst/>
          </a:prstGeom>
          <a:noFill/>
          <a:ln/>
        </p:spPr>
        <p:txBody>
          <a:bodyPr wrap="none" lIns="0" tIns="0" rIns="0" bIns="0" rtlCol="0" anchor="ctr"/>
          <a:lstStyle/>
          <a:p>
            <a:pPr>
              <a:lnSpc>
                <a:spcPct val="100000"/>
              </a:lnSpc>
            </a:pPr>
            <a:r>
              <a:rPr lang="en-US" sz="1800" dirty="0">
                <a:solidFill>
                  <a:srgbClr val="C4A265"/>
                </a:solidFill>
                <a:latin typeface="Liter" pitchFamily="34" charset="0"/>
                <a:ea typeface="Liter" pitchFamily="34" charset="-122"/>
                <a:cs typeface="Liter" pitchFamily="34" charset="-120"/>
              </a:rPr>
              <a:t>queued</a:t>
            </a:r>
            <a:pPr>
              <a:lnSpc>
                <a:spcPct val="100000"/>
              </a:lnSpc>
            </a:pPr>
            <a:r>
              <a:rPr lang="en-US" sz="1800" dirty="0">
                <a:solidFill>
                  <a:srgbClr val="E8DCC8"/>
                </a:solidFill>
                <a:latin typeface="Liter" pitchFamily="34" charset="0"/>
                <a:ea typeface="Liter" pitchFamily="34" charset="-122"/>
                <a:cs typeface="Liter" pitchFamily="34" charset="-120"/>
              </a:rPr>
              <a:t> → </a:t>
            </a:r>
            <a:pPr>
              <a:lnSpc>
                <a:spcPct val="100000"/>
              </a:lnSpc>
            </a:pPr>
            <a:r>
              <a:rPr lang="en-US" sz="1800" dirty="0">
                <a:solidFill>
                  <a:srgbClr val="8FBC8F"/>
                </a:solidFill>
                <a:latin typeface="Liter" pitchFamily="34" charset="0"/>
                <a:ea typeface="Liter" pitchFamily="34" charset="-122"/>
                <a:cs typeface="Liter" pitchFamily="34" charset="-120"/>
              </a:rPr>
              <a:t>executing</a:t>
            </a:r>
            <a:pPr>
              <a:lnSpc>
                <a:spcPct val="100000"/>
              </a:lnSpc>
            </a:pPr>
            <a:r>
              <a:rPr lang="en-US" sz="1800" dirty="0">
                <a:solidFill>
                  <a:srgbClr val="E8DCC8"/>
                </a:solidFill>
                <a:latin typeface="Liter" pitchFamily="34" charset="0"/>
                <a:ea typeface="Liter" pitchFamily="34" charset="-122"/>
                <a:cs typeface="Liter" pitchFamily="34" charset="-120"/>
              </a:rPr>
              <a:t> → </a:t>
            </a:r>
            <a:pPr>
              <a:lnSpc>
                <a:spcPct val="100000"/>
              </a:lnSpc>
            </a:pPr>
            <a:r>
              <a:rPr lang="en-US" sz="1800" dirty="0">
                <a:solidFill>
                  <a:srgbClr val="C4A265"/>
                </a:solidFill>
                <a:latin typeface="Liter" pitchFamily="34" charset="0"/>
                <a:ea typeface="Liter" pitchFamily="34" charset="-122"/>
                <a:cs typeface="Liter" pitchFamily="34" charset="-120"/>
              </a:rPr>
              <a:t>completed</a:t>
            </a:r>
            <a:pPr>
              <a:lnSpc>
                <a:spcPct val="100000"/>
              </a:lnSpc>
            </a:pPr>
            <a:r>
              <a:rPr lang="en-US" sz="1800" dirty="0">
                <a:solidFill>
                  <a:srgbClr val="E8DCC8"/>
                </a:solidFill>
                <a:latin typeface="Liter" pitchFamily="34" charset="0"/>
                <a:ea typeface="Liter" pitchFamily="34" charset="-122"/>
                <a:cs typeface="Liter" pitchFamily="34" charset="-120"/>
              </a:rPr>
              <a:t> → </a:t>
            </a:r>
            <a:pPr>
              <a:lnSpc>
                <a:spcPct val="100000"/>
              </a:lnSpc>
            </a:pPr>
            <a:r>
              <a:rPr lang="en-US" sz="1800" dirty="0">
                <a:solidFill>
                  <a:srgbClr val="C4A265"/>
                </a:solidFill>
                <a:latin typeface="Liter" pitchFamily="34" charset="0"/>
                <a:ea typeface="Liter" pitchFamily="34" charset="-122"/>
                <a:cs typeface="Liter" pitchFamily="34" charset="-120"/>
              </a:rPr>
              <a:t>yielded</a:t>
            </a:r>
            <a:endParaRPr lang="en-US" sz="1600" dirty="0"/>
          </a:p>
        </p:txBody>
      </p:sp>
      <p:sp>
        <p:nvSpPr>
          <p:cNvPr id="8" name="Text 6"/>
          <p:cNvSpPr/>
          <p:nvPr/>
        </p:nvSpPr>
        <p:spPr>
          <a:xfrm>
            <a:off x="762000" y="3175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Key Features</a:t>
            </a:r>
            <a:endParaRPr lang="en-US" sz="2200" dirty="0"/>
          </a:p>
        </p:txBody>
      </p:sp>
      <p:sp>
        <p:nvSpPr>
          <p:cNvPr id="9" name="Shape 7"/>
          <p:cNvSpPr/>
          <p:nvPr/>
        </p:nvSpPr>
        <p:spPr>
          <a:xfrm>
            <a:off x="762000" y="3657600"/>
            <a:ext cx="3429000" cy="1270000"/>
          </a:xfrm>
          <a:prstGeom prst="rect">
            <a:avLst/>
          </a:prstGeom>
          <a:solidFill>
            <a:srgbClr val="161618"/>
          </a:solidFill>
          <a:ln/>
        </p:spPr>
      </p:sp>
      <p:sp>
        <p:nvSpPr>
          <p:cNvPr id="10" name="Text 8"/>
          <p:cNvSpPr/>
          <p:nvPr/>
        </p:nvSpPr>
        <p:spPr>
          <a:xfrm>
            <a:off x="952500" y="3759200"/>
            <a:ext cx="3048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Early Execution</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Start tools as soon as tool_use appears, don't wait for stream end</a:t>
            </a:r>
            <a:endParaRPr lang="en-US" sz="1600" dirty="0"/>
          </a:p>
        </p:txBody>
      </p:sp>
      <p:sp>
        <p:nvSpPr>
          <p:cNvPr id="11" name="Shape 9"/>
          <p:cNvSpPr/>
          <p:nvPr/>
        </p:nvSpPr>
        <p:spPr>
          <a:xfrm>
            <a:off x="4445000" y="3657600"/>
            <a:ext cx="3429000" cy="1270000"/>
          </a:xfrm>
          <a:prstGeom prst="rect">
            <a:avLst/>
          </a:prstGeom>
          <a:solidFill>
            <a:srgbClr val="161618"/>
          </a:solidFill>
          <a:ln/>
        </p:spPr>
      </p:sp>
      <p:sp>
        <p:nvSpPr>
          <p:cNvPr id="12" name="Text 10"/>
          <p:cNvSpPr/>
          <p:nvPr/>
        </p:nvSpPr>
        <p:spPr>
          <a:xfrm>
            <a:off x="4635500" y="3759200"/>
            <a:ext cx="3048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Parallel Safe Tools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Concurrency-safe tools execute in parallel within same batch</a:t>
            </a:r>
            <a:endParaRPr lang="en-US" sz="1600" dirty="0"/>
          </a:p>
        </p:txBody>
      </p:sp>
      <p:sp>
        <p:nvSpPr>
          <p:cNvPr id="13" name="Shape 11"/>
          <p:cNvSpPr/>
          <p:nvPr/>
        </p:nvSpPr>
        <p:spPr>
          <a:xfrm>
            <a:off x="8128000" y="3657600"/>
            <a:ext cx="3429000" cy="1270000"/>
          </a:xfrm>
          <a:prstGeom prst="rect">
            <a:avLst/>
          </a:prstGeom>
          <a:solidFill>
            <a:srgbClr val="161618"/>
          </a:solidFill>
          <a:ln/>
        </p:spPr>
      </p:sp>
      <p:sp>
        <p:nvSpPr>
          <p:cNvPr id="14" name="Text 12"/>
          <p:cNvSpPr/>
          <p:nvPr/>
        </p:nvSpPr>
        <p:spPr>
          <a:xfrm>
            <a:off x="8318500" y="3759200"/>
            <a:ext cx="3048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Ordered Yield</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Tool results maintain original receive order regardless of completion order</a:t>
            </a:r>
            <a:endParaRPr lang="en-US" sz="1600" dirty="0"/>
          </a:p>
        </p:txBody>
      </p:sp>
      <p:sp>
        <p:nvSpPr>
          <p:cNvPr id="15" name="Shape 13"/>
          <p:cNvSpPr/>
          <p:nvPr/>
        </p:nvSpPr>
        <p:spPr>
          <a:xfrm>
            <a:off x="11811000" y="3657600"/>
            <a:ext cx="3683000" cy="1270000"/>
          </a:xfrm>
          <a:prstGeom prst="rect">
            <a:avLst/>
          </a:prstGeom>
          <a:solidFill>
            <a:srgbClr val="161618"/>
          </a:solidFill>
          <a:ln/>
        </p:spPr>
      </p:sp>
      <p:sp>
        <p:nvSpPr>
          <p:cNvPr id="16" name="Text 14"/>
          <p:cNvSpPr/>
          <p:nvPr/>
        </p:nvSpPr>
        <p:spPr>
          <a:xfrm>
            <a:off x="12001500" y="3759200"/>
            <a:ext cx="3302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Abort on Bash Fail</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If Bash fails, abort sibling tools in same batch</a:t>
            </a:r>
            <a:endParaRPr lang="en-US" sz="1600" dirty="0"/>
          </a:p>
        </p:txBody>
      </p:sp>
      <p:sp>
        <p:nvSpPr>
          <p:cNvPr id="17" name="Text 15"/>
          <p:cNvSpPr/>
          <p:nvPr/>
        </p:nvSpPr>
        <p:spPr>
          <a:xfrm>
            <a:off x="762000" y="52070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Special Policy: Bash Failure Aborts Siblings</a:t>
            </a:r>
            <a:endParaRPr lang="en-US" sz="2200" dirty="0"/>
          </a:p>
        </p:txBody>
      </p:sp>
      <p:sp>
        <p:nvSpPr>
          <p:cNvPr id="18" name="Text 16"/>
          <p:cNvSpPr/>
          <p:nvPr/>
        </p:nvSpPr>
        <p:spPr>
          <a:xfrm>
            <a:off x="762000" y="5651500"/>
            <a:ext cx="14732000" cy="1016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If Bash tool fails, abort sibling tools in same batch.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Why?</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Bash often has dependency chains: mkdir → cd → build → deploy. Previous step failure makes subsequent steps meaningless. Other tool types (FileRead, WebFetch, MCP query) are relatively independent — their failures don't imply sibling invalidation.</a:t>
            </a:r>
            <a:endParaRPr lang="en-US" sz="1800" dirty="0"/>
          </a:p>
        </p:txBody>
      </p:sp>
      <p:sp>
        <p:nvSpPr>
          <p:cNvPr id="19" name="Shape 17"/>
          <p:cNvSpPr/>
          <p:nvPr/>
        </p:nvSpPr>
        <p:spPr>
          <a:xfrm>
            <a:off x="762000" y="6921500"/>
            <a:ext cx="50800" cy="1270000"/>
          </a:xfrm>
          <a:prstGeom prst="rect">
            <a:avLst/>
          </a:prstGeom>
          <a:solidFill>
            <a:srgbClr val="C4A265"/>
          </a:solidFill>
          <a:ln/>
        </p:spPr>
      </p:sp>
      <p:sp>
        <p:nvSpPr>
          <p:cNvPr id="20" name="Text 18"/>
          <p:cNvSpPr/>
          <p:nvPr/>
        </p:nvSpPr>
        <p:spPr>
          <a:xfrm>
            <a:off x="1016000" y="69215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Performance Impact</a:t>
            </a:r>
            <a:endParaRPr lang="en-US" sz="1600" dirty="0"/>
          </a:p>
        </p:txBody>
      </p:sp>
      <p:sp>
        <p:nvSpPr>
          <p:cNvPr id="21" name="Text 19"/>
          <p:cNvSpPr/>
          <p:nvPr/>
        </p:nvSpPr>
        <p:spPr>
          <a:xfrm>
            <a:off x="1016000" y="7302500"/>
            <a:ext cx="14224000" cy="762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StreamingToolExecutor can significantly reduce perceived latency. Instead of: stream ends → start tools → wait → continue, the pipeline becomes: tool_use appears → start tool → stream ends → tool already done → continue immediately.</a:t>
            </a:r>
            <a:endParaRPr lang="en-US" sz="1800" dirty="0"/>
          </a:p>
        </p:txBody>
      </p:sp>
      <p:sp>
        <p:nvSpPr>
          <p:cNvPr id="22" name="Shape 20"/>
          <p:cNvSpPr/>
          <p:nvPr/>
        </p:nvSpPr>
        <p:spPr>
          <a:xfrm>
            <a:off x="762000" y="8636000"/>
            <a:ext cx="14732000" cy="12700"/>
          </a:xfrm>
          <a:prstGeom prst="rect">
            <a:avLst/>
          </a:prstGeom>
          <a:solidFill>
            <a:srgbClr val="3A3A3E"/>
          </a:solidFill>
          <a:ln/>
        </p:spPr>
      </p:sp>
      <p:sp>
        <p:nvSpPr>
          <p:cNvPr id="23" name="Text 21"/>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src/services/tools/StreamingToolExecutor.ts</a:t>
            </a:r>
            <a:endParaRPr lang="en-US" sz="1300" dirty="0"/>
          </a:p>
        </p:txBody>
      </p:sp>
    </p:spTree>
  </p:cSld>
  <p:clrMapOvr>
    <a:masterClrMapping/>
  </p:clrMapOvr>
  <p:transition>
    <p:fade/>
    <p:spd val="med"/>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05 TOOL EXECUTION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Single Tool Execution Lifecycle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498600"/>
            <a:ext cx="1651000" cy="889000"/>
          </a:xfrm>
          <a:prstGeom prst="rect">
            <a:avLst/>
          </a:prstGeom>
          <a:solidFill>
            <a:srgbClr val="161618"/>
          </a:solidFill>
          <a:ln/>
        </p:spPr>
      </p:sp>
      <p:sp>
        <p:nvSpPr>
          <p:cNvPr id="6" name="Text 4"/>
          <p:cNvSpPr/>
          <p:nvPr/>
        </p:nvSpPr>
        <p:spPr>
          <a:xfrm>
            <a:off x="825500" y="1574800"/>
            <a:ext cx="1524000" cy="736600"/>
          </a:xfrm>
          <a:prstGeom prst="rect">
            <a:avLst/>
          </a:prstGeom>
          <a:noFill/>
          <a:ln/>
        </p:spPr>
        <p:txBody>
          <a:bodyPr wrap="square" lIns="0" tIns="0" rIns="0" bIns="0" rtlCol="0" anchor="ctr"/>
          <a:lstStyle/>
          <a:p>
            <a:pPr algn="ctr">
              <a:lnSpc>
                <a:spcPct val="140000"/>
              </a:lnSpc>
            </a:pPr>
            <a:r>
              <a:rPr lang="en-US" sz="1300" b="1" dirty="0">
                <a:solidFill>
                  <a:srgbClr val="C4A265"/>
                </a:solidFill>
                <a:latin typeface="Quattrocento Sans" pitchFamily="34" charset="0"/>
                <a:ea typeface="Quattrocento Sans" pitchFamily="34" charset="-122"/>
                <a:cs typeface="Quattrocento Sans" pitchFamily="34" charset="-120"/>
              </a:rPr>
              <a:t>Step 1</a:t>
            </a:r>
            <a:endParaRPr lang="en-US" sz="1600" dirty="0"/>
          </a:p>
          <a:p>
            <a:pPr algn="ctr">
              <a:lnSpc>
                <a:spcPct val="140000"/>
              </a:lnSpc>
            </a:pPr>
            <a:r>
              <a:rPr lang="en-US" sz="1300" dirty="0">
                <a:solidFill>
                  <a:srgbClr val="E8DCC8"/>
                </a:solidFill>
                <a:latin typeface="Quattrocento Sans" pitchFamily="34" charset="0"/>
                <a:ea typeface="Quattrocento Sans" pitchFamily="34" charset="-122"/>
                <a:cs typeface="Quattrocento Sans" pitchFamily="34" charset="-120"/>
              </a:rPr>
              <a:t>findToolByName</a:t>
            </a:r>
            <a:endParaRPr lang="en-US" sz="1600" dirty="0"/>
          </a:p>
        </p:txBody>
      </p:sp>
      <p:sp>
        <p:nvSpPr>
          <p:cNvPr id="7" name="Shape 5"/>
          <p:cNvSpPr/>
          <p:nvPr/>
        </p:nvSpPr>
        <p:spPr>
          <a:xfrm>
            <a:off x="2514600" y="1905000"/>
            <a:ext cx="317500" cy="0"/>
          </a:xfrm>
          <a:prstGeom prst="straightConnector1">
            <a:avLst/>
          </a:prstGeom>
          <a:noFill/>
          <a:ln w="25400">
            <a:solidFill>
              <a:srgbClr val="3A3A3E"/>
            </a:solidFill>
            <a:prstDash val="solid"/>
            <a:headEnd type="none"/>
            <a:tailEnd type="arrow"/>
          </a:ln>
        </p:spPr>
      </p:sp>
      <p:sp>
        <p:nvSpPr>
          <p:cNvPr id="8" name="Shape 6"/>
          <p:cNvSpPr/>
          <p:nvPr/>
        </p:nvSpPr>
        <p:spPr>
          <a:xfrm>
            <a:off x="2933700" y="1498600"/>
            <a:ext cx="1651000" cy="889000"/>
          </a:xfrm>
          <a:prstGeom prst="rect">
            <a:avLst/>
          </a:prstGeom>
          <a:solidFill>
            <a:srgbClr val="161618"/>
          </a:solidFill>
          <a:ln/>
        </p:spPr>
      </p:sp>
      <p:sp>
        <p:nvSpPr>
          <p:cNvPr id="9" name="Text 7"/>
          <p:cNvSpPr/>
          <p:nvPr/>
        </p:nvSpPr>
        <p:spPr>
          <a:xfrm>
            <a:off x="2997200" y="1574800"/>
            <a:ext cx="1524000" cy="736600"/>
          </a:xfrm>
          <a:prstGeom prst="rect">
            <a:avLst/>
          </a:prstGeom>
          <a:noFill/>
          <a:ln/>
        </p:spPr>
        <p:txBody>
          <a:bodyPr wrap="square" lIns="0" tIns="0" rIns="0" bIns="0" rtlCol="0" anchor="ctr"/>
          <a:lstStyle/>
          <a:p>
            <a:pPr algn="ctr">
              <a:lnSpc>
                <a:spcPct val="140000"/>
              </a:lnSpc>
            </a:pPr>
            <a:r>
              <a:rPr lang="en-US" sz="1300" b="1" dirty="0">
                <a:solidFill>
                  <a:srgbClr val="C4A265"/>
                </a:solidFill>
                <a:latin typeface="Quattrocento Sans" pitchFamily="34" charset="0"/>
                <a:ea typeface="Quattrocento Sans" pitchFamily="34" charset="-122"/>
                <a:cs typeface="Quattrocento Sans" pitchFamily="34" charset="-120"/>
              </a:rPr>
              <a:t>Step 2</a:t>
            </a:r>
            <a:endParaRPr lang="en-US" sz="1600" dirty="0"/>
          </a:p>
          <a:p>
            <a:pPr algn="ctr">
              <a:lnSpc>
                <a:spcPct val="140000"/>
              </a:lnSpc>
            </a:pPr>
            <a:r>
              <a:rPr lang="en-US" sz="1300" dirty="0">
                <a:solidFill>
                  <a:srgbClr val="E8DCC8"/>
                </a:solidFill>
                <a:latin typeface="Quattrocento Sans" pitchFamily="34" charset="0"/>
                <a:ea typeface="Quattrocento Sans" pitchFamily="34" charset="-122"/>
                <a:cs typeface="Quattrocento Sans" pitchFamily="34" charset="-120"/>
              </a:rPr>
              <a:t>safeParse</a:t>
            </a:r>
            <a:endParaRPr lang="en-US" sz="1600" dirty="0"/>
          </a:p>
        </p:txBody>
      </p:sp>
      <p:sp>
        <p:nvSpPr>
          <p:cNvPr id="10" name="Shape 8"/>
          <p:cNvSpPr/>
          <p:nvPr/>
        </p:nvSpPr>
        <p:spPr>
          <a:xfrm>
            <a:off x="4686300" y="1905000"/>
            <a:ext cx="317500" cy="0"/>
          </a:xfrm>
          <a:prstGeom prst="straightConnector1">
            <a:avLst/>
          </a:prstGeom>
          <a:noFill/>
          <a:ln w="25400">
            <a:solidFill>
              <a:srgbClr val="3A3A3E"/>
            </a:solidFill>
            <a:prstDash val="solid"/>
            <a:headEnd type="none"/>
            <a:tailEnd type="arrow"/>
          </a:ln>
        </p:spPr>
      </p:sp>
      <p:sp>
        <p:nvSpPr>
          <p:cNvPr id="11" name="Shape 9"/>
          <p:cNvSpPr/>
          <p:nvPr/>
        </p:nvSpPr>
        <p:spPr>
          <a:xfrm>
            <a:off x="5105400" y="1498600"/>
            <a:ext cx="1651000" cy="889000"/>
          </a:xfrm>
          <a:prstGeom prst="rect">
            <a:avLst/>
          </a:prstGeom>
          <a:solidFill>
            <a:srgbClr val="161618"/>
          </a:solidFill>
          <a:ln/>
        </p:spPr>
      </p:sp>
      <p:sp>
        <p:nvSpPr>
          <p:cNvPr id="12" name="Text 10"/>
          <p:cNvSpPr/>
          <p:nvPr/>
        </p:nvSpPr>
        <p:spPr>
          <a:xfrm>
            <a:off x="5168900" y="1574800"/>
            <a:ext cx="1524000" cy="736600"/>
          </a:xfrm>
          <a:prstGeom prst="rect">
            <a:avLst/>
          </a:prstGeom>
          <a:noFill/>
          <a:ln/>
        </p:spPr>
        <p:txBody>
          <a:bodyPr wrap="square" lIns="0" tIns="0" rIns="0" bIns="0" rtlCol="0" anchor="ctr"/>
          <a:lstStyle/>
          <a:p>
            <a:pPr algn="ctr">
              <a:lnSpc>
                <a:spcPct val="140000"/>
              </a:lnSpc>
            </a:pPr>
            <a:r>
              <a:rPr lang="en-US" sz="1300" b="1" dirty="0">
                <a:solidFill>
                  <a:srgbClr val="C4A265"/>
                </a:solidFill>
                <a:latin typeface="Quattrocento Sans" pitchFamily="34" charset="0"/>
                <a:ea typeface="Quattrocento Sans" pitchFamily="34" charset="-122"/>
                <a:cs typeface="Quattrocento Sans" pitchFamily="34" charset="-120"/>
              </a:rPr>
              <a:t>Step 3</a:t>
            </a:r>
            <a:endParaRPr lang="en-US" sz="1600" dirty="0"/>
          </a:p>
          <a:p>
            <a:pPr algn="ctr">
              <a:lnSpc>
                <a:spcPct val="140000"/>
              </a:lnSpc>
            </a:pPr>
            <a:r>
              <a:rPr lang="en-US" sz="1300" dirty="0">
                <a:solidFill>
                  <a:srgbClr val="E8DCC8"/>
                </a:solidFill>
                <a:latin typeface="Quattrocento Sans" pitchFamily="34" charset="0"/>
                <a:ea typeface="Quattrocento Sans" pitchFamily="34" charset="-122"/>
                <a:cs typeface="Quattrocento Sans" pitchFamily="34" charset="-120"/>
              </a:rPr>
              <a:t>validateInput</a:t>
            </a:r>
            <a:endParaRPr lang="en-US" sz="1600" dirty="0"/>
          </a:p>
        </p:txBody>
      </p:sp>
      <p:sp>
        <p:nvSpPr>
          <p:cNvPr id="13" name="Shape 11"/>
          <p:cNvSpPr/>
          <p:nvPr/>
        </p:nvSpPr>
        <p:spPr>
          <a:xfrm>
            <a:off x="6858000" y="1905000"/>
            <a:ext cx="317500" cy="0"/>
          </a:xfrm>
          <a:prstGeom prst="straightConnector1">
            <a:avLst/>
          </a:prstGeom>
          <a:noFill/>
          <a:ln w="25400">
            <a:solidFill>
              <a:srgbClr val="3A3A3E"/>
            </a:solidFill>
            <a:prstDash val="solid"/>
            <a:headEnd type="none"/>
            <a:tailEnd type="arrow"/>
          </a:ln>
        </p:spPr>
      </p:sp>
      <p:sp>
        <p:nvSpPr>
          <p:cNvPr id="14" name="Shape 12"/>
          <p:cNvSpPr/>
          <p:nvPr/>
        </p:nvSpPr>
        <p:spPr>
          <a:xfrm>
            <a:off x="7277100" y="1498600"/>
            <a:ext cx="1651000" cy="889000"/>
          </a:xfrm>
          <a:prstGeom prst="rect">
            <a:avLst/>
          </a:prstGeom>
          <a:solidFill>
            <a:srgbClr val="161618"/>
          </a:solidFill>
          <a:ln/>
        </p:spPr>
      </p:sp>
      <p:sp>
        <p:nvSpPr>
          <p:cNvPr id="15" name="Text 13"/>
          <p:cNvSpPr/>
          <p:nvPr/>
        </p:nvSpPr>
        <p:spPr>
          <a:xfrm>
            <a:off x="7340600" y="1574800"/>
            <a:ext cx="1524000" cy="736600"/>
          </a:xfrm>
          <a:prstGeom prst="rect">
            <a:avLst/>
          </a:prstGeom>
          <a:noFill/>
          <a:ln/>
        </p:spPr>
        <p:txBody>
          <a:bodyPr wrap="square" lIns="0" tIns="0" rIns="0" bIns="0" rtlCol="0" anchor="ctr"/>
          <a:lstStyle/>
          <a:p>
            <a:pPr algn="ctr">
              <a:lnSpc>
                <a:spcPct val="140000"/>
              </a:lnSpc>
            </a:pPr>
            <a:r>
              <a:rPr lang="en-US" sz="1300" b="1" dirty="0">
                <a:solidFill>
                  <a:srgbClr val="C4A265"/>
                </a:solidFill>
                <a:latin typeface="Quattrocento Sans" pitchFamily="34" charset="0"/>
                <a:ea typeface="Quattrocento Sans" pitchFamily="34" charset="-122"/>
                <a:cs typeface="Quattrocento Sans" pitchFamily="34" charset="-120"/>
              </a:rPr>
              <a:t>Step 4</a:t>
            </a:r>
            <a:endParaRPr lang="en-US" sz="1600" dirty="0"/>
          </a:p>
          <a:p>
            <a:pPr algn="ctr">
              <a:lnSpc>
                <a:spcPct val="140000"/>
              </a:lnSpc>
            </a:pPr>
            <a:r>
              <a:rPr lang="en-US" sz="1300" dirty="0">
                <a:solidFill>
                  <a:srgbClr val="E8DCC8"/>
                </a:solidFill>
                <a:latin typeface="Quattrocento Sans" pitchFamily="34" charset="0"/>
                <a:ea typeface="Quattrocento Sans" pitchFamily="34" charset="-122"/>
                <a:cs typeface="Quattrocento Sans" pitchFamily="34" charset="-120"/>
              </a:rPr>
              <a:t>PreToolUse</a:t>
            </a:r>
            <a:endParaRPr lang="en-US" sz="1600" dirty="0"/>
          </a:p>
        </p:txBody>
      </p:sp>
      <p:sp>
        <p:nvSpPr>
          <p:cNvPr id="16" name="Shape 14"/>
          <p:cNvSpPr/>
          <p:nvPr/>
        </p:nvSpPr>
        <p:spPr>
          <a:xfrm>
            <a:off x="9029700" y="1905000"/>
            <a:ext cx="317500" cy="0"/>
          </a:xfrm>
          <a:prstGeom prst="straightConnector1">
            <a:avLst/>
          </a:prstGeom>
          <a:noFill/>
          <a:ln w="25400">
            <a:solidFill>
              <a:srgbClr val="3A3A3E"/>
            </a:solidFill>
            <a:prstDash val="solid"/>
            <a:headEnd type="none"/>
            <a:tailEnd type="arrow"/>
          </a:ln>
        </p:spPr>
      </p:sp>
      <p:sp>
        <p:nvSpPr>
          <p:cNvPr id="17" name="Shape 15"/>
          <p:cNvSpPr/>
          <p:nvPr/>
        </p:nvSpPr>
        <p:spPr>
          <a:xfrm>
            <a:off x="9448800" y="1498600"/>
            <a:ext cx="1651000" cy="889000"/>
          </a:xfrm>
          <a:prstGeom prst="rect">
            <a:avLst/>
          </a:prstGeom>
          <a:solidFill>
            <a:srgbClr val="161618"/>
          </a:solidFill>
          <a:ln/>
        </p:spPr>
      </p:sp>
      <p:sp>
        <p:nvSpPr>
          <p:cNvPr id="18" name="Text 16"/>
          <p:cNvSpPr/>
          <p:nvPr/>
        </p:nvSpPr>
        <p:spPr>
          <a:xfrm>
            <a:off x="9512300" y="1574800"/>
            <a:ext cx="1524000" cy="736600"/>
          </a:xfrm>
          <a:prstGeom prst="rect">
            <a:avLst/>
          </a:prstGeom>
          <a:noFill/>
          <a:ln/>
        </p:spPr>
        <p:txBody>
          <a:bodyPr wrap="square" lIns="0" tIns="0" rIns="0" bIns="0" rtlCol="0" anchor="ctr"/>
          <a:lstStyle/>
          <a:p>
            <a:pPr algn="ctr">
              <a:lnSpc>
                <a:spcPct val="140000"/>
              </a:lnSpc>
            </a:pPr>
            <a:r>
              <a:rPr lang="en-US" sz="1300" b="1" dirty="0">
                <a:solidFill>
                  <a:srgbClr val="C4A265"/>
                </a:solidFill>
                <a:latin typeface="Quattrocento Sans" pitchFamily="34" charset="0"/>
                <a:ea typeface="Quattrocento Sans" pitchFamily="34" charset="-122"/>
                <a:cs typeface="Quattrocento Sans" pitchFamily="34" charset="-120"/>
              </a:rPr>
              <a:t>Step 5</a:t>
            </a:r>
            <a:endParaRPr lang="en-US" sz="1600" dirty="0"/>
          </a:p>
          <a:p>
            <a:pPr algn="ctr">
              <a:lnSpc>
                <a:spcPct val="140000"/>
              </a:lnSpc>
            </a:pPr>
            <a:r>
              <a:rPr lang="en-US" sz="1300" dirty="0">
                <a:solidFill>
                  <a:srgbClr val="E8DCC8"/>
                </a:solidFill>
                <a:latin typeface="Quattrocento Sans" pitchFamily="34" charset="0"/>
                <a:ea typeface="Quattrocento Sans" pitchFamily="34" charset="-122"/>
                <a:cs typeface="Quattrocento Sans" pitchFamily="34" charset="-120"/>
              </a:rPr>
              <a:t>Permission</a:t>
            </a:r>
            <a:endParaRPr lang="en-US" sz="1600" dirty="0"/>
          </a:p>
        </p:txBody>
      </p:sp>
      <p:sp>
        <p:nvSpPr>
          <p:cNvPr id="19" name="Shape 17"/>
          <p:cNvSpPr/>
          <p:nvPr/>
        </p:nvSpPr>
        <p:spPr>
          <a:xfrm>
            <a:off x="11201400" y="1905000"/>
            <a:ext cx="317500" cy="0"/>
          </a:xfrm>
          <a:prstGeom prst="straightConnector1">
            <a:avLst/>
          </a:prstGeom>
          <a:noFill/>
          <a:ln w="25400">
            <a:solidFill>
              <a:srgbClr val="3A3A3E"/>
            </a:solidFill>
            <a:prstDash val="solid"/>
            <a:headEnd type="none"/>
            <a:tailEnd type="arrow"/>
          </a:ln>
        </p:spPr>
      </p:sp>
      <p:sp>
        <p:nvSpPr>
          <p:cNvPr id="20" name="Shape 18"/>
          <p:cNvSpPr/>
          <p:nvPr/>
        </p:nvSpPr>
        <p:spPr>
          <a:xfrm>
            <a:off x="11620500" y="1498600"/>
            <a:ext cx="1651000" cy="889000"/>
          </a:xfrm>
          <a:prstGeom prst="rect">
            <a:avLst/>
          </a:prstGeom>
          <a:solidFill>
            <a:srgbClr val="161618"/>
          </a:solidFill>
          <a:ln/>
        </p:spPr>
      </p:sp>
      <p:sp>
        <p:nvSpPr>
          <p:cNvPr id="21" name="Text 19"/>
          <p:cNvSpPr/>
          <p:nvPr/>
        </p:nvSpPr>
        <p:spPr>
          <a:xfrm>
            <a:off x="11684000" y="1574800"/>
            <a:ext cx="1524000" cy="736600"/>
          </a:xfrm>
          <a:prstGeom prst="rect">
            <a:avLst/>
          </a:prstGeom>
          <a:noFill/>
          <a:ln/>
        </p:spPr>
        <p:txBody>
          <a:bodyPr wrap="square" lIns="0" tIns="0" rIns="0" bIns="0" rtlCol="0" anchor="ctr"/>
          <a:lstStyle/>
          <a:p>
            <a:pPr algn="ctr">
              <a:lnSpc>
                <a:spcPct val="140000"/>
              </a:lnSpc>
            </a:pPr>
            <a:r>
              <a:rPr lang="en-US" sz="1300" b="1" dirty="0">
                <a:solidFill>
                  <a:srgbClr val="C4A265"/>
                </a:solidFill>
                <a:latin typeface="Quattrocento Sans" pitchFamily="34" charset="0"/>
                <a:ea typeface="Quattrocento Sans" pitchFamily="34" charset="-122"/>
                <a:cs typeface="Quattrocento Sans" pitchFamily="34" charset="-120"/>
              </a:rPr>
              <a:t>Step 6</a:t>
            </a:r>
            <a:endParaRPr lang="en-US" sz="1600" dirty="0"/>
          </a:p>
          <a:p>
            <a:pPr algn="ctr">
              <a:lnSpc>
                <a:spcPct val="140000"/>
              </a:lnSpc>
            </a:pPr>
            <a:r>
              <a:rPr lang="en-US" sz="1300" dirty="0">
                <a:solidFill>
                  <a:srgbClr val="E8DCC8"/>
                </a:solidFill>
                <a:latin typeface="Quattrocento Sans" pitchFamily="34" charset="0"/>
                <a:ea typeface="Quattrocento Sans" pitchFamily="34" charset="-122"/>
                <a:cs typeface="Quattrocento Sans" pitchFamily="34" charset="-120"/>
              </a:rPr>
              <a:t>tool.call()</a:t>
            </a:r>
            <a:endParaRPr lang="en-US" sz="1600" dirty="0"/>
          </a:p>
        </p:txBody>
      </p:sp>
      <p:sp>
        <p:nvSpPr>
          <p:cNvPr id="22" name="Shape 20"/>
          <p:cNvSpPr/>
          <p:nvPr/>
        </p:nvSpPr>
        <p:spPr>
          <a:xfrm>
            <a:off x="13373100" y="1905000"/>
            <a:ext cx="317500" cy="0"/>
          </a:xfrm>
          <a:prstGeom prst="straightConnector1">
            <a:avLst/>
          </a:prstGeom>
          <a:noFill/>
          <a:ln w="25400">
            <a:solidFill>
              <a:srgbClr val="3A3A3E"/>
            </a:solidFill>
            <a:prstDash val="solid"/>
            <a:headEnd type="none"/>
            <a:tailEnd type="arrow"/>
          </a:ln>
        </p:spPr>
      </p:sp>
      <p:sp>
        <p:nvSpPr>
          <p:cNvPr id="23" name="Shape 21"/>
          <p:cNvSpPr/>
          <p:nvPr/>
        </p:nvSpPr>
        <p:spPr>
          <a:xfrm>
            <a:off x="13792200" y="1498600"/>
            <a:ext cx="1701800" cy="889000"/>
          </a:xfrm>
          <a:prstGeom prst="rect">
            <a:avLst/>
          </a:prstGeom>
          <a:solidFill>
            <a:srgbClr val="161618"/>
          </a:solidFill>
          <a:ln/>
        </p:spPr>
      </p:sp>
      <p:sp>
        <p:nvSpPr>
          <p:cNvPr id="24" name="Text 22"/>
          <p:cNvSpPr/>
          <p:nvPr/>
        </p:nvSpPr>
        <p:spPr>
          <a:xfrm>
            <a:off x="13855700" y="1574800"/>
            <a:ext cx="1574800" cy="736600"/>
          </a:xfrm>
          <a:prstGeom prst="rect">
            <a:avLst/>
          </a:prstGeom>
          <a:noFill/>
          <a:ln/>
        </p:spPr>
        <p:txBody>
          <a:bodyPr wrap="square" lIns="0" tIns="0" rIns="0" bIns="0" rtlCol="0" anchor="ctr"/>
          <a:lstStyle/>
          <a:p>
            <a:pPr algn="ctr">
              <a:lnSpc>
                <a:spcPct val="140000"/>
              </a:lnSpc>
            </a:pPr>
            <a:r>
              <a:rPr lang="en-US" sz="1300" b="1" dirty="0">
                <a:solidFill>
                  <a:srgbClr val="C4A265"/>
                </a:solidFill>
                <a:latin typeface="Quattrocento Sans" pitchFamily="34" charset="0"/>
                <a:ea typeface="Quattrocento Sans" pitchFamily="34" charset="-122"/>
                <a:cs typeface="Quattrocento Sans" pitchFamily="34" charset="-120"/>
              </a:rPr>
              <a:t>Step 7</a:t>
            </a:r>
            <a:endParaRPr lang="en-US" sz="1600" dirty="0"/>
          </a:p>
          <a:p>
            <a:pPr algn="ctr">
              <a:lnSpc>
                <a:spcPct val="140000"/>
              </a:lnSpc>
            </a:pPr>
            <a:r>
              <a:rPr lang="en-US" sz="1300" dirty="0">
                <a:solidFill>
                  <a:srgbClr val="E8DCC8"/>
                </a:solidFill>
                <a:latin typeface="Quattrocento Sans" pitchFamily="34" charset="0"/>
                <a:ea typeface="Quattrocento Sans" pitchFamily="34" charset="-122"/>
                <a:cs typeface="Quattrocento Sans" pitchFamily="34" charset="-120"/>
              </a:rPr>
              <a:t>Format Result</a:t>
            </a:r>
            <a:endParaRPr lang="en-US" sz="1600" dirty="0"/>
          </a:p>
        </p:txBody>
      </p:sp>
      <p:sp>
        <p:nvSpPr>
          <p:cNvPr id="25" name="Text 23"/>
          <p:cNvSpPr/>
          <p:nvPr/>
        </p:nvSpPr>
        <p:spPr>
          <a:xfrm>
            <a:off x="762000" y="2667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Step Details</a:t>
            </a:r>
            <a:endParaRPr lang="en-US" sz="2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62000" y="3149600"/>
          <a:ext cx="14732000" cy="3302000"/>
        </p:xfrm>
        <a:graphic>
          <a:graphicData uri="http://schemas.openxmlformats.org/drawingml/2006/table">
            <a:tbl>
              <a:tblPr/>
              <a:tblGrid>
                <a:gridCol w="1767840"/>
                <a:gridCol w="4419600"/>
                <a:gridCol w="8544560"/>
              </a:tblGrid>
              <a:tr h="368300">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Step</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Action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Purpose / Failure Handling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4191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1</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findToolByName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If not found → directly generate error tool_result (single tool failure != Agent crash)</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191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2</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inputSchema.safeParse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Structural validation — Zod schema check for type/shape correctness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191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3</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tool.validateInput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Business semantic validation — path allowed? parameter combination valid?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191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4</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PreToolUse hooks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Can add messages, modify input, give permission suggestions, block execution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191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5</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Permission decision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resolveHookPermissionDecision + canUseTool → allow / ask / deny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191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6</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Execute tool.call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Actual tool execution — returns ToolResult&lt;T&gt;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191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7</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Format tool_result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Map result to standardized tool_result block for model consumption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bl>
          </a:graphicData>
        </a:graphic>
      </p:graphicFrame>
      <p:sp>
        <p:nvSpPr>
          <p:cNvPr id="27" name="Shape 24"/>
          <p:cNvSpPr/>
          <p:nvPr/>
        </p:nvSpPr>
        <p:spPr>
          <a:xfrm>
            <a:off x="762000" y="6731000"/>
            <a:ext cx="50800" cy="1524000"/>
          </a:xfrm>
          <a:prstGeom prst="rect">
            <a:avLst/>
          </a:prstGeom>
          <a:solidFill>
            <a:srgbClr val="C4A265"/>
          </a:solidFill>
          <a:ln/>
        </p:spPr>
      </p:sp>
      <p:sp>
        <p:nvSpPr>
          <p:cNvPr id="28" name="Text 25"/>
          <p:cNvSpPr/>
          <p:nvPr/>
        </p:nvSpPr>
        <p:spPr>
          <a:xfrm>
            <a:off x="1016000" y="6731000"/>
            <a:ext cx="14224000" cy="1524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Step 1 failure handling is critical — if a tool is not found, the system generates an error tool_result rather than crashing the entire Agent. This is the "trajectory self-consistency" principle in action: every tool_use must have a matching tool_result, even if the tool doesn't exist. The model can then reason about the error and try a different approach.</a:t>
            </a:r>
            <a:endParaRPr lang="en-US" sz="1800" dirty="0"/>
          </a:p>
        </p:txBody>
      </p:sp>
      <p:sp>
        <p:nvSpPr>
          <p:cNvPr id="29" name="Shape 26"/>
          <p:cNvSpPr/>
          <p:nvPr/>
        </p:nvSpPr>
        <p:spPr>
          <a:xfrm>
            <a:off x="762000" y="8636000"/>
            <a:ext cx="14732000" cy="12700"/>
          </a:xfrm>
          <a:prstGeom prst="rect">
            <a:avLst/>
          </a:prstGeom>
          <a:solidFill>
            <a:srgbClr val="3A3A3E"/>
          </a:solidFill>
          <a:ln/>
        </p:spPr>
      </p:sp>
      <p:sp>
        <p:nvSpPr>
          <p:cNvPr id="30" name="Text 27"/>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src/services/tools/toolExecution.ts:614-1744</a:t>
            </a:r>
            <a:endParaRPr lang="en-US" sz="1300" dirty="0"/>
          </a:p>
        </p:txBody>
      </p:sp>
    </p:spTree>
  </p:cSld>
  <p:clrMapOvr>
    <a:masterClrMapping/>
  </p:clrMapOvr>
  <p:transition>
    <p:fade/>
    <p:spd val="med"/>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05 TOOL EXECUTION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Permission Denial is Not Exception — It's Observation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98600"/>
            <a:ext cx="14732000" cy="508000"/>
          </a:xfrm>
          <a:prstGeom prst="rect">
            <a:avLst/>
          </a:prstGeom>
          <a:noFill/>
          <a:ln/>
        </p:spPr>
        <p:txBody>
          <a:bodyPr wrap="square" lIns="0" tIns="0" rIns="0" bIns="0" rtlCol="0" anchor="ctr"/>
          <a:lstStyle/>
          <a:p>
            <a:pPr>
              <a:lnSpc>
                <a:spcPct val="100000"/>
              </a:lnSpc>
            </a:pPr>
            <a:r>
              <a:rPr lang="en-US" sz="2200" b="1" dirty="0">
                <a:solidFill>
                  <a:srgbClr val="C4A265"/>
                </a:solidFill>
                <a:latin typeface="Liter" pitchFamily="34" charset="0"/>
                <a:ea typeface="Liter" pitchFamily="34" charset="-122"/>
                <a:cs typeface="Liter" pitchFamily="34" charset="-120"/>
              </a:rPr>
              <a:t>Permission denial is not a loop termination signal — it's the model's observation result.</a:t>
            </a:r>
            <a:endParaRPr lang="en-US" sz="1600" dirty="0"/>
          </a:p>
        </p:txBody>
      </p:sp>
      <p:sp>
        <p:nvSpPr>
          <p:cNvPr id="6" name="Shape 4"/>
          <p:cNvSpPr/>
          <p:nvPr/>
        </p:nvSpPr>
        <p:spPr>
          <a:xfrm>
            <a:off x="762000" y="2222500"/>
            <a:ext cx="14732000" cy="1651000"/>
          </a:xfrm>
          <a:prstGeom prst="roundRect">
            <a:avLst>
              <a:gd name="adj" fmla="val 4000"/>
            </a:avLst>
          </a:prstGeom>
          <a:solidFill>
            <a:srgbClr val="161618"/>
          </a:solidFill>
          <a:ln/>
        </p:spPr>
      </p:sp>
      <p:sp>
        <p:nvSpPr>
          <p:cNvPr id="7" name="Text 5"/>
          <p:cNvSpPr/>
          <p:nvPr/>
        </p:nvSpPr>
        <p:spPr>
          <a:xfrm>
            <a:off x="1016000" y="2324100"/>
            <a:ext cx="14224000" cy="1447800"/>
          </a:xfrm>
          <a:prstGeom prst="rect">
            <a:avLst/>
          </a:prstGeom>
          <a:noFill/>
          <a:ln/>
        </p:spPr>
        <p:txBody>
          <a:bodyPr wrap="square" lIns="0" tIns="0" rIns="0" bIns="0" rtlCol="0" anchor="t"/>
          <a:lstStyle/>
          <a:p>
            <a:pPr>
              <a:lnSpc>
                <a:spcPct val="150000"/>
              </a:lnSpc>
            </a:pPr>
            <a:r>
              <a:rPr lang="en-US" sz="1500" dirty="0">
                <a:solidFill>
                  <a:srgbClr val="C4A265"/>
                </a:solidFill>
                <a:latin typeface="MiSans" pitchFamily="34" charset="0"/>
                <a:ea typeface="MiSans" pitchFamily="34" charset="-122"/>
                <a:cs typeface="MiSans" pitchFamily="34" charset="-120"/>
              </a:rPr>
              <a:t>// src/services/tools/toolExecution.ts:995-1103</a:t>
            </a:r>
            <a:endParaRPr lang="en-US" sz="1600" dirty="0"/>
          </a:p>
          <a:p>
            <a:pPr>
              <a:lnSpc>
                <a:spcPct val="150000"/>
              </a:lnSpc>
            </a:pPr>
            <a:r>
              <a:rPr lang="en-US" sz="1500" dirty="0">
                <a:solidFill>
                  <a:srgbClr val="C4A265"/>
                </a:solidFill>
                <a:latin typeface="MiSans" pitchFamily="34" charset="0"/>
                <a:ea typeface="MiSans" pitchFamily="34" charset="-122"/>
                <a:cs typeface="MiSans" pitchFamily="34" charset="-120"/>
              </a:rPr>
              <a:t>// When permission is not allow:</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const result = toolResult({ is_error: true, content: "Permission denied: ..." });</a:t>
            </a:r>
            <a:endParaRPr lang="en-US" sz="1600" dirty="0"/>
          </a:p>
          <a:p>
            <a:pPr>
              <a:lnSpc>
                <a:spcPct val="150000"/>
              </a:lnSpc>
            </a:pPr>
            <a:r>
              <a:rPr lang="en-US" sz="1500" dirty="0">
                <a:solidFill>
                  <a:srgbClr val="E8DCC8"/>
                </a:solidFill>
                <a:latin typeface="MiSans" pitchFamily="34" charset="0"/>
                <a:ea typeface="MiSans" pitchFamily="34" charset="-122"/>
                <a:cs typeface="MiSans" pitchFamily="34" charset="-120"/>
              </a:rPr>
              <a:t>userMessage.tool_results.push(result); </a:t>
            </a:r>
            <a:pPr>
              <a:lnSpc>
                <a:spcPct val="150000"/>
              </a:lnSpc>
            </a:pPr>
            <a:r>
              <a:rPr lang="en-US" sz="1500" dirty="0">
                <a:solidFill>
                  <a:srgbClr val="9A9590"/>
                </a:solidFill>
                <a:latin typeface="MiSans" pitchFamily="34" charset="0"/>
                <a:ea typeface="MiSans" pitchFamily="34" charset="-122"/>
                <a:cs typeface="MiSans" pitchFamily="34" charset="-120"/>
              </a:rPr>
              <a:t>// Backfill as normal observation</a:t>
            </a:r>
            <a:endParaRPr lang="en-US" sz="1600" dirty="0"/>
          </a:p>
          <a:p>
            <a:pPr>
              <a:lnSpc>
                <a:spcPct val="150000"/>
              </a:lnSpc>
            </a:pPr>
            <a:r>
              <a:rPr lang="en-US" sz="1500" dirty="0">
                <a:solidFill>
                  <a:srgbClr val="9A9590"/>
                </a:solidFill>
                <a:latin typeface="MiSans" pitchFamily="34" charset="0"/>
                <a:ea typeface="MiSans" pitchFamily="34" charset="-122"/>
                <a:cs typeface="MiSans" pitchFamily="34" charset="-120"/>
              </a:rPr>
              <a:t>// Model can then: try different approach, explain to user, continue other tasks</a:t>
            </a:r>
            <a:endParaRPr lang="en-US" sz="1600" dirty="0"/>
          </a:p>
        </p:txBody>
      </p:sp>
      <p:sp>
        <p:nvSpPr>
          <p:cNvPr id="8" name="Text 6"/>
          <p:cNvSpPr/>
          <p:nvPr/>
        </p:nvSpPr>
        <p:spPr>
          <a:xfrm>
            <a:off x="762000" y="4127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Model's Options After Permission Denial</a:t>
            </a:r>
            <a:endParaRPr lang="en-US" sz="2200" dirty="0"/>
          </a:p>
        </p:txBody>
      </p:sp>
      <p:sp>
        <p:nvSpPr>
          <p:cNvPr id="9" name="Shape 7"/>
          <p:cNvSpPr/>
          <p:nvPr/>
        </p:nvSpPr>
        <p:spPr>
          <a:xfrm>
            <a:off x="762000" y="4635500"/>
            <a:ext cx="4699000" cy="1143000"/>
          </a:xfrm>
          <a:prstGeom prst="rect">
            <a:avLst/>
          </a:prstGeom>
          <a:solidFill>
            <a:srgbClr val="161618"/>
          </a:solidFill>
          <a:ln/>
        </p:spPr>
      </p:sp>
      <p:sp>
        <p:nvSpPr>
          <p:cNvPr id="10" name="Text 8"/>
          <p:cNvSpPr/>
          <p:nvPr/>
        </p:nvSpPr>
        <p:spPr>
          <a:xfrm>
            <a:off x="1016000" y="4737100"/>
            <a:ext cx="4191000" cy="939800"/>
          </a:xfrm>
          <a:prstGeom prst="rect">
            <a:avLst/>
          </a:prstGeom>
          <a:noFill/>
          <a:ln/>
        </p:spPr>
        <p:txBody>
          <a:bodyPr wrap="square" lIns="0" tIns="0" rIns="0" bIns="0" rtlCol="0" anchor="t"/>
          <a:lstStyle/>
          <a:p>
            <a:pPr>
              <a:lnSpc>
                <a:spcPct val="150000"/>
              </a:lnSpc>
            </a:pPr>
            <a:r>
              <a:rPr lang="en-US" sz="1600" b="1" dirty="0">
                <a:solidFill>
                  <a:srgbClr val="C4A265"/>
                </a:solidFill>
                <a:latin typeface="Quattrocento Sans" pitchFamily="34" charset="0"/>
                <a:ea typeface="Quattrocento Sans" pitchFamily="34" charset="-122"/>
                <a:cs typeface="Quattrocento Sans" pitchFamily="34" charset="-120"/>
              </a:rPr>
              <a:t>Try Different Approach</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Use alternative tools or methods that don't require the denied permission</a:t>
            </a:r>
            <a:endParaRPr lang="en-US" sz="1600" dirty="0"/>
          </a:p>
        </p:txBody>
      </p:sp>
      <p:sp>
        <p:nvSpPr>
          <p:cNvPr id="11" name="Shape 9"/>
          <p:cNvSpPr/>
          <p:nvPr/>
        </p:nvSpPr>
        <p:spPr>
          <a:xfrm>
            <a:off x="5715000" y="4635500"/>
            <a:ext cx="4699000" cy="1143000"/>
          </a:xfrm>
          <a:prstGeom prst="rect">
            <a:avLst/>
          </a:prstGeom>
          <a:solidFill>
            <a:srgbClr val="161618"/>
          </a:solidFill>
          <a:ln/>
        </p:spPr>
      </p:sp>
      <p:sp>
        <p:nvSpPr>
          <p:cNvPr id="12" name="Text 10"/>
          <p:cNvSpPr/>
          <p:nvPr/>
        </p:nvSpPr>
        <p:spPr>
          <a:xfrm>
            <a:off x="5969000" y="4737100"/>
            <a:ext cx="4191000" cy="939800"/>
          </a:xfrm>
          <a:prstGeom prst="rect">
            <a:avLst/>
          </a:prstGeom>
          <a:noFill/>
          <a:ln/>
        </p:spPr>
        <p:txBody>
          <a:bodyPr wrap="square" lIns="0" tIns="0" rIns="0" bIns="0" rtlCol="0" anchor="t"/>
          <a:lstStyle/>
          <a:p>
            <a:pPr>
              <a:lnSpc>
                <a:spcPct val="150000"/>
              </a:lnSpc>
            </a:pPr>
            <a:r>
              <a:rPr lang="en-US" sz="1600" b="1" dirty="0">
                <a:solidFill>
                  <a:srgbClr val="C4A265"/>
                </a:solidFill>
                <a:latin typeface="Quattrocento Sans" pitchFamily="34" charset="0"/>
                <a:ea typeface="Quattrocento Sans" pitchFamily="34" charset="-122"/>
                <a:cs typeface="Quattrocento Sans" pitchFamily="34" charset="-120"/>
              </a:rPr>
              <a:t>Explain to User</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Describe why permission is needed and ask user to grant it</a:t>
            </a:r>
            <a:endParaRPr lang="en-US" sz="1600" dirty="0"/>
          </a:p>
        </p:txBody>
      </p:sp>
      <p:sp>
        <p:nvSpPr>
          <p:cNvPr id="13" name="Shape 11"/>
          <p:cNvSpPr/>
          <p:nvPr/>
        </p:nvSpPr>
        <p:spPr>
          <a:xfrm>
            <a:off x="10668000" y="4635500"/>
            <a:ext cx="4826000" cy="1143000"/>
          </a:xfrm>
          <a:prstGeom prst="rect">
            <a:avLst/>
          </a:prstGeom>
          <a:solidFill>
            <a:srgbClr val="161618"/>
          </a:solidFill>
          <a:ln/>
        </p:spPr>
      </p:sp>
      <p:sp>
        <p:nvSpPr>
          <p:cNvPr id="14" name="Text 12"/>
          <p:cNvSpPr/>
          <p:nvPr/>
        </p:nvSpPr>
        <p:spPr>
          <a:xfrm>
            <a:off x="10922000" y="4737100"/>
            <a:ext cx="4318000" cy="939800"/>
          </a:xfrm>
          <a:prstGeom prst="rect">
            <a:avLst/>
          </a:prstGeom>
          <a:noFill/>
          <a:ln/>
        </p:spPr>
        <p:txBody>
          <a:bodyPr wrap="square" lIns="0" tIns="0" rIns="0" bIns="0" rtlCol="0" anchor="t"/>
          <a:lstStyle/>
          <a:p>
            <a:pPr>
              <a:lnSpc>
                <a:spcPct val="150000"/>
              </a:lnSpc>
            </a:pPr>
            <a:r>
              <a:rPr lang="en-US" sz="1600" b="1" dirty="0">
                <a:solidFill>
                  <a:srgbClr val="C4A265"/>
                </a:solidFill>
                <a:latin typeface="Quattrocento Sans" pitchFamily="34" charset="0"/>
                <a:ea typeface="Quattrocento Sans" pitchFamily="34" charset="-122"/>
                <a:cs typeface="Quattrocento Sans" pitchFamily="34" charset="-120"/>
              </a:rPr>
              <a:t>Continue Other Tasks</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Proceed with unrelated work while noting the blocked action</a:t>
            </a:r>
            <a:endParaRPr lang="en-US" sz="1600" dirty="0"/>
          </a:p>
        </p:txBody>
      </p:sp>
      <p:sp>
        <p:nvSpPr>
          <p:cNvPr id="15" name="Text 13"/>
          <p:cNvSpPr/>
          <p:nvPr/>
        </p:nvSpPr>
        <p:spPr>
          <a:xfrm>
            <a:off x="762000" y="60706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Auto-Mode Classifier: Retry Hint</a:t>
            </a:r>
            <a:endParaRPr lang="en-US" sz="2200" dirty="0"/>
          </a:p>
        </p:txBody>
      </p:sp>
      <p:sp>
        <p:nvSpPr>
          <p:cNvPr id="16" name="Text 14"/>
          <p:cNvSpPr/>
          <p:nvPr/>
        </p:nvSpPr>
        <p:spPr>
          <a:xfrm>
            <a:off x="762000" y="6527800"/>
            <a:ext cx="14732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If auto-mode classifier denies,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PermissionDenied hook</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can tell model "you can retry now". This creates a feedback loop: model tries → denied → told it can retry → retries with different parameters → may succeed. The hook system turns permission into a conversational mechanism, not a hard gate.</a:t>
            </a:r>
            <a:endParaRPr lang="en-US" sz="1800" dirty="0"/>
          </a:p>
        </p:txBody>
      </p:sp>
      <p:sp>
        <p:nvSpPr>
          <p:cNvPr id="17" name="Shape 15"/>
          <p:cNvSpPr/>
          <p:nvPr/>
        </p:nvSpPr>
        <p:spPr>
          <a:xfrm>
            <a:off x="762000" y="7620000"/>
            <a:ext cx="50800" cy="635000"/>
          </a:xfrm>
          <a:prstGeom prst="rect">
            <a:avLst/>
          </a:prstGeom>
          <a:solidFill>
            <a:srgbClr val="C4A265"/>
          </a:solidFill>
          <a:ln/>
        </p:spPr>
      </p:sp>
      <p:sp>
        <p:nvSpPr>
          <p:cNvPr id="18" name="Text 16"/>
          <p:cNvSpPr/>
          <p:nvPr/>
        </p:nvSpPr>
        <p:spPr>
          <a:xfrm>
            <a:off x="1016000" y="7620000"/>
            <a:ext cx="14224000" cy="635000"/>
          </a:xfrm>
          <a:prstGeom prst="rect">
            <a:avLst/>
          </a:prstGeom>
          <a:noFill/>
          <a:ln/>
        </p:spPr>
        <p:txBody>
          <a:bodyPr wrap="square" lIns="0" tIns="0" rIns="0" bIns="0" rtlCol="0" anchor="ctr"/>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This is the fundamental difference between Agent architecture and ordinary function calling.</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In function calling, permission denied = exception thrown. In agents, permission denied = observation consumed.</a:t>
            </a:r>
            <a:endParaRPr lang="en-US" sz="1600" dirty="0"/>
          </a:p>
        </p:txBody>
      </p:sp>
      <p:sp>
        <p:nvSpPr>
          <p:cNvPr id="19" name="Shape 17"/>
          <p:cNvSpPr/>
          <p:nvPr/>
        </p:nvSpPr>
        <p:spPr>
          <a:xfrm>
            <a:off x="762000" y="8636000"/>
            <a:ext cx="14732000" cy="12700"/>
          </a:xfrm>
          <a:prstGeom prst="rect">
            <a:avLst/>
          </a:prstGeom>
          <a:solidFill>
            <a:srgbClr val="3A3A3E"/>
          </a:solidFill>
          <a:ln/>
        </p:spPr>
      </p:sp>
      <p:sp>
        <p:nvSpPr>
          <p:cNvPr id="20" name="Text 18"/>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src/services/tools/toolExecution.ts:995-1103</a:t>
            </a:r>
            <a:endParaRPr lang="en-US" sz="1300" dirty="0"/>
          </a:p>
        </p:txBody>
      </p:sp>
    </p:spTree>
  </p:cSld>
  <p:clrMapOvr>
    <a:masterClrMapping/>
  </p:clrMapOvr>
  <p:transition>
    <p:fade/>
    <p:spd val="med"/>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05 TOOL EXECUTION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Input Governance: Three-Layer Validation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4699000" cy="1905000"/>
          </a:xfrm>
          <a:prstGeom prst="rect">
            <a:avLst/>
          </a:prstGeom>
          <a:solidFill>
            <a:srgbClr val="161618"/>
          </a:solidFill>
          <a:ln/>
        </p:spPr>
      </p:sp>
      <p:sp>
        <p:nvSpPr>
          <p:cNvPr id="6" name="Shape 4"/>
          <p:cNvSpPr/>
          <p:nvPr/>
        </p:nvSpPr>
        <p:spPr>
          <a:xfrm>
            <a:off x="762000" y="1524000"/>
            <a:ext cx="4699000" cy="50800"/>
          </a:xfrm>
          <a:prstGeom prst="rect">
            <a:avLst/>
          </a:prstGeom>
          <a:solidFill>
            <a:srgbClr val="C4A265"/>
          </a:solidFill>
          <a:ln/>
        </p:spPr>
      </p:sp>
      <p:sp>
        <p:nvSpPr>
          <p:cNvPr id="7" name="Text 5"/>
          <p:cNvSpPr/>
          <p:nvPr/>
        </p:nvSpPr>
        <p:spPr>
          <a:xfrm>
            <a:off x="952500" y="1676400"/>
            <a:ext cx="4318000" cy="3048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Layer 1: inputSchema.safeParse</a:t>
            </a:r>
            <a:endParaRPr lang="en-US" sz="1600" dirty="0"/>
          </a:p>
        </p:txBody>
      </p:sp>
      <p:sp>
        <p:nvSpPr>
          <p:cNvPr id="8" name="Text 6"/>
          <p:cNvSpPr/>
          <p:nvPr/>
        </p:nvSpPr>
        <p:spPr>
          <a:xfrm>
            <a:off x="952500" y="2057400"/>
            <a:ext cx="4318000" cy="12065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Zod structural validation</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Type and shape correctness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Failure → tool_result(is_error=true)</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src/toolExecution.ts:614-680</a:t>
            </a:r>
            <a:endParaRPr lang="en-US" sz="1600" dirty="0"/>
          </a:p>
        </p:txBody>
      </p:sp>
      <p:sp>
        <p:nvSpPr>
          <p:cNvPr id="9" name="Shape 7"/>
          <p:cNvSpPr/>
          <p:nvPr/>
        </p:nvSpPr>
        <p:spPr>
          <a:xfrm>
            <a:off x="5715000" y="1524000"/>
            <a:ext cx="4699000" cy="1905000"/>
          </a:xfrm>
          <a:prstGeom prst="rect">
            <a:avLst/>
          </a:prstGeom>
          <a:solidFill>
            <a:srgbClr val="161618"/>
          </a:solidFill>
          <a:ln/>
        </p:spPr>
      </p:sp>
      <p:sp>
        <p:nvSpPr>
          <p:cNvPr id="10" name="Shape 8"/>
          <p:cNvSpPr/>
          <p:nvPr/>
        </p:nvSpPr>
        <p:spPr>
          <a:xfrm>
            <a:off x="5715000" y="1524000"/>
            <a:ext cx="4699000" cy="50800"/>
          </a:xfrm>
          <a:prstGeom prst="rect">
            <a:avLst/>
          </a:prstGeom>
          <a:solidFill>
            <a:srgbClr val="6B8E6B"/>
          </a:solidFill>
          <a:ln/>
        </p:spPr>
      </p:sp>
      <p:sp>
        <p:nvSpPr>
          <p:cNvPr id="11" name="Text 9"/>
          <p:cNvSpPr/>
          <p:nvPr/>
        </p:nvSpPr>
        <p:spPr>
          <a:xfrm>
            <a:off x="5905500" y="1676400"/>
            <a:ext cx="4318000" cy="304800"/>
          </a:xfrm>
          <a:prstGeom prst="rect">
            <a:avLst/>
          </a:prstGeom>
          <a:noFill/>
          <a:ln/>
        </p:spPr>
        <p:txBody>
          <a:bodyPr wrap="none" lIns="0" tIns="0" rIns="0" bIns="0" rtlCol="0" anchor="ctr"/>
          <a:lstStyle/>
          <a:p>
            <a:pPr>
              <a:lnSpc>
                <a:spcPct val="100000"/>
              </a:lnSpc>
            </a:pPr>
            <a:r>
              <a:rPr lang="en-US" sz="1800" b="1" dirty="0">
                <a:solidFill>
                  <a:srgbClr val="8FBC8F"/>
                </a:solidFill>
                <a:latin typeface="Liter" pitchFamily="34" charset="0"/>
                <a:ea typeface="Liter" pitchFamily="34" charset="-122"/>
                <a:cs typeface="Liter" pitchFamily="34" charset="-120"/>
              </a:rPr>
              <a:t>Layer 2: tool.validateInput</a:t>
            </a:r>
            <a:endParaRPr lang="en-US" sz="1600" dirty="0"/>
          </a:p>
        </p:txBody>
      </p:sp>
      <p:sp>
        <p:nvSpPr>
          <p:cNvPr id="12" name="Text 10"/>
          <p:cNvSpPr/>
          <p:nvPr/>
        </p:nvSpPr>
        <p:spPr>
          <a:xfrm>
            <a:off x="5905500" y="2057400"/>
            <a:ext cx="4318000" cy="12065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Business semantic validation</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Path allowed? Value range?</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Failure → tool_result(is_error=true)</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src/toolExecution.ts:682-733</a:t>
            </a:r>
            <a:endParaRPr lang="en-US" sz="1600" dirty="0"/>
          </a:p>
        </p:txBody>
      </p:sp>
      <p:sp>
        <p:nvSpPr>
          <p:cNvPr id="13" name="Shape 11"/>
          <p:cNvSpPr/>
          <p:nvPr/>
        </p:nvSpPr>
        <p:spPr>
          <a:xfrm>
            <a:off x="10668000" y="1524000"/>
            <a:ext cx="4826000" cy="1905000"/>
          </a:xfrm>
          <a:prstGeom prst="rect">
            <a:avLst/>
          </a:prstGeom>
          <a:solidFill>
            <a:srgbClr val="161618"/>
          </a:solidFill>
          <a:ln/>
        </p:spPr>
      </p:sp>
      <p:sp>
        <p:nvSpPr>
          <p:cNvPr id="14" name="Shape 12"/>
          <p:cNvSpPr/>
          <p:nvPr/>
        </p:nvSpPr>
        <p:spPr>
          <a:xfrm>
            <a:off x="10668000" y="1524000"/>
            <a:ext cx="4826000" cy="50800"/>
          </a:xfrm>
          <a:prstGeom prst="rect">
            <a:avLst/>
          </a:prstGeom>
          <a:solidFill>
            <a:srgbClr val="8B7B6B"/>
          </a:solidFill>
          <a:ln/>
        </p:spPr>
      </p:sp>
      <p:sp>
        <p:nvSpPr>
          <p:cNvPr id="15" name="Text 13"/>
          <p:cNvSpPr/>
          <p:nvPr/>
        </p:nvSpPr>
        <p:spPr>
          <a:xfrm>
            <a:off x="10858500" y="1676400"/>
            <a:ext cx="4445000" cy="304800"/>
          </a:xfrm>
          <a:prstGeom prst="rect">
            <a:avLst/>
          </a:prstGeom>
          <a:noFill/>
          <a:ln/>
        </p:spPr>
        <p:txBody>
          <a:bodyPr wrap="none" lIns="0" tIns="0" rIns="0" bIns="0" rtlCol="0" anchor="ctr"/>
          <a:lstStyle/>
          <a:p>
            <a:pPr>
              <a:lnSpc>
                <a:spcPct val="100000"/>
              </a:lnSpc>
            </a:pPr>
            <a:r>
              <a:rPr lang="en-US" sz="1800" b="1" dirty="0">
                <a:solidFill>
                  <a:srgbClr val="C4A88A"/>
                </a:solidFill>
                <a:latin typeface="Liter" pitchFamily="34" charset="0"/>
                <a:ea typeface="Liter" pitchFamily="34" charset="-122"/>
                <a:cs typeface="Liter" pitchFamily="34" charset="-120"/>
              </a:rPr>
              <a:t>Layer 3: Defense-in-Depth</a:t>
            </a:r>
            <a:endParaRPr lang="en-US" sz="1600" dirty="0"/>
          </a:p>
        </p:txBody>
      </p:sp>
      <p:sp>
        <p:nvSpPr>
          <p:cNvPr id="16" name="Text 14"/>
          <p:cNvSpPr/>
          <p:nvPr/>
        </p:nvSpPr>
        <p:spPr>
          <a:xfrm>
            <a:off x="10858500" y="2057400"/>
            <a:ext cx="4445000" cy="12065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Sanitization of internal fields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e.g., strip _simulatedSedEdit</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Prevents model from bypassing</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src/toolExecution.ts:756-773</a:t>
            </a:r>
            <a:endParaRPr lang="en-US" sz="1600" dirty="0"/>
          </a:p>
        </p:txBody>
      </p:sp>
      <p:sp>
        <p:nvSpPr>
          <p:cNvPr id="17" name="Text 15"/>
          <p:cNvSpPr/>
          <p:nvPr/>
        </p:nvSpPr>
        <p:spPr>
          <a:xfrm>
            <a:off x="762000" y="3683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Key Design: Errors Are Normal Observations</a:t>
            </a:r>
            <a:endParaRPr lang="en-US" sz="2200" dirty="0"/>
          </a:p>
        </p:txBody>
      </p:sp>
      <p:sp>
        <p:nvSpPr>
          <p:cNvPr id="18" name="Text 16"/>
          <p:cNvSpPr/>
          <p:nvPr/>
        </p:nvSpPr>
        <p:spPr>
          <a:xfrm>
            <a:off x="762000" y="4127500"/>
            <a:ext cx="14732000" cy="635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Tool layer errors are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not part of exception flow</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they're normal observations that model's next round of reasoning must consume. Every validation failure produces a structured tool_result that the model can learn from.</a:t>
            </a:r>
            <a:endParaRPr lang="en-US" sz="1800" dirty="0"/>
          </a:p>
        </p:txBody>
      </p:sp>
      <p:sp>
        <p:nvSpPr>
          <p:cNvPr id="19" name="Text 17"/>
          <p:cNvSpPr/>
          <p:nvPr/>
        </p:nvSpPr>
        <p:spPr>
          <a:xfrm>
            <a:off x="762000" y="50165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processedInput vs callInput Separation</a:t>
            </a:r>
            <a:endParaRPr lang="en-US" sz="2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62000" y="5499100"/>
          <a:ext cx="14732000" cy="1524000"/>
        </p:xfrm>
        <a:graphic>
          <a:graphicData uri="http://schemas.openxmlformats.org/drawingml/2006/table">
            <a:tbl>
              <a:tblPr/>
              <a:tblGrid>
                <a:gridCol w="3683000"/>
                <a:gridCol w="5156200"/>
                <a:gridCol w="5892800"/>
              </a:tblGrid>
              <a:tr h="457200">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Field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Used For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Why Separate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5334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processedInput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hooks, permissions, telemetry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Needs expanded paths for policy checks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5334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callInput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tool.call() actual execution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Preserves original for VCR fixture hash consistency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bl>
          </a:graphicData>
        </a:graphic>
      </p:graphicFrame>
      <p:sp>
        <p:nvSpPr>
          <p:cNvPr id="21" name="Shape 18"/>
          <p:cNvSpPr/>
          <p:nvPr/>
        </p:nvSpPr>
        <p:spPr>
          <a:xfrm>
            <a:off x="762000" y="7302500"/>
            <a:ext cx="50800" cy="1016000"/>
          </a:xfrm>
          <a:prstGeom prst="rect">
            <a:avLst/>
          </a:prstGeom>
          <a:solidFill>
            <a:srgbClr val="C4A265"/>
          </a:solidFill>
          <a:ln/>
        </p:spPr>
      </p:sp>
      <p:sp>
        <p:nvSpPr>
          <p:cNvPr id="22" name="Text 19"/>
          <p:cNvSpPr/>
          <p:nvPr/>
        </p:nvSpPr>
        <p:spPr>
          <a:xfrm>
            <a:off x="1016000" y="73025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Why separate?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Path expansion for policy checks (processedInput) must not change what the tool actually receives (callInput). If callInput included expanded paths, VCR test fixtures would have different hashes across environments. This separation maintains test reproducibility.</a:t>
            </a:r>
            <a:endParaRPr lang="en-US" sz="1800" dirty="0"/>
          </a:p>
        </p:txBody>
      </p:sp>
      <p:sp>
        <p:nvSpPr>
          <p:cNvPr id="23" name="Shape 20"/>
          <p:cNvSpPr/>
          <p:nvPr/>
        </p:nvSpPr>
        <p:spPr>
          <a:xfrm>
            <a:off x="762000" y="8636000"/>
            <a:ext cx="14732000" cy="12700"/>
          </a:xfrm>
          <a:prstGeom prst="rect">
            <a:avLst/>
          </a:prstGeom>
          <a:solidFill>
            <a:srgbClr val="3A3A3E"/>
          </a:solidFill>
          <a:ln/>
        </p:spPr>
      </p:sp>
      <p:sp>
        <p:nvSpPr>
          <p:cNvPr id="24" name="Text 21"/>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src/services/tools/toolExecution.ts:614-773, 775-793, 1181-1205</a:t>
            </a:r>
            <a:endParaRPr lang="en-US" sz="1300" dirty="0"/>
          </a:p>
        </p:txBody>
      </p:sp>
    </p:spTree>
  </p:cSld>
  <p:clrMapOvr>
    <a:masterClrMapping/>
  </p:clrMapOvr>
  <p:transition>
    <p:fade/>
    <p:spd val="med"/>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05 TOOL EXECUTION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Hooks: The Interception Layer of Tool Execution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14732000" cy="889000"/>
          </a:xfrm>
          <a:prstGeom prst="roundRect">
            <a:avLst>
              <a:gd name="adj" fmla="val 4000"/>
            </a:avLst>
          </a:prstGeom>
          <a:solidFill>
            <a:srgbClr val="161618"/>
          </a:solidFill>
          <a:ln/>
        </p:spPr>
      </p:sp>
      <p:sp>
        <p:nvSpPr>
          <p:cNvPr id="6" name="Text 4"/>
          <p:cNvSpPr/>
          <p:nvPr/>
        </p:nvSpPr>
        <p:spPr>
          <a:xfrm>
            <a:off x="1016000" y="1651000"/>
            <a:ext cx="14224000" cy="635000"/>
          </a:xfrm>
          <a:prstGeom prst="rect">
            <a:avLst/>
          </a:prstGeom>
          <a:noFill/>
          <a:ln/>
        </p:spPr>
        <p:txBody>
          <a:bodyPr wrap="square" lIns="0" tIns="0" rIns="0" bIns="0" rtlCol="0" anchor="ctr"/>
          <a:lstStyle/>
          <a:p>
            <a:pPr algn="ct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PreToolUse hooks</a:t>
            </a:r>
            <a:pPr algn="ct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Permission → </a:t>
            </a:r>
            <a:pPr algn="ctr">
              <a:lnSpc>
                <a:spcPct val="150000"/>
              </a:lnSpc>
            </a:pPr>
            <a:r>
              <a:rPr lang="en-US" sz="1600" dirty="0">
                <a:solidFill>
                  <a:srgbClr val="8FBC8F"/>
                </a:solidFill>
                <a:latin typeface="Quattrocento Sans" pitchFamily="34" charset="0"/>
                <a:ea typeface="Quattrocento Sans" pitchFamily="34" charset="-122"/>
                <a:cs typeface="Quattrocento Sans" pitchFamily="34" charset="-120"/>
              </a:rPr>
              <a:t>tool.call()</a:t>
            </a:r>
            <a:pPr algn="ct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a:t>
            </a:r>
            <a:pPr algn="ct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PostToolUse hooks</a:t>
            </a:r>
            <a:pPr algn="ct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a:t>
            </a:r>
            <a:pPr algn="ctr">
              <a:lnSpc>
                <a:spcPct val="150000"/>
              </a:lnSpc>
            </a:pPr>
            <a:r>
              <a:rPr lang="en-US" sz="1600" dirty="0">
                <a:solidFill>
                  <a:srgbClr val="D4A088"/>
                </a:solidFill>
                <a:latin typeface="Quattrocento Sans" pitchFamily="34" charset="0"/>
                <a:ea typeface="Quattrocento Sans" pitchFamily="34" charset="-122"/>
                <a:cs typeface="Quattrocento Sans" pitchFamily="34" charset="-120"/>
              </a:rPr>
              <a:t>PostToolUseFailure hooks</a:t>
            </a:r>
            <a:endParaRPr lang="en-US" sz="1600" dirty="0"/>
          </a:p>
        </p:txBody>
      </p:sp>
      <p:sp>
        <p:nvSpPr>
          <p:cNvPr id="7" name="Text 5"/>
          <p:cNvSpPr/>
          <p:nvPr/>
        </p:nvSpPr>
        <p:spPr>
          <a:xfrm>
            <a:off x="762000" y="2667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Key Reliability Guarantees</a:t>
            </a:r>
            <a:endParaRPr lang="en-US" sz="2200" dirty="0"/>
          </a:p>
        </p:txBody>
      </p:sp>
      <p:sp>
        <p:nvSpPr>
          <p:cNvPr id="8" name="Shape 6"/>
          <p:cNvSpPr/>
          <p:nvPr/>
        </p:nvSpPr>
        <p:spPr>
          <a:xfrm>
            <a:off x="762000" y="3175000"/>
            <a:ext cx="4699000" cy="1397000"/>
          </a:xfrm>
          <a:prstGeom prst="rect">
            <a:avLst/>
          </a:prstGeom>
          <a:solidFill>
            <a:srgbClr val="161618"/>
          </a:solidFill>
          <a:ln/>
        </p:spPr>
      </p:sp>
      <p:sp>
        <p:nvSpPr>
          <p:cNvPr id="9" name="Text 7"/>
          <p:cNvSpPr/>
          <p:nvPr/>
        </p:nvSpPr>
        <p:spPr>
          <a:xfrm>
            <a:off x="952500" y="3276600"/>
            <a:ext cx="4318000" cy="1193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Hooks Can Block</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PreToolUse hooks can block execution but still produce matching tool_result — loop remains complete</a:t>
            </a:r>
            <a:endParaRPr lang="en-US" sz="1600" dirty="0"/>
          </a:p>
        </p:txBody>
      </p:sp>
      <p:sp>
        <p:nvSpPr>
          <p:cNvPr id="10" name="Shape 8"/>
          <p:cNvSpPr/>
          <p:nvPr/>
        </p:nvSpPr>
        <p:spPr>
          <a:xfrm>
            <a:off x="5715000" y="3175000"/>
            <a:ext cx="4699000" cy="1397000"/>
          </a:xfrm>
          <a:prstGeom prst="rect">
            <a:avLst/>
          </a:prstGeom>
          <a:solidFill>
            <a:srgbClr val="161618"/>
          </a:solidFill>
          <a:ln/>
        </p:spPr>
      </p:sp>
      <p:sp>
        <p:nvSpPr>
          <p:cNvPr id="11" name="Text 9"/>
          <p:cNvSpPr/>
          <p:nvPr/>
        </p:nvSpPr>
        <p:spPr>
          <a:xfrm>
            <a:off x="5905500" y="3276600"/>
            <a:ext cx="4318000" cy="1193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Permission Also Produces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Permission deny generates tool_result — the model sees a structured denial, not a crash</a:t>
            </a:r>
            <a:endParaRPr lang="en-US" sz="1600" dirty="0"/>
          </a:p>
        </p:txBody>
      </p:sp>
      <p:sp>
        <p:nvSpPr>
          <p:cNvPr id="12" name="Shape 10"/>
          <p:cNvSpPr/>
          <p:nvPr/>
        </p:nvSpPr>
        <p:spPr>
          <a:xfrm>
            <a:off x="10668000" y="3175000"/>
            <a:ext cx="4826000" cy="1397000"/>
          </a:xfrm>
          <a:prstGeom prst="rect">
            <a:avLst/>
          </a:prstGeom>
          <a:solidFill>
            <a:srgbClr val="161618"/>
          </a:solidFill>
          <a:ln/>
        </p:spPr>
      </p:sp>
      <p:sp>
        <p:nvSpPr>
          <p:cNvPr id="13" name="Text 11"/>
          <p:cNvSpPr/>
          <p:nvPr/>
        </p:nvSpPr>
        <p:spPr>
          <a:xfrm>
            <a:off x="10858500" y="3276600"/>
            <a:ext cx="4445000" cy="1193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Failure Has Cleanup</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PostToolUseFailure hooks always run — ensuring cleanup even when tool throws</a:t>
            </a:r>
            <a:endParaRPr lang="en-US" sz="1600" dirty="0"/>
          </a:p>
        </p:txBody>
      </p:sp>
      <p:sp>
        <p:nvSpPr>
          <p:cNvPr id="14" name="Text 12"/>
          <p:cNvSpPr/>
          <p:nvPr/>
        </p:nvSpPr>
        <p:spPr>
          <a:xfrm>
            <a:off x="762000" y="4889500"/>
            <a:ext cx="14732000" cy="635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Therefore: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permission system and hook system don't break tool loop into incomplete states. Every path through the hook pipeline produces a valid tool_result — maintaining trajectory self-consistency.</a:t>
            </a:r>
            <a:endParaRPr lang="en-US" sz="1800" dirty="0"/>
          </a:p>
        </p:txBody>
      </p:sp>
      <p:sp>
        <p:nvSpPr>
          <p:cNvPr id="15" name="Shape 13"/>
          <p:cNvSpPr/>
          <p:nvPr/>
        </p:nvSpPr>
        <p:spPr>
          <a:xfrm>
            <a:off x="762000" y="5715000"/>
            <a:ext cx="14732000" cy="2540000"/>
          </a:xfrm>
          <a:prstGeom prst="roundRect">
            <a:avLst>
              <a:gd name="adj" fmla="val 4000"/>
            </a:avLst>
          </a:prstGeom>
          <a:solidFill>
            <a:srgbClr val="161618"/>
          </a:solidFill>
          <a:ln/>
        </p:spPr>
      </p:sp>
      <p:sp>
        <p:nvSpPr>
          <p:cNvPr id="16" name="Text 14"/>
          <p:cNvSpPr/>
          <p:nvPr/>
        </p:nvSpPr>
        <p:spPr>
          <a:xfrm>
            <a:off x="1016000" y="5842000"/>
            <a:ext cx="14224000" cy="22860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Hook execution in toolExecution.ts</a:t>
            </a:r>
            <a:endParaRPr lang="en-US" sz="1600" dirty="0"/>
          </a:p>
          <a:p>
            <a:pPr>
              <a:lnSpc>
                <a:spcPct val="150000"/>
              </a:lnSpc>
            </a:pPr>
            <a:r>
              <a:rPr lang="en-US" sz="1400" dirty="0">
                <a:solidFill>
                  <a:srgbClr val="C4A265"/>
                </a:solidFill>
                <a:latin typeface="MiSans" pitchFamily="34" charset="0"/>
                <a:ea typeface="MiSans" pitchFamily="34" charset="-122"/>
                <a:cs typeface="MiSans" pitchFamily="34" charset="-120"/>
              </a:rPr>
              <a:t>// PreToolUse: can modify, block, or annotate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for (const hook of preToolUseHooks) {</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const result = await hook(tool, input);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if (result.block) return generateBlockedResult();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t>
            </a:r>
            <a:endParaRPr lang="en-US" sz="1600" dirty="0"/>
          </a:p>
          <a:p>
            <a:pPr>
              <a:lnSpc>
                <a:spcPct val="150000"/>
              </a:lnSpc>
            </a:pPr>
            <a:r>
              <a:rPr lang="en-US" sz="1400" dirty="0">
                <a:solidFill>
                  <a:srgbClr val="C4A265"/>
                </a:solidFill>
                <a:latin typeface="MiSans" pitchFamily="34" charset="0"/>
                <a:ea typeface="MiSans" pitchFamily="34" charset="-122"/>
                <a:cs typeface="MiSans" pitchFamily="34" charset="-120"/>
              </a:rPr>
              <a:t>// PostToolUseFailure: cleanup always runs</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for (const hook of postToolUseFailureHooks) {</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await hook(tool, input, error); </a:t>
            </a:r>
            <a:pPr>
              <a:lnSpc>
                <a:spcPct val="150000"/>
              </a:lnSpc>
            </a:pPr>
            <a:r>
              <a:rPr lang="en-US" sz="1400" dirty="0">
                <a:solidFill>
                  <a:srgbClr val="9A9590"/>
                </a:solidFill>
                <a:latin typeface="MiSans" pitchFamily="34" charset="0"/>
                <a:ea typeface="MiSans" pitchFamily="34" charset="-122"/>
                <a:cs typeface="MiSans" pitchFamily="34" charset="-120"/>
              </a:rPr>
              <a:t>// Always executed</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t>
            </a:r>
            <a:endParaRPr lang="en-US" sz="1600" dirty="0"/>
          </a:p>
        </p:txBody>
      </p:sp>
      <p:sp>
        <p:nvSpPr>
          <p:cNvPr id="17" name="Shape 15"/>
          <p:cNvSpPr/>
          <p:nvPr/>
        </p:nvSpPr>
        <p:spPr>
          <a:xfrm>
            <a:off x="762000" y="8636000"/>
            <a:ext cx="14732000" cy="12700"/>
          </a:xfrm>
          <a:prstGeom prst="rect">
            <a:avLst/>
          </a:prstGeom>
          <a:solidFill>
            <a:srgbClr val="3A3A3E"/>
          </a:solidFill>
          <a:ln/>
        </p:spPr>
      </p:sp>
      <p:sp>
        <p:nvSpPr>
          <p:cNvPr id="18" name="Text 16"/>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src/services/tools/toolExecution.ts:795-1103, 1397-1588, 1696-1737</a:t>
            </a:r>
            <a:endParaRPr lang="en-US" sz="1300" dirty="0"/>
          </a:p>
        </p:txBody>
      </p:sp>
    </p:spTree>
  </p:cSld>
  <p:clrMapOvr>
    <a:masterClrMapping/>
  </p:clrMapOvr>
  <p:transition>
    <p:fade/>
    <p:spd val="med"/>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05 TOOL EXECUTION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tool_use/tool_result Pairing Guarantee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98600"/>
            <a:ext cx="14732000" cy="457200"/>
          </a:xfrm>
          <a:prstGeom prst="rect">
            <a:avLst/>
          </a:prstGeom>
          <a:noFill/>
          <a:ln/>
        </p:spPr>
        <p:txBody>
          <a:bodyPr wrap="square" lIns="0" tIns="0" rIns="0" bIns="0" rtlCol="0" anchor="ctr"/>
          <a:lstStyle/>
          <a:p>
            <a:pPr>
              <a:lnSpc>
                <a:spcPct val="100000"/>
              </a:lnSpc>
            </a:pPr>
            <a:r>
              <a:rPr lang="en-US" sz="2200" b="1" dirty="0">
                <a:solidFill>
                  <a:srgbClr val="C4A265"/>
                </a:solidFill>
                <a:latin typeface="Liter" pitchFamily="34" charset="0"/>
                <a:ea typeface="Liter" pitchFamily="34" charset="-122"/>
                <a:cs typeface="Liter" pitchFamily="34" charset="-120"/>
              </a:rPr>
              <a:t>Hard constraint: tool_use must always pair with tool_result in transcript.</a:t>
            </a:r>
            <a:endParaRPr lang="en-US" sz="1600" dirty="0"/>
          </a:p>
        </p:txBody>
      </p:sp>
      <p:sp>
        <p:nvSpPr>
          <p:cNvPr id="6" name="Text 4"/>
          <p:cNvSpPr/>
          <p:nvPr/>
        </p:nvSpPr>
        <p:spPr>
          <a:xfrm>
            <a:off x="762000" y="2159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Scenario 1: User Interrupts During Streaming</a:t>
            </a:r>
            <a:endParaRPr lang="en-US" sz="2200" dirty="0"/>
          </a:p>
        </p:txBody>
      </p:sp>
      <p:sp>
        <p:nvSpPr>
          <p:cNvPr id="7" name="Shape 5"/>
          <p:cNvSpPr/>
          <p:nvPr/>
        </p:nvSpPr>
        <p:spPr>
          <a:xfrm>
            <a:off x="762000" y="2641600"/>
            <a:ext cx="14732000" cy="1143000"/>
          </a:xfrm>
          <a:prstGeom prst="roundRect">
            <a:avLst>
              <a:gd name="adj" fmla="val 4000"/>
            </a:avLst>
          </a:prstGeom>
          <a:solidFill>
            <a:srgbClr val="161618"/>
          </a:solidFill>
          <a:ln/>
        </p:spPr>
      </p:sp>
      <p:sp>
        <p:nvSpPr>
          <p:cNvPr id="8" name="Text 6"/>
          <p:cNvSpPr/>
          <p:nvPr/>
        </p:nvSpPr>
        <p:spPr>
          <a:xfrm>
            <a:off x="1016000" y="2743200"/>
            <a:ext cx="14224000" cy="9398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StreamingToolExecutor</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continues consuming getRemainingResults() → generates synthetic tool_result for incomplete/queued tools → or traverses assistantMessages to补齐 missing tool_result.</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Source: src/query.ts:1011-1051</a:t>
            </a:r>
            <a:endParaRPr lang="en-US" sz="1600" dirty="0"/>
          </a:p>
        </p:txBody>
      </p:sp>
      <p:sp>
        <p:nvSpPr>
          <p:cNvPr id="9" name="Text 7"/>
          <p:cNvSpPr/>
          <p:nvPr/>
        </p:nvSpPr>
        <p:spPr>
          <a:xfrm>
            <a:off x="762000" y="40386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Scenario 2: Model Fallback</a:t>
            </a:r>
            <a:endParaRPr lang="en-US" sz="2200" dirty="0"/>
          </a:p>
        </p:txBody>
      </p:sp>
      <p:sp>
        <p:nvSpPr>
          <p:cNvPr id="10" name="Shape 8"/>
          <p:cNvSpPr/>
          <p:nvPr/>
        </p:nvSpPr>
        <p:spPr>
          <a:xfrm>
            <a:off x="762000" y="4521200"/>
            <a:ext cx="14732000" cy="1143000"/>
          </a:xfrm>
          <a:prstGeom prst="roundRect">
            <a:avLst>
              <a:gd name="adj" fmla="val 4000"/>
            </a:avLst>
          </a:prstGeom>
          <a:solidFill>
            <a:srgbClr val="161618"/>
          </a:solidFill>
          <a:ln/>
        </p:spPr>
      </p:sp>
      <p:sp>
        <p:nvSpPr>
          <p:cNvPr id="11" name="Text 9"/>
          <p:cNvSpPr/>
          <p:nvPr/>
        </p:nvSpPr>
        <p:spPr>
          <a:xfrm>
            <a:off x="1016000" y="4622800"/>
            <a:ext cx="14224000" cy="9398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Tombstone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old assistant message → </a:t>
            </a:r>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discard</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old executor → </a:t>
            </a:r>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avoid</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old tool_use_id results leaking to new attempt. Model fallback also calls yieldMissingToolResultBlocks() before switching models.</a:t>
            </a:r>
            <a:endParaRPr lang="en-US" sz="1600" dirty="0"/>
          </a:p>
          <a:p>
            <a:pPr>
              <a:lnSpc>
                <a:spcPct val="150000"/>
              </a:lnSpc>
            </a:pPr>
            <a:r>
              <a:rPr lang="en-US" sz="1600" dirty="0">
                <a:solidFill>
                  <a:srgbClr val="9A9590"/>
                </a:solidFill>
                <a:latin typeface="Quattrocento Sans" pitchFamily="34" charset="0"/>
                <a:ea typeface="Quattrocento Sans" pitchFamily="34" charset="-122"/>
                <a:cs typeface="Quattrocento Sans" pitchFamily="34" charset="-120"/>
              </a:rPr>
              <a:t>Source: src/query.ts:712-740</a:t>
            </a:r>
            <a:endParaRPr lang="en-US" sz="1600" dirty="0"/>
          </a:p>
        </p:txBody>
      </p:sp>
      <p:sp>
        <p:nvSpPr>
          <p:cNvPr id="12" name="Text 10"/>
          <p:cNvSpPr/>
          <p:nvPr/>
        </p:nvSpPr>
        <p:spPr>
          <a:xfrm>
            <a:off x="762000" y="59436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Why Is This Guarantee Critical?</a:t>
            </a:r>
            <a:endParaRPr lang="en-US" sz="2200" dirty="0"/>
          </a:p>
        </p:txBody>
      </p:sp>
      <p:sp>
        <p:nvSpPr>
          <p:cNvPr id="13" name="Text 11"/>
          <p:cNvSpPr/>
          <p:nvPr/>
        </p:nvSpPr>
        <p:spPr>
          <a:xfrm>
            <a:off x="762000" y="6400800"/>
            <a:ext cx="14732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The LLM API requires every tool_use in the conversation to have a corresponding tool_result. An unpaired tool_use causes API errors on subsequent calls. Claude Code treats this as an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invariant that must hold regardless of interrupts, fallbacks, or errors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not a best-effort cleanup.</a:t>
            </a:r>
            <a:endParaRPr lang="en-US" sz="1800" dirty="0"/>
          </a:p>
        </p:txBody>
      </p:sp>
      <p:sp>
        <p:nvSpPr>
          <p:cNvPr id="14" name="Shape 12"/>
          <p:cNvSpPr/>
          <p:nvPr/>
        </p:nvSpPr>
        <p:spPr>
          <a:xfrm>
            <a:off x="762000" y="7493000"/>
            <a:ext cx="50800" cy="762000"/>
          </a:xfrm>
          <a:prstGeom prst="rect">
            <a:avLst/>
          </a:prstGeom>
          <a:solidFill>
            <a:srgbClr val="C4A265"/>
          </a:solidFill>
          <a:ln/>
        </p:spPr>
      </p:sp>
      <p:sp>
        <p:nvSpPr>
          <p:cNvPr id="15" name="Text 13"/>
          <p:cNvSpPr/>
          <p:nvPr/>
        </p:nvSpPr>
        <p:spPr>
          <a:xfrm>
            <a:off x="1016000" y="7493000"/>
            <a:ext cx="14224000" cy="762000"/>
          </a:xfrm>
          <a:prstGeom prst="rect">
            <a:avLst/>
          </a:prstGeom>
          <a:noFill/>
          <a:ln/>
        </p:spPr>
        <p:txBody>
          <a:bodyPr wrap="square" lIns="0" tIns="0" rIns="0" bIns="0" rtlCol="0" anchor="ctr"/>
          <a:lstStyle/>
          <a:p>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This is one of the strongest reliability guarantees in Claude Code.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No matter what happens — user interrupt, model fallback, network error, permission denial — the transcript always remains a valid conversation.</a:t>
            </a:r>
            <a:endParaRPr lang="en-US" sz="1600" dirty="0"/>
          </a:p>
        </p:txBody>
      </p:sp>
      <p:sp>
        <p:nvSpPr>
          <p:cNvPr id="16" name="Shape 14"/>
          <p:cNvSpPr/>
          <p:nvPr/>
        </p:nvSpPr>
        <p:spPr>
          <a:xfrm>
            <a:off x="762000" y="8636000"/>
            <a:ext cx="14732000" cy="12700"/>
          </a:xfrm>
          <a:prstGeom prst="rect">
            <a:avLst/>
          </a:prstGeom>
          <a:solidFill>
            <a:srgbClr val="3A3A3E"/>
          </a:solidFill>
          <a:ln/>
        </p:spPr>
      </p:sp>
      <p:sp>
        <p:nvSpPr>
          <p:cNvPr id="17" name="Text 15"/>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src/query.ts:1011-1051, 712-740</a:t>
            </a:r>
            <a:endParaRPr lang="en-US" sz="1300" dirty="0"/>
          </a:p>
        </p:txBody>
      </p:sp>
    </p:spTree>
  </p:cSld>
  <p:clrMapOvr>
    <a:masterClrMapping/>
  </p:clrMapOvr>
  <p:transition>
    <p:fade/>
    <p:spd val="med"/>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06</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SIX</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016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Bash Security Harness</a:t>
            </a:r>
            <a:endParaRPr lang="en-US" sz="3800" dirty="0"/>
          </a:p>
        </p:txBody>
      </p:sp>
      <p:sp>
        <p:nvSpPr>
          <p:cNvPr id="6" name="Text 4"/>
          <p:cNvSpPr/>
          <p:nvPr/>
        </p:nvSpPr>
        <p:spPr>
          <a:xfrm>
            <a:off x="762000" y="4699000"/>
            <a:ext cx="1016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"Understand first, judge second, isolate last" — three-layer collaborative security model</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06 BASH SECURITY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Bash Harness: Three-Layer Security Model</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4699000" cy="2921000"/>
          </a:xfrm>
          <a:prstGeom prst="rect">
            <a:avLst/>
          </a:prstGeom>
          <a:solidFill>
            <a:srgbClr val="161618"/>
          </a:solidFill>
          <a:ln/>
        </p:spPr>
      </p:sp>
      <p:sp>
        <p:nvSpPr>
          <p:cNvPr id="6" name="Shape 4"/>
          <p:cNvSpPr/>
          <p:nvPr/>
        </p:nvSpPr>
        <p:spPr>
          <a:xfrm>
            <a:off x="762000" y="1524000"/>
            <a:ext cx="4699000" cy="50800"/>
          </a:xfrm>
          <a:prstGeom prst="rect">
            <a:avLst/>
          </a:prstGeom>
          <a:solidFill>
            <a:srgbClr val="C4A265"/>
          </a:solidFill>
          <a:ln/>
        </p:spPr>
      </p:sp>
      <p:sp>
        <p:nvSpPr>
          <p:cNvPr id="7" name="Text 5"/>
          <p:cNvSpPr/>
          <p:nvPr/>
        </p:nvSpPr>
        <p:spPr>
          <a:xfrm>
            <a:off x="952500" y="1701800"/>
            <a:ext cx="508000" cy="381000"/>
          </a:xfrm>
          <a:prstGeom prst="rect">
            <a:avLst/>
          </a:prstGeom>
          <a:noFill/>
          <a:ln/>
        </p:spPr>
        <p:txBody>
          <a:bodyPr wrap="none" lIns="0" tIns="0" rIns="0" bIns="0" rtlCol="0" anchor="ctr"/>
          <a:lstStyle/>
          <a:p>
            <a:pPr algn="ctr">
              <a:lnSpc>
                <a:spcPct val="100000"/>
              </a:lnSpc>
            </a:pPr>
            <a:r>
              <a:rPr lang="en-US" sz="2400" b="1" dirty="0">
                <a:solidFill>
                  <a:srgbClr val="C4A265"/>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524000" y="1701800"/>
            <a:ext cx="3683000" cy="3810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AST Analysis</a:t>
            </a:r>
            <a:endParaRPr lang="en-US" sz="1600" dirty="0"/>
          </a:p>
        </p:txBody>
      </p:sp>
      <p:sp>
        <p:nvSpPr>
          <p:cNvPr id="9" name="Text 7"/>
          <p:cNvSpPr/>
          <p:nvPr/>
        </p:nvSpPr>
        <p:spPr>
          <a:xfrm>
            <a:off x="952500" y="2184400"/>
            <a:ext cx="4318000" cy="20955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"Can I reliably understand this command?"</a:t>
            </a:r>
            <a:endParaRPr lang="en-US" sz="1600" dirty="0"/>
          </a:p>
          <a:p>
            <a:pPr>
              <a:lnSpc>
                <a:spcPct val="150000"/>
              </a:lnSpc>
              <a:spcBef>
                <a:spcPts val="600"/>
              </a:spcBef>
            </a:pPr>
            <a:r>
              <a:rPr lang="en-US" sz="1500" dirty="0">
                <a:solidFill>
                  <a:srgbClr val="E8DCC8"/>
                </a:solidFill>
                <a:latin typeface="Quattrocento Sans" pitchFamily="34" charset="0"/>
                <a:ea typeface="Quattrocento Sans" pitchFamily="34" charset="-122"/>
                <a:cs typeface="Quattrocento Sans" pitchFamily="34" charset="-120"/>
              </a:rPr>
              <a:t>Uses tree-sitter for Bash parsing</a:t>
            </a:r>
            <a:endParaRPr lang="en-US" sz="1600" dirty="0"/>
          </a:p>
          <a:p>
            <a:pPr>
              <a:lnSpc>
                <a:spcPct val="150000"/>
              </a:lnSpc>
              <a:spcBef>
                <a:spcPts val="400"/>
              </a:spcBef>
            </a:pPr>
            <a:r>
              <a:rPr lang="en-US" sz="1500" dirty="0">
                <a:solidFill>
                  <a:srgbClr val="9A9590"/>
                </a:solidFill>
                <a:latin typeface="Quattrocento Sans" pitchFamily="34" charset="0"/>
                <a:ea typeface="Quattrocento Sans" pitchFamily="34" charset="-122"/>
                <a:cs typeface="Quattrocento Sans" pitchFamily="34" charset="-120"/>
              </a:rPr>
              <a:t>NOT a sandbox — ast.ts explicitly states:</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"This is NOT a sandbox. It does not prevent dangerous commands from running."</a:t>
            </a:r>
            <a:endParaRPr lang="en-US" sz="1600" dirty="0"/>
          </a:p>
          <a:p>
            <a:pPr>
              <a:lnSpc>
                <a:spcPct val="150000"/>
              </a:lnSpc>
              <a:spcBef>
                <a:spcPts val="400"/>
              </a:spcBef>
            </a:pPr>
            <a:r>
              <a:rPr lang="en-US" sz="1500" dirty="0">
                <a:solidFill>
                  <a:srgbClr val="9A9590"/>
                </a:solidFill>
                <a:latin typeface="Quattrocento Sans" pitchFamily="34" charset="0"/>
                <a:ea typeface="Quattrocento Sans" pitchFamily="34" charset="-122"/>
                <a:cs typeface="Quattrocento Sans" pitchFamily="34" charset="-120"/>
              </a:rPr>
              <a:t>src/utils/bash/*.ts</a:t>
            </a:r>
            <a:endParaRPr lang="en-US" sz="1600" dirty="0"/>
          </a:p>
        </p:txBody>
      </p:sp>
      <p:sp>
        <p:nvSpPr>
          <p:cNvPr id="10" name="Shape 8"/>
          <p:cNvSpPr/>
          <p:nvPr/>
        </p:nvSpPr>
        <p:spPr>
          <a:xfrm>
            <a:off x="5715000" y="1524000"/>
            <a:ext cx="4699000" cy="2921000"/>
          </a:xfrm>
          <a:prstGeom prst="rect">
            <a:avLst/>
          </a:prstGeom>
          <a:solidFill>
            <a:srgbClr val="161618"/>
          </a:solidFill>
          <a:ln/>
        </p:spPr>
      </p:sp>
      <p:sp>
        <p:nvSpPr>
          <p:cNvPr id="11" name="Shape 9"/>
          <p:cNvSpPr/>
          <p:nvPr/>
        </p:nvSpPr>
        <p:spPr>
          <a:xfrm>
            <a:off x="5715000" y="1524000"/>
            <a:ext cx="4699000" cy="50800"/>
          </a:xfrm>
          <a:prstGeom prst="rect">
            <a:avLst/>
          </a:prstGeom>
          <a:solidFill>
            <a:srgbClr val="6B8E6B"/>
          </a:solidFill>
          <a:ln/>
        </p:spPr>
      </p:sp>
      <p:sp>
        <p:nvSpPr>
          <p:cNvPr id="12" name="Text 10"/>
          <p:cNvSpPr/>
          <p:nvPr/>
        </p:nvSpPr>
        <p:spPr>
          <a:xfrm>
            <a:off x="5905500" y="1701800"/>
            <a:ext cx="508000" cy="381000"/>
          </a:xfrm>
          <a:prstGeom prst="rect">
            <a:avLst/>
          </a:prstGeom>
          <a:noFill/>
          <a:ln/>
        </p:spPr>
        <p:txBody>
          <a:bodyPr wrap="none" lIns="0" tIns="0" rIns="0" bIns="0" rtlCol="0" anchor="ctr"/>
          <a:lstStyle/>
          <a:p>
            <a:pPr algn="ctr">
              <a:lnSpc>
                <a:spcPct val="100000"/>
              </a:lnSpc>
            </a:pPr>
            <a:r>
              <a:rPr lang="en-US" sz="2400" b="1" dirty="0">
                <a:solidFill>
                  <a:srgbClr val="8FBC8F"/>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6477000" y="1701800"/>
            <a:ext cx="3683000" cy="381000"/>
          </a:xfrm>
          <a:prstGeom prst="rect">
            <a:avLst/>
          </a:prstGeom>
          <a:noFill/>
          <a:ln/>
        </p:spPr>
        <p:txBody>
          <a:bodyPr wrap="none" lIns="0" tIns="0" rIns="0" bIns="0" rtlCol="0" anchor="ctr"/>
          <a:lstStyle/>
          <a:p>
            <a:pPr>
              <a:lnSpc>
                <a:spcPct val="100000"/>
              </a:lnSpc>
            </a:pPr>
            <a:r>
              <a:rPr lang="en-US" sz="1800" b="1" dirty="0">
                <a:solidFill>
                  <a:srgbClr val="8FBC8F"/>
                </a:solidFill>
                <a:latin typeface="Liter" pitchFamily="34" charset="0"/>
                <a:ea typeface="Liter" pitchFamily="34" charset="-122"/>
                <a:cs typeface="Liter" pitchFamily="34" charset="-120"/>
              </a:rPr>
              <a:t>Permission Governance</a:t>
            </a:r>
            <a:endParaRPr lang="en-US" sz="1600" dirty="0"/>
          </a:p>
        </p:txBody>
      </p:sp>
      <p:sp>
        <p:nvSpPr>
          <p:cNvPr id="14" name="Text 12"/>
          <p:cNvSpPr/>
          <p:nvPr/>
        </p:nvSpPr>
        <p:spPr>
          <a:xfrm>
            <a:off x="5905500" y="2184400"/>
            <a:ext cx="4318000" cy="20955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"Based on context, should I allow/ask/deny?"</a:t>
            </a:r>
            <a:endParaRPr lang="en-US" sz="1600" dirty="0"/>
          </a:p>
          <a:p>
            <a:pPr>
              <a:lnSpc>
                <a:spcPct val="150000"/>
              </a:lnSpc>
              <a:spcBef>
                <a:spcPts val="600"/>
              </a:spcBef>
            </a:pPr>
            <a:r>
              <a:rPr lang="en-US" sz="1500" dirty="0">
                <a:solidFill>
                  <a:srgbClr val="E8DCC8"/>
                </a:solidFill>
                <a:latin typeface="Quattrocento Sans" pitchFamily="34" charset="0"/>
                <a:ea typeface="Quattrocento Sans" pitchFamily="34" charset="-122"/>
                <a:cs typeface="Quattrocento Sans" pitchFamily="34" charset="-120"/>
              </a:rPr>
              <a:t>Schema validation, mode matching, rule matching, path/dangerous command review</a:t>
            </a:r>
            <a:endParaRPr lang="en-US" sz="1600" dirty="0"/>
          </a:p>
          <a:p>
            <a:pPr>
              <a:lnSpc>
                <a:spcPct val="150000"/>
              </a:lnSpc>
              <a:spcBef>
                <a:spcPts val="400"/>
              </a:spcBef>
            </a:pPr>
            <a:r>
              <a:rPr lang="en-US" sz="1500" dirty="0">
                <a:solidFill>
                  <a:srgbClr val="9A9590"/>
                </a:solidFill>
                <a:latin typeface="Quattrocento Sans" pitchFamily="34" charset="0"/>
                <a:ea typeface="Quattrocento Sans" pitchFamily="34" charset="-122"/>
                <a:cs typeface="Quattrocento Sans" pitchFamily="34" charset="-120"/>
              </a:rPr>
              <a:t>src/tools/BashTool/*</a:t>
            </a:r>
            <a:endParaRPr lang="en-US" sz="1600" dirty="0"/>
          </a:p>
          <a:p>
            <a:pPr>
              <a:lnSpc>
                <a:spcPct val="150000"/>
              </a:lnSpc>
            </a:pPr>
            <a:r>
              <a:rPr lang="en-US" sz="1500" dirty="0">
                <a:solidFill>
                  <a:srgbClr val="9A9590"/>
                </a:solidFill>
                <a:latin typeface="Quattrocento Sans" pitchFamily="34" charset="0"/>
                <a:ea typeface="Quattrocento Sans" pitchFamily="34" charset="-122"/>
                <a:cs typeface="Quattrocento Sans" pitchFamily="34" charset="-120"/>
              </a:rPr>
              <a:t>src/utils/permissions/*</a:t>
            </a:r>
            <a:endParaRPr lang="en-US" sz="1600" dirty="0"/>
          </a:p>
        </p:txBody>
      </p:sp>
      <p:sp>
        <p:nvSpPr>
          <p:cNvPr id="15" name="Shape 13"/>
          <p:cNvSpPr/>
          <p:nvPr/>
        </p:nvSpPr>
        <p:spPr>
          <a:xfrm>
            <a:off x="10668000" y="1524000"/>
            <a:ext cx="4826000" cy="2921000"/>
          </a:xfrm>
          <a:prstGeom prst="rect">
            <a:avLst/>
          </a:prstGeom>
          <a:solidFill>
            <a:srgbClr val="161618"/>
          </a:solidFill>
          <a:ln/>
        </p:spPr>
      </p:sp>
      <p:sp>
        <p:nvSpPr>
          <p:cNvPr id="16" name="Shape 14"/>
          <p:cNvSpPr/>
          <p:nvPr/>
        </p:nvSpPr>
        <p:spPr>
          <a:xfrm>
            <a:off x="10668000" y="1524000"/>
            <a:ext cx="4826000" cy="50800"/>
          </a:xfrm>
          <a:prstGeom prst="rect">
            <a:avLst/>
          </a:prstGeom>
          <a:solidFill>
            <a:srgbClr val="8B7B6B"/>
          </a:solidFill>
          <a:ln/>
        </p:spPr>
      </p:sp>
      <p:sp>
        <p:nvSpPr>
          <p:cNvPr id="17" name="Text 15"/>
          <p:cNvSpPr/>
          <p:nvPr/>
        </p:nvSpPr>
        <p:spPr>
          <a:xfrm>
            <a:off x="10858500" y="1701800"/>
            <a:ext cx="508000" cy="381000"/>
          </a:xfrm>
          <a:prstGeom prst="rect">
            <a:avLst/>
          </a:prstGeom>
          <a:noFill/>
          <a:ln/>
        </p:spPr>
        <p:txBody>
          <a:bodyPr wrap="none" lIns="0" tIns="0" rIns="0" bIns="0" rtlCol="0" anchor="ctr"/>
          <a:lstStyle/>
          <a:p>
            <a:pPr algn="ctr">
              <a:lnSpc>
                <a:spcPct val="100000"/>
              </a:lnSpc>
            </a:pPr>
            <a:r>
              <a:rPr lang="en-US" sz="2400" b="1" dirty="0">
                <a:solidFill>
                  <a:srgbClr val="C4A88A"/>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1430000" y="1701800"/>
            <a:ext cx="3810000" cy="381000"/>
          </a:xfrm>
          <a:prstGeom prst="rect">
            <a:avLst/>
          </a:prstGeom>
          <a:noFill/>
          <a:ln/>
        </p:spPr>
        <p:txBody>
          <a:bodyPr wrap="none" lIns="0" tIns="0" rIns="0" bIns="0" rtlCol="0" anchor="ctr"/>
          <a:lstStyle/>
          <a:p>
            <a:pPr>
              <a:lnSpc>
                <a:spcPct val="100000"/>
              </a:lnSpc>
            </a:pPr>
            <a:r>
              <a:rPr lang="en-US" sz="1800" b="1" dirty="0">
                <a:solidFill>
                  <a:srgbClr val="C4A88A"/>
                </a:solidFill>
                <a:latin typeface="Liter" pitchFamily="34" charset="0"/>
                <a:ea typeface="Liter" pitchFamily="34" charset="-122"/>
                <a:cs typeface="Liter" pitchFamily="34" charset="-120"/>
              </a:rPr>
              <a:t>Runtime Sandbox</a:t>
            </a:r>
            <a:endParaRPr lang="en-US" sz="1600" dirty="0"/>
          </a:p>
        </p:txBody>
      </p:sp>
      <p:sp>
        <p:nvSpPr>
          <p:cNvPr id="19" name="Text 17"/>
          <p:cNvSpPr/>
          <p:nvPr/>
        </p:nvSpPr>
        <p:spPr>
          <a:xfrm>
            <a:off x="10858500" y="2184400"/>
            <a:ext cx="4445000" cy="20955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"Even if permitted, run in OS-level sandbox."</a:t>
            </a:r>
            <a:endParaRPr lang="en-US" sz="1600" dirty="0"/>
          </a:p>
          <a:p>
            <a:pPr>
              <a:lnSpc>
                <a:spcPct val="150000"/>
              </a:lnSpc>
              <a:spcBef>
                <a:spcPts val="600"/>
              </a:spcBef>
            </a:pPr>
            <a:r>
              <a:rPr lang="en-US" sz="1500" dirty="0">
                <a:solidFill>
                  <a:srgbClr val="E8DCC8"/>
                </a:solidFill>
                <a:latin typeface="Quattrocento Sans" pitchFamily="34" charset="0"/>
                <a:ea typeface="Quattrocento Sans" pitchFamily="34" charset="-122"/>
                <a:cs typeface="Quattrocento Sans" pitchFamily="34" charset="-120"/>
              </a:rPr>
              <a:t>Filesystem and network isolation via sandbox-runtime</a:t>
            </a:r>
            <a:endParaRPr lang="en-US" sz="1600" dirty="0"/>
          </a:p>
          <a:p>
            <a:pPr>
              <a:lnSpc>
                <a:spcPct val="150000"/>
              </a:lnSpc>
              <a:spcBef>
                <a:spcPts val="400"/>
              </a:spcBef>
            </a:pPr>
            <a:r>
              <a:rPr lang="en-US" sz="1500" dirty="0">
                <a:solidFill>
                  <a:srgbClr val="9A9590"/>
                </a:solidFill>
                <a:latin typeface="Quattrocento Sans" pitchFamily="34" charset="0"/>
                <a:ea typeface="Quattrocento Sans" pitchFamily="34" charset="-122"/>
                <a:cs typeface="Quattrocento Sans" pitchFamily="34" charset="-120"/>
              </a:rPr>
              <a:t>src/utils/sandbox/*</a:t>
            </a:r>
            <a:endParaRPr lang="en-US" sz="1600" dirty="0"/>
          </a:p>
        </p:txBody>
      </p:sp>
      <p:sp>
        <p:nvSpPr>
          <p:cNvPr id="20" name="Shape 18"/>
          <p:cNvSpPr/>
          <p:nvPr/>
        </p:nvSpPr>
        <p:spPr>
          <a:xfrm>
            <a:off x="762000" y="4762500"/>
            <a:ext cx="50800" cy="635000"/>
          </a:xfrm>
          <a:prstGeom prst="rect">
            <a:avLst/>
          </a:prstGeom>
          <a:solidFill>
            <a:srgbClr val="C4A265"/>
          </a:solidFill>
          <a:ln/>
        </p:spPr>
      </p:sp>
      <p:sp>
        <p:nvSpPr>
          <p:cNvPr id="21" name="Text 19"/>
          <p:cNvSpPr/>
          <p:nvPr/>
        </p:nvSpPr>
        <p:spPr>
          <a:xfrm>
            <a:off x="1016000" y="4762500"/>
            <a:ext cx="14224000" cy="635000"/>
          </a:xfrm>
          <a:prstGeom prst="rect">
            <a:avLst/>
          </a:prstGeom>
          <a:noFill/>
          <a:ln/>
        </p:spPr>
        <p:txBody>
          <a:bodyPr wrap="squar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Total code volume: utils/bash/*.ts + tools/BashTool/*.ts = 22,987 lines</a:t>
            </a:r>
            <a:endParaRPr lang="en-US" sz="1600" dirty="0"/>
          </a:p>
        </p:txBody>
      </p:sp>
      <p:sp>
        <p:nvSpPr>
          <p:cNvPr id="22" name="Text 20"/>
          <p:cNvSpPr/>
          <p:nvPr/>
        </p:nvSpPr>
        <p:spPr>
          <a:xfrm>
            <a:off x="762000" y="5651500"/>
            <a:ext cx="14732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This is a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heavy governance subsystem</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not a few regexes. The three-layer design ensures defense in depth: even if one layer has a bypass, the others provide backup protection. AST analysis catches syntactic attacks, permission governance catches policy violations, and the sandbox catches runtime escapes.</a:t>
            </a:r>
            <a:endParaRPr lang="en-US" sz="1800" dirty="0"/>
          </a:p>
        </p:txBody>
      </p:sp>
      <p:sp>
        <p:nvSpPr>
          <p:cNvPr id="23" name="Text 21"/>
          <p:cNvSpPr/>
          <p:nvPr/>
        </p:nvSpPr>
        <p:spPr>
          <a:xfrm>
            <a:off x="762000" y="6731000"/>
            <a:ext cx="14732000" cy="635000"/>
          </a:xfrm>
          <a:prstGeom prst="rect">
            <a:avLst/>
          </a:prstGeom>
          <a:noFill/>
          <a:ln/>
        </p:spPr>
        <p:txBody>
          <a:bodyPr wrap="square" lIns="0" tIns="0" rIns="0" bIns="0" rtlCol="0" anchor="ctr"/>
          <a:lstStyle/>
          <a:p>
            <a:pPr algn="ctr">
              <a:lnSpc>
                <a:spcPct val="100000"/>
              </a:lnSpc>
            </a:pPr>
            <a:r>
              <a:rPr lang="en-US" sz="2000" dirty="0">
                <a:solidFill>
                  <a:srgbClr val="C4A265"/>
                </a:solidFill>
                <a:latin typeface="Liter" pitchFamily="34" charset="0"/>
                <a:ea typeface="Liter" pitchFamily="34" charset="-122"/>
                <a:cs typeface="Liter" pitchFamily="34" charset="-120"/>
              </a:rPr>
              <a:t>Fail-closed parsing</a:t>
            </a:r>
            <a:pPr algn="ctr">
              <a:lnSpc>
                <a:spcPct val="100000"/>
              </a:lnSpc>
            </a:pPr>
            <a:r>
              <a:rPr lang="en-US" sz="2000" dirty="0">
                <a:solidFill>
                  <a:srgbClr val="E8DCC8"/>
                </a:solidFill>
                <a:latin typeface="Liter" pitchFamily="34" charset="0"/>
                <a:ea typeface="Liter" pitchFamily="34" charset="-122"/>
                <a:cs typeface="Liter" pitchFamily="34" charset="-120"/>
              </a:rPr>
              <a:t> → </a:t>
            </a:r>
            <a:pPr algn="ctr">
              <a:lnSpc>
                <a:spcPct val="100000"/>
              </a:lnSpc>
            </a:pPr>
            <a:r>
              <a:rPr lang="en-US" sz="2000" dirty="0">
                <a:solidFill>
                  <a:srgbClr val="8FBC8F"/>
                </a:solidFill>
                <a:latin typeface="Liter" pitchFamily="34" charset="0"/>
                <a:ea typeface="Liter" pitchFamily="34" charset="-122"/>
                <a:cs typeface="Liter" pitchFamily="34" charset="-120"/>
              </a:rPr>
              <a:t>Policy-first permissioning</a:t>
            </a:r>
            <a:pPr algn="ctr">
              <a:lnSpc>
                <a:spcPct val="100000"/>
              </a:lnSpc>
            </a:pPr>
            <a:r>
              <a:rPr lang="en-US" sz="2000" dirty="0">
                <a:solidFill>
                  <a:srgbClr val="E8DCC8"/>
                </a:solidFill>
                <a:latin typeface="Liter" pitchFamily="34" charset="0"/>
                <a:ea typeface="Liter" pitchFamily="34" charset="-122"/>
                <a:cs typeface="Liter" pitchFamily="34" charset="-120"/>
              </a:rPr>
              <a:t> → </a:t>
            </a:r>
            <a:pPr algn="ctr">
              <a:lnSpc>
                <a:spcPct val="100000"/>
              </a:lnSpc>
            </a:pPr>
            <a:r>
              <a:rPr lang="en-US" sz="2000" dirty="0">
                <a:solidFill>
                  <a:srgbClr val="C4A88A"/>
                </a:solidFill>
                <a:latin typeface="Liter" pitchFamily="34" charset="0"/>
                <a:ea typeface="Liter" pitchFamily="34" charset="-122"/>
                <a:cs typeface="Liter" pitchFamily="34" charset="-120"/>
              </a:rPr>
              <a:t>Runtime sandbox isolation</a:t>
            </a:r>
            <a:endParaRPr lang="en-US" sz="1600" dirty="0"/>
          </a:p>
        </p:txBody>
      </p:sp>
      <p:sp>
        <p:nvSpPr>
          <p:cNvPr id="24" name="Shape 22"/>
          <p:cNvSpPr/>
          <p:nvPr/>
        </p:nvSpPr>
        <p:spPr>
          <a:xfrm>
            <a:off x="762000" y="8636000"/>
            <a:ext cx="14732000" cy="12700"/>
          </a:xfrm>
          <a:prstGeom prst="rect">
            <a:avLst/>
          </a:prstGeom>
          <a:solidFill>
            <a:srgbClr val="3A3A3E"/>
          </a:solidFill>
          <a:ln/>
        </p:spPr>
      </p:sp>
      <p:sp>
        <p:nvSpPr>
          <p:cNvPr id="25" name="Text 23"/>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src/utils/bash/ast.ts:1-19</a:t>
            </a:r>
            <a:endParaRPr lang="en-US" sz="1300" dirty="0"/>
          </a:p>
        </p:txBody>
      </p:sp>
    </p:spTree>
  </p:cSld>
  <p:clrMapOvr>
    <a:masterClrMapping/>
  </p:clrMapOvr>
  <p:transition>
    <p:fade/>
    <p:spd val="med"/>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06 BASH SECURITY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Layer 1: AST Security Analysis — Fail-Closed Parsing</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parseCommandRaw() via tree-sitter</a:t>
            </a:r>
            <a:endParaRPr lang="en-US" sz="2200" dirty="0"/>
          </a:p>
        </p:txBody>
      </p:sp>
      <p:sp>
        <p:nvSpPr>
          <p:cNvPr id="6" name="Text 4"/>
          <p:cNvSpPr/>
          <p:nvPr/>
        </p:nvSpPr>
        <p:spPr>
          <a:xfrm>
            <a:off x="762000" y="1905000"/>
            <a:ext cx="7112000" cy="1143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When module not loaded, feature disabled, or command too long → returns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null</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When parse timeout/resource exhausted → returns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PARSE_ABORTED</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Both require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fail-closed handling</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not "proceed with caution"</a:t>
            </a:r>
            <a:endParaRPr lang="en-US" sz="1800" dirty="0"/>
          </a:p>
        </p:txBody>
      </p:sp>
      <p:sp>
        <p:nvSpPr>
          <p:cNvPr id="7" name="Shape 5"/>
          <p:cNvSpPr/>
          <p:nvPr/>
        </p:nvSpPr>
        <p:spPr>
          <a:xfrm>
            <a:off x="8382000" y="1460500"/>
            <a:ext cx="7112000" cy="1651000"/>
          </a:xfrm>
          <a:prstGeom prst="roundRect">
            <a:avLst>
              <a:gd name="adj" fmla="val 4000"/>
            </a:avLst>
          </a:prstGeom>
          <a:solidFill>
            <a:srgbClr val="161618"/>
          </a:solidFill>
          <a:ln/>
        </p:spPr>
      </p:sp>
      <p:sp>
        <p:nvSpPr>
          <p:cNvPr id="8" name="Text 6"/>
          <p:cNvSpPr/>
          <p:nvPr/>
        </p:nvSpPr>
        <p:spPr>
          <a:xfrm>
            <a:off x="8636000" y="1562100"/>
            <a:ext cx="6604000" cy="14478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parseForSecurityFromAst()</a:t>
            </a:r>
            <a:endParaRPr lang="en-US" sz="1600" dirty="0"/>
          </a:p>
          <a:p>
            <a:pPr>
              <a:lnSpc>
                <a:spcPct val="150000"/>
              </a:lnSpc>
            </a:pPr>
            <a:r>
              <a:rPr lang="en-US" sz="1400" dirty="0">
                <a:solidFill>
                  <a:srgbClr val="C4A265"/>
                </a:solidFill>
                <a:latin typeface="MiSans" pitchFamily="34" charset="0"/>
                <a:ea typeface="MiSans" pitchFamily="34" charset="-122"/>
                <a:cs typeface="MiSans" pitchFamily="34" charset="-120"/>
              </a:rPr>
              <a:t>// Parser differential pre-check:</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control chars, Unicode whitespace,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backslash-escaped whitespace,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zsh dynamic dir syntax,</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quoted brace expansion confusion</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 </a:t>
            </a:r>
            <a:pPr>
              <a:lnSpc>
                <a:spcPct val="150000"/>
              </a:lnSpc>
            </a:pPr>
            <a:r>
              <a:rPr lang="en-US" sz="1400" dirty="0">
                <a:solidFill>
                  <a:srgbClr val="C4A265"/>
                </a:solidFill>
                <a:latin typeface="MiSans" pitchFamily="34" charset="0"/>
                <a:ea typeface="MiSans" pitchFamily="34" charset="-122"/>
                <a:cs typeface="MiSans" pitchFamily="34" charset="-120"/>
              </a:rPr>
              <a:t>all → too-complex</a:t>
            </a:r>
            <a:endParaRPr lang="en-US" sz="1600" dirty="0"/>
          </a:p>
        </p:txBody>
      </p:sp>
      <p:sp>
        <p:nvSpPr>
          <p:cNvPr id="9" name="Text 7"/>
          <p:cNvSpPr/>
          <p:nvPr/>
        </p:nvSpPr>
        <p:spPr>
          <a:xfrm>
            <a:off x="762000" y="3365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Fail-Closed Design Philosophy</a:t>
            </a:r>
            <a:endParaRPr lang="en-US" sz="2200" dirty="0"/>
          </a:p>
        </p:txBody>
      </p:sp>
      <p:sp>
        <p:nvSpPr>
          <p:cNvPr id="10" name="Shape 8"/>
          <p:cNvSpPr/>
          <p:nvPr/>
        </p:nvSpPr>
        <p:spPr>
          <a:xfrm>
            <a:off x="762000" y="3848100"/>
            <a:ext cx="4699000" cy="1270000"/>
          </a:xfrm>
          <a:prstGeom prst="rect">
            <a:avLst/>
          </a:prstGeom>
          <a:solidFill>
            <a:srgbClr val="161618"/>
          </a:solidFill>
          <a:ln/>
        </p:spPr>
      </p:sp>
      <p:sp>
        <p:nvSpPr>
          <p:cNvPr id="11" name="Text 9"/>
          <p:cNvSpPr/>
          <p:nvPr/>
        </p:nvSpPr>
        <p:spPr>
          <a:xfrm>
            <a:off x="952500" y="3949700"/>
            <a:ext cx="4318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Parser aborts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 too-complex → ask human</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Not "proceed optimistically"</a:t>
            </a:r>
            <a:endParaRPr lang="en-US" sz="1600" dirty="0"/>
          </a:p>
        </p:txBody>
      </p:sp>
      <p:sp>
        <p:nvSpPr>
          <p:cNvPr id="12" name="Shape 10"/>
          <p:cNvSpPr/>
          <p:nvPr/>
        </p:nvSpPr>
        <p:spPr>
          <a:xfrm>
            <a:off x="5715000" y="3848100"/>
            <a:ext cx="4699000" cy="1270000"/>
          </a:xfrm>
          <a:prstGeom prst="rect">
            <a:avLst/>
          </a:prstGeom>
          <a:solidFill>
            <a:srgbClr val="161618"/>
          </a:solidFill>
          <a:ln/>
        </p:spPr>
      </p:sp>
      <p:sp>
        <p:nvSpPr>
          <p:cNvPr id="13" name="Text 11"/>
          <p:cNvSpPr/>
          <p:nvPr/>
        </p:nvSpPr>
        <p:spPr>
          <a:xfrm>
            <a:off x="5905500" y="3949700"/>
            <a:ext cx="4318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Whitelist syntax only</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Only understand explicitly allowed structures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Everything else → too-complex</a:t>
            </a:r>
            <a:endParaRPr lang="en-US" sz="1600" dirty="0"/>
          </a:p>
        </p:txBody>
      </p:sp>
      <p:sp>
        <p:nvSpPr>
          <p:cNvPr id="14" name="Shape 12"/>
          <p:cNvSpPr/>
          <p:nvPr/>
        </p:nvSpPr>
        <p:spPr>
          <a:xfrm>
            <a:off x="10668000" y="3848100"/>
            <a:ext cx="4826000" cy="1270000"/>
          </a:xfrm>
          <a:prstGeom prst="rect">
            <a:avLst/>
          </a:prstGeom>
          <a:solidFill>
            <a:srgbClr val="161618"/>
          </a:solidFill>
          <a:ln/>
        </p:spPr>
      </p:sp>
      <p:sp>
        <p:nvSpPr>
          <p:cNvPr id="15" name="Text 13"/>
          <p:cNvSpPr/>
          <p:nvPr/>
        </p:nvSpPr>
        <p:spPr>
          <a:xfrm>
            <a:off x="10858500" y="3949700"/>
            <a:ext cx="4445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No "best effort"</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Cannot reliably understand → ask</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Never silently proceed</a:t>
            </a:r>
            <a:endParaRPr lang="en-US" sz="1600" dirty="0"/>
          </a:p>
        </p:txBody>
      </p:sp>
      <p:sp>
        <p:nvSpPr>
          <p:cNvPr id="16" name="Text 14"/>
          <p:cNvSpPr/>
          <p:nvPr/>
        </p:nvSpPr>
        <p:spPr>
          <a:xfrm>
            <a:off x="762000" y="5397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Advantage vs Disadvantage</a:t>
            </a:r>
            <a:endParaRPr lang="en-US" sz="2200" dirty="0"/>
          </a:p>
        </p:txBody>
      </p:sp>
      <p:sp>
        <p:nvSpPr>
          <p:cNvPr id="17" name="Shape 15"/>
          <p:cNvSpPr/>
          <p:nvPr/>
        </p:nvSpPr>
        <p:spPr>
          <a:xfrm>
            <a:off x="762000" y="5905500"/>
            <a:ext cx="50800" cy="1016000"/>
          </a:xfrm>
          <a:prstGeom prst="rect">
            <a:avLst/>
          </a:prstGeom>
          <a:solidFill>
            <a:srgbClr val="C4A265"/>
          </a:solidFill>
          <a:ln/>
        </p:spPr>
      </p:sp>
      <p:sp>
        <p:nvSpPr>
          <p:cNvPr id="18" name="Text 16"/>
          <p:cNvSpPr/>
          <p:nvPr/>
        </p:nvSpPr>
        <p:spPr>
          <a:xfrm>
            <a:off x="1016000" y="5905500"/>
            <a:ext cx="6604000" cy="10160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Structural recognition beats keyword matching. Handles wrappers, compound commands, parser differentials. Conservative approach minimizes false negatives (dangerous commands that slip through).</a:t>
            </a:r>
            <a:endParaRPr lang="en-US" sz="1600" dirty="0"/>
          </a:p>
        </p:txBody>
      </p:sp>
      <p:sp>
        <p:nvSpPr>
          <p:cNvPr id="19" name="Shape 17"/>
          <p:cNvSpPr/>
          <p:nvPr/>
        </p:nvSpPr>
        <p:spPr>
          <a:xfrm>
            <a:off x="8382000" y="5905500"/>
            <a:ext cx="50800" cy="1016000"/>
          </a:xfrm>
          <a:prstGeom prst="rect">
            <a:avLst/>
          </a:prstGeom>
          <a:solidFill>
            <a:srgbClr val="8B5A3C"/>
          </a:solidFill>
          <a:ln/>
        </p:spPr>
      </p:sp>
      <p:sp>
        <p:nvSpPr>
          <p:cNvPr id="20" name="Text 18"/>
          <p:cNvSpPr/>
          <p:nvPr/>
        </p:nvSpPr>
        <p:spPr>
          <a:xfrm>
            <a:off x="8636000" y="5905500"/>
            <a:ext cx="6604000" cy="1016000"/>
          </a:xfrm>
          <a:prstGeom prst="rect">
            <a:avLst/>
          </a:prstGeom>
          <a:noFill/>
          <a:ln/>
        </p:spPr>
        <p:txBody>
          <a:bodyPr wrap="square" lIns="0" tIns="0" rIns="0" bIns="0" rtlCol="0" anchor="t"/>
          <a:lstStyle/>
          <a:p>
            <a:pPr>
              <a:lnSpc>
                <a:spcPct val="150000"/>
              </a:lnSpc>
            </a:pPr>
            <a:r>
              <a:rPr lang="en-US" sz="1600" dirty="0">
                <a:solidFill>
                  <a:srgbClr val="D4A088"/>
                </a:solidFill>
                <a:latin typeface="Quattrocento Sans" pitchFamily="34" charset="0"/>
                <a:ea typeface="Quattrocento Sans" pitchFamily="34" charset="-122"/>
                <a:cs typeface="Quattrocento Sans" pitchFamily="34" charset="-120"/>
              </a:rPr>
              <a:t>Disadvantage: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High false-positive rate (many legitimate commands marked too-complex). User experience friction from frequent "ask" prompts. tree-sitter dependency adds bundle size and parse time.</a:t>
            </a:r>
            <a:endParaRPr lang="en-US" sz="1600" dirty="0"/>
          </a:p>
        </p:txBody>
      </p:sp>
      <p:sp>
        <p:nvSpPr>
          <p:cNvPr id="21" name="Shape 19"/>
          <p:cNvSpPr/>
          <p:nvPr/>
        </p:nvSpPr>
        <p:spPr>
          <a:xfrm>
            <a:off x="762000" y="8636000"/>
            <a:ext cx="14732000" cy="12700"/>
          </a:xfrm>
          <a:prstGeom prst="rect">
            <a:avLst/>
          </a:prstGeom>
          <a:solidFill>
            <a:srgbClr val="3A3A3E"/>
          </a:solidFill>
          <a:ln/>
        </p:spPr>
      </p:sp>
      <p:sp>
        <p:nvSpPr>
          <p:cNvPr id="22" name="Text 20"/>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src/utils/bash/ast.ts:381-460, src/utils/bash/ast.ts:404-437</a:t>
            </a:r>
            <a:endParaRPr lang="en-US" sz="1300" dirty="0"/>
          </a:p>
        </p:txBody>
      </p:sp>
    </p:spTree>
  </p:cSld>
  <p:clrMapOvr>
    <a:masterClrMapping/>
  </p:clrMapOvr>
  <p:transition>
    <p:fade/>
    <p:spd val="med"/>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06 BASH SECURITY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Layer 1: Semantic Check Beyond Parsing</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After AST judges as "simple",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checkSemantics()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performs additional semantic-level dangerous wrapper and builtin command checks.</a:t>
            </a:r>
            <a:endParaRPr lang="en-US" sz="1800" dirty="0"/>
          </a:p>
        </p:txBody>
      </p:sp>
      <p:sp>
        <p:nvSpPr>
          <p:cNvPr id="6" name="Text 4"/>
          <p:cNvSpPr/>
          <p:nvPr/>
        </p:nvSpPr>
        <p:spPr>
          <a:xfrm>
            <a:off x="762000" y="2159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Wrapper Stripping</a:t>
            </a:r>
            <a:endParaRPr lang="en-US" sz="2200" dirty="0"/>
          </a:p>
        </p:txBody>
      </p:sp>
      <p:sp>
        <p:nvSpPr>
          <p:cNvPr id="7" name="Text 5"/>
          <p:cNvSpPr/>
          <p:nvPr/>
        </p:nvSpPr>
        <p:spPr>
          <a:xfrm>
            <a:off x="762000" y="2603500"/>
            <a:ext cx="7112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Strips wrappers: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time, nohup, timeout, nice, env</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then checks internal real command. Avoids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timeout 10 rm -rf /</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nohup eval ...</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wrapper bypass.</a:t>
            </a:r>
            <a:endParaRPr lang="en-US" sz="1800" dirty="0"/>
          </a:p>
        </p:txBody>
      </p:sp>
      <p:sp>
        <p:nvSpPr>
          <p:cNvPr id="8" name="Text 6"/>
          <p:cNvSpPr/>
          <p:nvPr/>
        </p:nvSpPr>
        <p:spPr>
          <a:xfrm>
            <a:off x="8382000" y="2159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Blacklisted Builtins</a:t>
            </a:r>
            <a:endParaRPr lang="en-US" sz="2200" dirty="0"/>
          </a:p>
        </p:txBody>
      </p:sp>
      <p:sp>
        <p:nvSpPr>
          <p:cNvPr id="9" name="Shape 7"/>
          <p:cNvSpPr/>
          <p:nvPr/>
        </p:nvSpPr>
        <p:spPr>
          <a:xfrm>
            <a:off x="8382000" y="2603500"/>
            <a:ext cx="7112000" cy="889000"/>
          </a:xfrm>
          <a:prstGeom prst="roundRect">
            <a:avLst>
              <a:gd name="adj" fmla="val 4000"/>
            </a:avLst>
          </a:prstGeom>
          <a:solidFill>
            <a:srgbClr val="161618"/>
          </a:solidFill>
          <a:ln/>
        </p:spPr>
      </p:sp>
      <p:sp>
        <p:nvSpPr>
          <p:cNvPr id="10" name="Text 8"/>
          <p:cNvSpPr/>
          <p:nvPr/>
        </p:nvSpPr>
        <p:spPr>
          <a:xfrm>
            <a:off x="8636000" y="2692400"/>
            <a:ext cx="6604000" cy="711200"/>
          </a:xfrm>
          <a:prstGeom prst="rect">
            <a:avLst/>
          </a:prstGeom>
          <a:noFill/>
          <a:ln/>
        </p:spPr>
        <p:txBody>
          <a:bodyPr wrap="square" lIns="0" tIns="0" rIns="0" bIns="0" rtlCol="0" anchor="ctr"/>
          <a:lstStyle/>
          <a:p>
            <a:pPr>
              <a:lnSpc>
                <a:spcPct val="150000"/>
              </a:lnSpc>
            </a:pPr>
            <a:r>
              <a:rPr lang="en-US" sz="1300" dirty="0">
                <a:solidFill>
                  <a:srgbClr val="E8DCC8"/>
                </a:solidFill>
                <a:latin typeface="MiSans" pitchFamily="34" charset="0"/>
                <a:ea typeface="MiSans" pitchFamily="34" charset="-122"/>
                <a:cs typeface="MiSans" pitchFamily="34" charset="-120"/>
              </a:rPr>
              <a:t>eval, source, ., exec, command, builtin, fc, coproc,</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trap, enable, hash, bind, complete, compgen, alias</a:t>
            </a:r>
            <a:endParaRPr lang="en-US" sz="1600" dirty="0"/>
          </a:p>
        </p:txBody>
      </p:sp>
      <p:sp>
        <p:nvSpPr>
          <p:cNvPr id="11" name="Text 9"/>
          <p:cNvSpPr/>
          <p:nvPr/>
        </p:nvSpPr>
        <p:spPr>
          <a:xfrm>
            <a:off x="762000" y="37846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What This Layer Defends Against</a:t>
            </a:r>
            <a:endParaRPr lang="en-US" sz="2200" dirty="0"/>
          </a:p>
        </p:txBody>
      </p:sp>
      <p:sp>
        <p:nvSpPr>
          <p:cNvPr id="12" name="Shape 10"/>
          <p:cNvSpPr/>
          <p:nvPr/>
        </p:nvSpPr>
        <p:spPr>
          <a:xfrm>
            <a:off x="762000" y="4267200"/>
            <a:ext cx="3556000" cy="1143000"/>
          </a:xfrm>
          <a:prstGeom prst="rect">
            <a:avLst/>
          </a:prstGeom>
          <a:solidFill>
            <a:srgbClr val="161618"/>
          </a:solidFill>
          <a:ln/>
        </p:spPr>
      </p:sp>
      <p:sp>
        <p:nvSpPr>
          <p:cNvPr id="13" name="Text 11"/>
          <p:cNvSpPr/>
          <p:nvPr/>
        </p:nvSpPr>
        <p:spPr>
          <a:xfrm>
            <a:off x="952500" y="4368800"/>
            <a:ext cx="3175000" cy="939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Wrapper Bypass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"timeout 10 rm -rf /" — wrapper hides real command</a:t>
            </a:r>
            <a:endParaRPr lang="en-US" sz="1600" dirty="0"/>
          </a:p>
        </p:txBody>
      </p:sp>
      <p:sp>
        <p:nvSpPr>
          <p:cNvPr id="14" name="Shape 12"/>
          <p:cNvSpPr/>
          <p:nvPr/>
        </p:nvSpPr>
        <p:spPr>
          <a:xfrm>
            <a:off x="4572000" y="4267200"/>
            <a:ext cx="3556000" cy="1143000"/>
          </a:xfrm>
          <a:prstGeom prst="rect">
            <a:avLst/>
          </a:prstGeom>
          <a:solidFill>
            <a:srgbClr val="161618"/>
          </a:solidFill>
          <a:ln/>
        </p:spPr>
      </p:sp>
      <p:sp>
        <p:nvSpPr>
          <p:cNvPr id="15" name="Text 13"/>
          <p:cNvSpPr/>
          <p:nvPr/>
        </p:nvSpPr>
        <p:spPr>
          <a:xfrm>
            <a:off x="4762500" y="4368800"/>
            <a:ext cx="3175000" cy="939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Compound Commands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Dangerous subcommand inside benign-looking structure</a:t>
            </a:r>
            <a:endParaRPr lang="en-US" sz="1600" dirty="0"/>
          </a:p>
        </p:txBody>
      </p:sp>
      <p:sp>
        <p:nvSpPr>
          <p:cNvPr id="16" name="Shape 14"/>
          <p:cNvSpPr/>
          <p:nvPr/>
        </p:nvSpPr>
        <p:spPr>
          <a:xfrm>
            <a:off x="8382000" y="4267200"/>
            <a:ext cx="3556000" cy="1143000"/>
          </a:xfrm>
          <a:prstGeom prst="rect">
            <a:avLst/>
          </a:prstGeom>
          <a:solidFill>
            <a:srgbClr val="161618"/>
          </a:solidFill>
          <a:ln/>
        </p:spPr>
      </p:sp>
      <p:sp>
        <p:nvSpPr>
          <p:cNvPr id="17" name="Text 15"/>
          <p:cNvSpPr/>
          <p:nvPr/>
        </p:nvSpPr>
        <p:spPr>
          <a:xfrm>
            <a:off x="8572500" y="4368800"/>
            <a:ext cx="3175000" cy="939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Parser Differential</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Commands that parse differently between tree-sitter and shell</a:t>
            </a:r>
            <a:endParaRPr lang="en-US" sz="1600" dirty="0"/>
          </a:p>
        </p:txBody>
      </p:sp>
      <p:sp>
        <p:nvSpPr>
          <p:cNvPr id="18" name="Shape 16"/>
          <p:cNvSpPr/>
          <p:nvPr/>
        </p:nvSpPr>
        <p:spPr>
          <a:xfrm>
            <a:off x="12192000" y="4267200"/>
            <a:ext cx="3302000" cy="1143000"/>
          </a:xfrm>
          <a:prstGeom prst="rect">
            <a:avLst/>
          </a:prstGeom>
          <a:solidFill>
            <a:srgbClr val="161618"/>
          </a:solidFill>
          <a:ln/>
        </p:spPr>
      </p:sp>
      <p:sp>
        <p:nvSpPr>
          <p:cNvPr id="19" name="Text 17"/>
          <p:cNvSpPr/>
          <p:nvPr/>
        </p:nvSpPr>
        <p:spPr>
          <a:xfrm>
            <a:off x="12382500" y="4368800"/>
            <a:ext cx="2921000" cy="939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Complex Syntax</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Structures beyond explicit whitelist</a:t>
            </a:r>
            <a:endParaRPr lang="en-US" sz="1600" dirty="0"/>
          </a:p>
        </p:txBody>
      </p:sp>
      <p:sp>
        <p:nvSpPr>
          <p:cNvPr id="20" name="Shape 18"/>
          <p:cNvSpPr/>
          <p:nvPr/>
        </p:nvSpPr>
        <p:spPr>
          <a:xfrm>
            <a:off x="762000" y="5715000"/>
            <a:ext cx="50800" cy="1143000"/>
          </a:xfrm>
          <a:prstGeom prst="rect">
            <a:avLst/>
          </a:prstGeom>
          <a:solidFill>
            <a:srgbClr val="C4A265"/>
          </a:solidFill>
          <a:ln/>
        </p:spPr>
      </p:sp>
      <p:sp>
        <p:nvSpPr>
          <p:cNvPr id="21" name="Text 19"/>
          <p:cNvSpPr/>
          <p:nvPr/>
        </p:nvSpPr>
        <p:spPr>
          <a:xfrm>
            <a:off x="1016000" y="5715000"/>
            <a:ext cx="14224000" cy="1143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This is structural-level recognition, not simple keyword matching. The system handles "wrapper wraps real command", "compound command with dangerous subcommand", "parser differential", "overly complex command structure". For anything it cannot reliably understand, it fails closed — requiring human confirmation.</a:t>
            </a:r>
            <a:endParaRPr lang="en-US" sz="1800" dirty="0"/>
          </a:p>
        </p:txBody>
      </p:sp>
      <p:sp>
        <p:nvSpPr>
          <p:cNvPr id="22" name="Shape 20"/>
          <p:cNvSpPr/>
          <p:nvPr/>
        </p:nvSpPr>
        <p:spPr>
          <a:xfrm>
            <a:off x="762000" y="8636000"/>
            <a:ext cx="14732000" cy="12700"/>
          </a:xfrm>
          <a:prstGeom prst="rect">
            <a:avLst/>
          </a:prstGeom>
          <a:solidFill>
            <a:srgbClr val="3A3A3E"/>
          </a:solidFill>
          <a:ln/>
        </p:spPr>
      </p:sp>
      <p:sp>
        <p:nvSpPr>
          <p:cNvPr id="23" name="Text 21"/>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src/utils/bash/ast.ts:2209-2325, src/utils/bash/ast.ts:2080-2130</a:t>
            </a:r>
            <a:endParaRPr lang="en-US" sz="1300" dirty="0"/>
          </a:p>
        </p:txBody>
      </p:sp>
    </p:spTree>
  </p:cSld>
  <p:clrMapOvr>
    <a:masterClrMapping/>
  </p:clrMapOvr>
  <p:transition>
    <p:fade/>
    <p:spd val="med"/>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06 BASH SECURITY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Layer 2: Permission Governance — Multi-Stage Decision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bashToolHasPermission() Flow</a:t>
            </a:r>
            <a:endParaRPr lang="en-US" sz="2200" dirty="0"/>
          </a:p>
        </p:txBody>
      </p:sp>
      <p:sp>
        <p:nvSpPr>
          <p:cNvPr id="6" name="Shape 4"/>
          <p:cNvSpPr/>
          <p:nvPr/>
        </p:nvSpPr>
        <p:spPr>
          <a:xfrm>
            <a:off x="762000" y="1943100"/>
            <a:ext cx="14732000" cy="1270000"/>
          </a:xfrm>
          <a:prstGeom prst="roundRect">
            <a:avLst>
              <a:gd name="adj" fmla="val 4000"/>
            </a:avLst>
          </a:prstGeom>
          <a:solidFill>
            <a:srgbClr val="161618"/>
          </a:solidFill>
          <a:ln/>
        </p:spPr>
      </p:sp>
      <p:sp>
        <p:nvSpPr>
          <p:cNvPr id="7" name="Text 5"/>
          <p:cNvSpPr/>
          <p:nvPr/>
        </p:nvSpPr>
        <p:spPr>
          <a:xfrm>
            <a:off x="1016000" y="2044700"/>
            <a:ext cx="14224000" cy="10668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parseCommandRaw()</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a:t>
            </a:r>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parseForSecurityFromAst()</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if </a:t>
            </a:r>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too-complex</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check deny rules first; no deny hit → </a:t>
            </a:r>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ask</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If </a:t>
            </a:r>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simple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run </a:t>
            </a:r>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checkSemantics()</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semantic failure → </a:t>
            </a:r>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ask</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or </a:t>
            </a:r>
            <a:pPr>
              <a:lnSpc>
                <a:spcPct val="150000"/>
              </a:lnSpc>
            </a:pPr>
            <a:r>
              <a:rPr lang="en-US" sz="1600" b="1" dirty="0">
                <a:solidFill>
                  <a:srgbClr val="E8DCC8"/>
                </a:solidFill>
                <a:latin typeface="Quattrocento Sans" pitchFamily="34" charset="0"/>
                <a:ea typeface="Quattrocento Sans" pitchFamily="34" charset="-122"/>
                <a:cs typeface="Quattrocento Sans" pitchFamily="34" charset="-120"/>
              </a:rPr>
              <a:t>deny</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Only when tree-sitter unavailable or gated off → fall back to legacy shell-quote path.</a:t>
            </a:r>
            <a:endParaRPr lang="en-US" sz="1600" dirty="0"/>
          </a:p>
        </p:txBody>
      </p:sp>
      <p:sp>
        <p:nvSpPr>
          <p:cNvPr id="8" name="Text 6"/>
          <p:cNvSpPr/>
          <p:nvPr/>
        </p:nvSpPr>
        <p:spPr>
          <a:xfrm>
            <a:off x="762000" y="34671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Permission Modes</a:t>
            </a:r>
            <a:endParaRPr lang="en-US" sz="2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62000" y="3949700"/>
          <a:ext cx="14732000" cy="2540000"/>
        </p:xfrm>
        <a:graphic>
          <a:graphicData uri="http://schemas.openxmlformats.org/drawingml/2006/table">
            <a:tbl>
              <a:tblPr/>
              <a:tblGrid>
                <a:gridCol w="2946400"/>
                <a:gridCol w="5892800"/>
                <a:gridCol w="5892800"/>
              </a:tblGrid>
              <a:tr h="406400">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Mode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Behavior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Source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3556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acceptEdits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mkdir, touch, rm, rmdir, mv, cp, sed auto-execute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src/tools/BashTool/modeValidation.ts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3556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default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No special exemption, passthrough收束为ask</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src/utils/permissions/permissions.ts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3556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dontAsk</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统一 rewrites ask to deny at final stage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src/utils/permissions/permissions.ts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3556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plan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Needs leader's plan approval to exit plan mode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src/utils/permissions/permissions.ts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3556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bypassPermissions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Direct pass, but tool-level ask + safetyCheck can still block</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src/utils/permissions/permissions.ts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3556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auto</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Normal permission first, then classifier/allowlist fast paths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Feature-gated (TRANSCRIPT_CLASSIFIER)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bl>
          </a:graphicData>
        </a:graphic>
      </p:graphicFrame>
      <p:sp>
        <p:nvSpPr>
          <p:cNvPr id="10" name="Text 7"/>
          <p:cNvSpPr/>
          <p:nvPr/>
        </p:nvSpPr>
        <p:spPr>
          <a:xfrm>
            <a:off x="762000" y="6731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Sandbox Auto-Allow</a:t>
            </a:r>
            <a:endParaRPr lang="en-US" sz="2200" dirty="0"/>
          </a:p>
        </p:txBody>
      </p:sp>
      <p:sp>
        <p:nvSpPr>
          <p:cNvPr id="11" name="Text 8"/>
          <p:cNvSpPr/>
          <p:nvPr/>
        </p:nvSpPr>
        <p:spPr>
          <a:xfrm>
            <a:off x="762000" y="7175500"/>
            <a:ext cx="14732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If sandbox enabled +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autoAllowBashIfSandboxed</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can auto-allow with reason "Auto-allowed with sandbox". This is not "Bash is safe because sandbox" — it's "if runtime isolation is strong enough AND no rules conflict, reduce friction for common operations".</a:t>
            </a:r>
            <a:endParaRPr lang="en-US" sz="1800" dirty="0"/>
          </a:p>
        </p:txBody>
      </p:sp>
      <p:sp>
        <p:nvSpPr>
          <p:cNvPr id="12" name="Shape 9"/>
          <p:cNvSpPr/>
          <p:nvPr/>
        </p:nvSpPr>
        <p:spPr>
          <a:xfrm>
            <a:off x="762000" y="8636000"/>
            <a:ext cx="14732000" cy="12700"/>
          </a:xfrm>
          <a:prstGeom prst="rect">
            <a:avLst/>
          </a:prstGeom>
          <a:solidFill>
            <a:srgbClr val="3A3A3E"/>
          </a:solidFill>
          <a:ln/>
        </p:spPr>
      </p:sp>
      <p:sp>
        <p:nvSpPr>
          <p:cNvPr id="13" name="Text 10"/>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src/tools/BashTool/bashPermissions.ts:1663-1843</a:t>
            </a:r>
            <a:endParaRPr lang="en-US" sz="1300" dirty="0"/>
          </a:p>
        </p:txBody>
      </p:sp>
    </p:spTree>
  </p:cSld>
  <p:clrMapOvr>
    <a:masterClrMapping/>
  </p:clrMapOvr>
  <p:transition>
    <p:fade/>
    <p:spd val="med"/>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06 BASH SECURITY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Layer 3: Runtime Sandbox — Physical Isolation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How It Works</a:t>
            </a:r>
            <a:endParaRPr lang="en-US" sz="2200" dirty="0"/>
          </a:p>
        </p:txBody>
      </p:sp>
      <p:sp>
        <p:nvSpPr>
          <p:cNvPr id="6" name="Text 4"/>
          <p:cNvSpPr/>
          <p:nvPr/>
        </p:nvSpPr>
        <p:spPr>
          <a:xfrm>
            <a:off x="762000" y="1905000"/>
            <a:ext cx="7112000" cy="1016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BashTool ultimately executes through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SandboxManager</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wrapping commands.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shouldUseSandbox()</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considers: sandbox enabled, dangerouslyDisableSandbox, policy allows unsandboxed, command hits excludedCommands.</a:t>
            </a:r>
            <a:endParaRPr lang="en-US" sz="1800" dirty="0"/>
          </a:p>
        </p:txBody>
      </p:sp>
      <p:sp>
        <p:nvSpPr>
          <p:cNvPr id="7" name="Shape 5"/>
          <p:cNvSpPr/>
          <p:nvPr/>
        </p:nvSpPr>
        <p:spPr>
          <a:xfrm>
            <a:off x="8382000" y="1460500"/>
            <a:ext cx="7112000" cy="1524000"/>
          </a:xfrm>
          <a:prstGeom prst="roundRect">
            <a:avLst>
              <a:gd name="adj" fmla="val 4000"/>
            </a:avLst>
          </a:prstGeom>
          <a:solidFill>
            <a:srgbClr val="161618"/>
          </a:solidFill>
          <a:ln/>
        </p:spPr>
      </p:sp>
      <p:sp>
        <p:nvSpPr>
          <p:cNvPr id="8" name="Text 6"/>
          <p:cNvSpPr/>
          <p:nvPr/>
        </p:nvSpPr>
        <p:spPr>
          <a:xfrm>
            <a:off x="8636000" y="1562100"/>
            <a:ext cx="6604000" cy="13208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sandbox-adapter.ts constructs:</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allowWrite / denyWrite</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allowRead / denyRead</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allowedDomains / deniedDomains</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 hands to sandbox-runtime</a:t>
            </a:r>
            <a:endParaRPr lang="en-US" sz="1600" dirty="0"/>
          </a:p>
          <a:p>
            <a:pPr>
              <a:lnSpc>
                <a:spcPct val="150000"/>
              </a:lnSpc>
            </a:pPr>
            <a:r>
              <a:rPr lang="en-US" sz="1400" dirty="0">
                <a:solidFill>
                  <a:srgbClr val="9A9590"/>
                </a:solidFill>
                <a:latin typeface="MiSans" pitchFamily="34" charset="0"/>
                <a:ea typeface="MiSans" pitchFamily="34" charset="-122"/>
                <a:cs typeface="MiSans" pitchFamily="34" charset="-120"/>
              </a:rPr>
              <a:t>src/utils/sandbox/sandbox-adapter.ts:222-380</a:t>
            </a:r>
            <a:endParaRPr lang="en-US" sz="1600" dirty="0"/>
          </a:p>
        </p:txBody>
      </p:sp>
      <p:sp>
        <p:nvSpPr>
          <p:cNvPr id="9" name="Text 7"/>
          <p:cNvSpPr/>
          <p:nvPr/>
        </p:nvSpPr>
        <p:spPr>
          <a:xfrm>
            <a:off x="762000" y="3238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Default Protections</a:t>
            </a:r>
            <a:endParaRPr lang="en-US" sz="2200" dirty="0"/>
          </a:p>
        </p:txBody>
      </p:sp>
      <p:sp>
        <p:nvSpPr>
          <p:cNvPr id="10" name="Shape 8"/>
          <p:cNvSpPr/>
          <p:nvPr/>
        </p:nvSpPr>
        <p:spPr>
          <a:xfrm>
            <a:off x="762000" y="3721100"/>
            <a:ext cx="4699000" cy="1397000"/>
          </a:xfrm>
          <a:prstGeom prst="rect">
            <a:avLst/>
          </a:prstGeom>
          <a:solidFill>
            <a:srgbClr val="161618"/>
          </a:solidFill>
          <a:ln/>
        </p:spPr>
      </p:sp>
      <p:sp>
        <p:nvSpPr>
          <p:cNvPr id="11" name="Shape 9"/>
          <p:cNvSpPr/>
          <p:nvPr/>
        </p:nvSpPr>
        <p:spPr>
          <a:xfrm>
            <a:off x="762000" y="3721100"/>
            <a:ext cx="50800" cy="1397000"/>
          </a:xfrm>
          <a:prstGeom prst="rect">
            <a:avLst/>
          </a:prstGeom>
          <a:solidFill>
            <a:srgbClr val="C4A265"/>
          </a:solidFill>
          <a:ln/>
        </p:spPr>
      </p:sp>
      <p:sp>
        <p:nvSpPr>
          <p:cNvPr id="12" name="Text 10"/>
          <p:cNvSpPr/>
          <p:nvPr/>
        </p:nvSpPr>
        <p:spPr>
          <a:xfrm>
            <a:off x="1016000" y="3822700"/>
            <a:ext cx="4254500" cy="1193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Block Claude Settings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Prevent writing Claude config files — blocks escape via configuration manipulation</a:t>
            </a:r>
            <a:endParaRPr lang="en-US" sz="1600" dirty="0"/>
          </a:p>
        </p:txBody>
      </p:sp>
      <p:sp>
        <p:nvSpPr>
          <p:cNvPr id="13" name="Shape 11"/>
          <p:cNvSpPr/>
          <p:nvPr/>
        </p:nvSpPr>
        <p:spPr>
          <a:xfrm>
            <a:off x="5715000" y="3721100"/>
            <a:ext cx="4699000" cy="1397000"/>
          </a:xfrm>
          <a:prstGeom prst="rect">
            <a:avLst/>
          </a:prstGeom>
          <a:solidFill>
            <a:srgbClr val="161618"/>
          </a:solidFill>
          <a:ln/>
        </p:spPr>
      </p:sp>
      <p:sp>
        <p:nvSpPr>
          <p:cNvPr id="14" name="Shape 12"/>
          <p:cNvSpPr/>
          <p:nvPr/>
        </p:nvSpPr>
        <p:spPr>
          <a:xfrm>
            <a:off x="5715000" y="3721100"/>
            <a:ext cx="50800" cy="1397000"/>
          </a:xfrm>
          <a:prstGeom prst="rect">
            <a:avLst/>
          </a:prstGeom>
          <a:solidFill>
            <a:srgbClr val="6B8E6B"/>
          </a:solidFill>
          <a:ln/>
        </p:spPr>
      </p:sp>
      <p:sp>
        <p:nvSpPr>
          <p:cNvPr id="15" name="Text 13"/>
          <p:cNvSpPr/>
          <p:nvPr/>
        </p:nvSpPr>
        <p:spPr>
          <a:xfrm>
            <a:off x="5969000" y="3822700"/>
            <a:ext cx="4254500" cy="1193800"/>
          </a:xfrm>
          <a:prstGeom prst="rect">
            <a:avLst/>
          </a:prstGeom>
          <a:noFill/>
          <a:ln/>
        </p:spPr>
        <p:txBody>
          <a:bodyPr wrap="square" lIns="0" tIns="0" rIns="0" bIns="0" rtlCol="0" anchor="t"/>
          <a:lstStyle/>
          <a:p>
            <a:pPr>
              <a:lnSpc>
                <a:spcPct val="150000"/>
              </a:lnSpc>
            </a:pPr>
            <a:r>
              <a:rPr lang="en-US" sz="1500" b="1" dirty="0">
                <a:solidFill>
                  <a:srgbClr val="8FBC8F"/>
                </a:solidFill>
                <a:latin typeface="Quattrocento Sans" pitchFamily="34" charset="0"/>
                <a:ea typeface="Quattrocento Sans" pitchFamily="34" charset="-122"/>
                <a:cs typeface="Quattrocento Sans" pitchFamily="34" charset="-120"/>
              </a:rPr>
              <a:t>Block .claude/skills</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Skills have high privilege like commands/agents — writing skills = privilege escalation</a:t>
            </a:r>
            <a:endParaRPr lang="en-US" sz="1600" dirty="0"/>
          </a:p>
        </p:txBody>
      </p:sp>
      <p:sp>
        <p:nvSpPr>
          <p:cNvPr id="16" name="Shape 14"/>
          <p:cNvSpPr/>
          <p:nvPr/>
        </p:nvSpPr>
        <p:spPr>
          <a:xfrm>
            <a:off x="10668000" y="3721100"/>
            <a:ext cx="4826000" cy="1397000"/>
          </a:xfrm>
          <a:prstGeom prst="rect">
            <a:avLst/>
          </a:prstGeom>
          <a:solidFill>
            <a:srgbClr val="161618"/>
          </a:solidFill>
          <a:ln/>
        </p:spPr>
      </p:sp>
      <p:sp>
        <p:nvSpPr>
          <p:cNvPr id="17" name="Shape 15"/>
          <p:cNvSpPr/>
          <p:nvPr/>
        </p:nvSpPr>
        <p:spPr>
          <a:xfrm>
            <a:off x="10668000" y="3721100"/>
            <a:ext cx="50800" cy="1397000"/>
          </a:xfrm>
          <a:prstGeom prst="rect">
            <a:avLst/>
          </a:prstGeom>
          <a:solidFill>
            <a:srgbClr val="8B7B6B"/>
          </a:solidFill>
          <a:ln/>
        </p:spPr>
      </p:sp>
      <p:sp>
        <p:nvSpPr>
          <p:cNvPr id="18" name="Text 16"/>
          <p:cNvSpPr/>
          <p:nvPr/>
        </p:nvSpPr>
        <p:spPr>
          <a:xfrm>
            <a:off x="10922000" y="3822700"/>
            <a:ext cx="4381500" cy="1193800"/>
          </a:xfrm>
          <a:prstGeom prst="rect">
            <a:avLst/>
          </a:prstGeom>
          <a:noFill/>
          <a:ln/>
        </p:spPr>
        <p:txBody>
          <a:bodyPr wrap="square" lIns="0" tIns="0" rIns="0" bIns="0" rtlCol="0" anchor="t"/>
          <a:lstStyle/>
          <a:p>
            <a:pPr>
              <a:lnSpc>
                <a:spcPct val="150000"/>
              </a:lnSpc>
            </a:pPr>
            <a:r>
              <a:rPr lang="en-US" sz="1500" b="1" dirty="0">
                <a:solidFill>
                  <a:srgbClr val="C4A88A"/>
                </a:solidFill>
                <a:latin typeface="Quattrocento Sans" pitchFamily="34" charset="0"/>
                <a:ea typeface="Quattrocento Sans" pitchFamily="34" charset="-122"/>
                <a:cs typeface="Quattrocento Sans" pitchFamily="34" charset="-120"/>
              </a:rPr>
              <a:t>Bare Git Repo Protection</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Prevent malicious hooks from exploiting subsequent unsandboxed git operations</a:t>
            </a:r>
            <a:endParaRPr lang="en-US" sz="1600" dirty="0"/>
          </a:p>
        </p:txBody>
      </p:sp>
      <p:sp>
        <p:nvSpPr>
          <p:cNvPr id="19" name="Text 17"/>
          <p:cNvSpPr/>
          <p:nvPr/>
        </p:nvSpPr>
        <p:spPr>
          <a:xfrm>
            <a:off x="762000" y="53975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Important Note: excludedCommands is NOT Security</a:t>
            </a:r>
            <a:endParaRPr lang="en-US" sz="2200" dirty="0"/>
          </a:p>
        </p:txBody>
      </p:sp>
      <p:sp>
        <p:nvSpPr>
          <p:cNvPr id="20" name="Text 18"/>
          <p:cNvSpPr/>
          <p:nvPr/>
        </p:nvSpPr>
        <p:spPr>
          <a:xfrm>
            <a:off x="762000" y="5842000"/>
            <a:ext cx="14732000" cy="762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sandbox.excludedCommands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is a user convenience feature — "I trust ls, don't wrap it". It is NOT a security boundary. A compromised model cannot be stopped by adding commands to the exclusion list. The actual security boundary is the sandbox runtime's filesystem/network restrictions.</a:t>
            </a:r>
            <a:endParaRPr lang="en-US" sz="1800" dirty="0"/>
          </a:p>
        </p:txBody>
      </p:sp>
      <p:sp>
        <p:nvSpPr>
          <p:cNvPr id="21" name="Shape 19"/>
          <p:cNvSpPr/>
          <p:nvPr/>
        </p:nvSpPr>
        <p:spPr>
          <a:xfrm>
            <a:off x="762000" y="6858000"/>
            <a:ext cx="50800" cy="1397000"/>
          </a:xfrm>
          <a:prstGeom prst="rect">
            <a:avLst/>
          </a:prstGeom>
          <a:solidFill>
            <a:srgbClr val="C4A265"/>
          </a:solidFill>
          <a:ln/>
        </p:spPr>
      </p:sp>
      <p:sp>
        <p:nvSpPr>
          <p:cNvPr id="22" name="Text 20"/>
          <p:cNvSpPr/>
          <p:nvPr/>
        </p:nvSpPr>
        <p:spPr>
          <a:xfrm>
            <a:off x="1016000" y="68580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Advantage vs Disadvantage</a:t>
            </a:r>
            <a:endParaRPr lang="en-US" sz="1600" dirty="0"/>
          </a:p>
        </p:txBody>
      </p:sp>
      <p:sp>
        <p:nvSpPr>
          <p:cNvPr id="23" name="Text 21"/>
          <p:cNvSpPr/>
          <p:nvPr/>
        </p:nvSpPr>
        <p:spPr>
          <a:xfrm>
            <a:off x="1016000" y="7239000"/>
            <a:ext cx="6858000" cy="8890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True physical isolation. Even if AST and permission layers are bypassed, the sandbox prevents filesystem/network damage. Defense in depth with three independent layers.</a:t>
            </a:r>
            <a:endParaRPr lang="en-US" sz="1600" dirty="0"/>
          </a:p>
        </p:txBody>
      </p:sp>
      <p:sp>
        <p:nvSpPr>
          <p:cNvPr id="24" name="Text 22"/>
          <p:cNvSpPr/>
          <p:nvPr/>
        </p:nvSpPr>
        <p:spPr>
          <a:xfrm>
            <a:off x="8382000" y="7239000"/>
            <a:ext cx="7112000" cy="889000"/>
          </a:xfrm>
          <a:prstGeom prst="rect">
            <a:avLst/>
          </a:prstGeom>
          <a:noFill/>
          <a:ln/>
        </p:spPr>
        <p:txBody>
          <a:bodyPr wrap="square" lIns="0" tIns="0" rIns="0" bIns="0" rtlCol="0" anchor="t"/>
          <a:lstStyle/>
          <a:p>
            <a:pPr>
              <a:lnSpc>
                <a:spcPct val="150000"/>
              </a:lnSpc>
            </a:pPr>
            <a:r>
              <a:rPr lang="en-US" sz="1600" dirty="0">
                <a:solidFill>
                  <a:srgbClr val="D4A088"/>
                </a:solidFill>
                <a:latin typeface="Quattrocento Sans" pitchFamily="34" charset="0"/>
                <a:ea typeface="Quattrocento Sans" pitchFamily="34" charset="-122"/>
                <a:cs typeface="Quattrocento Sans" pitchFamily="34" charset="-120"/>
              </a:rPr>
              <a:t>Disadvantage: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Platform-dependent (macOS sandbox vs Linux namespaces). Performance overhead from sandbox setup. Some legitimate operations may be blocked, requiring user to disable sandbox.</a:t>
            </a:r>
            <a:endParaRPr lang="en-US" sz="1600" dirty="0"/>
          </a:p>
        </p:txBody>
      </p:sp>
      <p:sp>
        <p:nvSpPr>
          <p:cNvPr id="25" name="Shape 23"/>
          <p:cNvSpPr/>
          <p:nvPr/>
        </p:nvSpPr>
        <p:spPr>
          <a:xfrm>
            <a:off x="762000" y="8636000"/>
            <a:ext cx="14732000" cy="12700"/>
          </a:xfrm>
          <a:prstGeom prst="rect">
            <a:avLst/>
          </a:prstGeom>
          <a:solidFill>
            <a:srgbClr val="3A3A3E"/>
          </a:solidFill>
          <a:ln/>
        </p:spPr>
      </p:sp>
      <p:sp>
        <p:nvSpPr>
          <p:cNvPr id="26" name="Text 24"/>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src/utils/Shell.ts:259-273, src/utils/sandbox/sandbox-adapter.ts:222-380</a:t>
            </a:r>
            <a:endParaRPr lang="en-US" sz="1300" dirty="0"/>
          </a:p>
        </p:txBody>
      </p:sp>
    </p:spTree>
  </p:cSld>
  <p:clrMapOvr>
    <a:masterClrMapping/>
  </p:clrMapOvr>
  <p:transition>
    <p:fade/>
    <p:spd val="med"/>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06 BASH SECURITY HARNESS</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Path Security: Beyond Simple Blacklist</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Sensitive Files &amp; Directories</a:t>
            </a:r>
            <a:endParaRPr lang="en-US" sz="2200" dirty="0"/>
          </a:p>
        </p:txBody>
      </p:sp>
      <p:sp>
        <p:nvSpPr>
          <p:cNvPr id="6" name="Shape 4"/>
          <p:cNvSpPr/>
          <p:nvPr/>
        </p:nvSpPr>
        <p:spPr>
          <a:xfrm>
            <a:off x="762000" y="1943100"/>
            <a:ext cx="7112000" cy="1397000"/>
          </a:xfrm>
          <a:prstGeom prst="roundRect">
            <a:avLst>
              <a:gd name="adj" fmla="val 4000"/>
            </a:avLst>
          </a:prstGeom>
          <a:solidFill>
            <a:srgbClr val="161618"/>
          </a:solidFill>
          <a:ln/>
        </p:spPr>
      </p:sp>
      <p:sp>
        <p:nvSpPr>
          <p:cNvPr id="7" name="Text 5"/>
          <p:cNvSpPr/>
          <p:nvPr/>
        </p:nvSpPr>
        <p:spPr>
          <a:xfrm>
            <a:off x="1016000" y="2044700"/>
            <a:ext cx="6604000" cy="1193800"/>
          </a:xfrm>
          <a:prstGeom prst="rect">
            <a:avLst/>
          </a:prstGeom>
          <a:noFill/>
          <a:ln/>
        </p:spPr>
        <p:txBody>
          <a:bodyPr wrap="square" lIns="0" tIns="0" rIns="0" bIns="0" rtlCol="0" anchor="t"/>
          <a:lstStyle/>
          <a:p>
            <a:pPr>
              <a:lnSpc>
                <a:spcPct val="150000"/>
              </a:lnSpc>
            </a:pPr>
            <a:r>
              <a:rPr lang="en-US" sz="1300" dirty="0">
                <a:solidFill>
                  <a:srgbClr val="C4A265"/>
                </a:solidFill>
                <a:latin typeface="MiSans" pitchFamily="34" charset="0"/>
                <a:ea typeface="MiSans" pitchFamily="34" charset="-122"/>
                <a:cs typeface="MiSans" pitchFamily="34" charset="-120"/>
              </a:rPr>
              <a:t>// Sensitive files:</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.gitconfig, .gitmodules, .bashrc, .bash_profile,</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.zshrc, .zprofile, .profile, .ripgreprc,</a:t>
            </a:r>
            <a:endParaRPr lang="en-US" sz="1600" dirty="0"/>
          </a:p>
          <a:p>
            <a:pPr>
              <a:lnSpc>
                <a:spcPct val="150000"/>
              </a:lnSpc>
            </a:pPr>
            <a:r>
              <a:rPr lang="en-US" sz="1300" dirty="0">
                <a:solidFill>
                  <a:srgbClr val="E8DCC8"/>
                </a:solidFill>
                <a:latin typeface="MiSans" pitchFamily="34" charset="0"/>
                <a:ea typeface="MiSans" pitchFamily="34" charset="-122"/>
                <a:cs typeface="MiSans" pitchFamily="34" charset="-120"/>
              </a:rPr>
              <a:t>.mcp.json, .claude.json</a:t>
            </a:r>
            <a:endParaRPr lang="en-US" sz="1600" dirty="0"/>
          </a:p>
          <a:p>
            <a:pPr>
              <a:lnSpc>
                <a:spcPct val="150000"/>
              </a:lnSpc>
            </a:pPr>
            <a:r>
              <a:rPr lang="en-US" sz="1300" dirty="0">
                <a:solidFill>
                  <a:srgbClr val="C4A265"/>
                </a:solidFill>
                <a:latin typeface="MiSans" pitchFamily="34" charset="0"/>
                <a:ea typeface="MiSans" pitchFamily="34" charset="-122"/>
                <a:cs typeface="MiSans" pitchFamily="34" charset="-120"/>
              </a:rPr>
              <a:t>// Sensitive dirs: .git, .vscode, .idea, .claude</a:t>
            </a:r>
            <a:endParaRPr lang="en-US" sz="1600" dirty="0"/>
          </a:p>
        </p:txBody>
      </p:sp>
      <p:sp>
        <p:nvSpPr>
          <p:cNvPr id="8" name="Text 6"/>
          <p:cNvSpPr/>
          <p:nvPr/>
        </p:nvSpPr>
        <p:spPr>
          <a:xfrm>
            <a:off x="8382000" y="1943100"/>
            <a:ext cx="7112000" cy="1397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checkPathSafetyForAutoEdit()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checks both original path AND symlink-resolved path. Hits Claude config or sensitive files → directly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unsafe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a:t>
            </a:r>
            <a:endParaRPr lang="en-US" sz="1800" dirty="0"/>
          </a:p>
          <a:p>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Intentionally placed </a:t>
            </a:r>
            <a:pPr>
              <a:lnSpc>
                <a:spcPct val="160000"/>
              </a:lnSpc>
              <a:spcBef>
                <a:spcPts val="600"/>
              </a:spcBef>
            </a:pPr>
            <a:r>
              <a:rPr lang="en-US" sz="1700" b="1" dirty="0">
                <a:solidFill>
                  <a:srgbClr val="E8DCC8"/>
                </a:solidFill>
                <a:latin typeface="QuattrocentoSans" pitchFamily="34" charset="0"/>
                <a:ea typeface="QuattrocentoSans" pitchFamily="34" charset="-122"/>
                <a:cs typeface="QuattrocentoSans" pitchFamily="34" charset="-120"/>
              </a:rPr>
              <a:t>BEFORE allow rules</a:t>
            </a:r>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 — prevents users from mistakenly including sensitive files in auto-edit scope.</a:t>
            </a:r>
            <a:endParaRPr lang="en-US" sz="1800" dirty="0"/>
          </a:p>
        </p:txBody>
      </p:sp>
      <p:sp>
        <p:nvSpPr>
          <p:cNvPr id="9" name="Text 7"/>
          <p:cNvSpPr/>
          <p:nvPr/>
        </p:nvSpPr>
        <p:spPr>
          <a:xfrm>
            <a:off x="762000" y="3619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Path Traversal Defenses</a:t>
            </a:r>
            <a:endParaRPr lang="en-US" sz="2200" dirty="0"/>
          </a:p>
        </p:txBody>
      </p:sp>
      <p:sp>
        <p:nvSpPr>
          <p:cNvPr id="10" name="Shape 8"/>
          <p:cNvSpPr/>
          <p:nvPr/>
        </p:nvSpPr>
        <p:spPr>
          <a:xfrm>
            <a:off x="762000" y="4102100"/>
            <a:ext cx="3556000" cy="1524000"/>
          </a:xfrm>
          <a:prstGeom prst="rect">
            <a:avLst/>
          </a:prstGeom>
          <a:solidFill>
            <a:srgbClr val="161618"/>
          </a:solidFill>
          <a:ln/>
        </p:spPr>
      </p:sp>
      <p:sp>
        <p:nvSpPr>
          <p:cNvPr id="11" name="Text 9"/>
          <p:cNvSpPr/>
          <p:nvPr/>
        </p:nvSpPr>
        <p:spPr>
          <a:xfrm>
            <a:off x="952500" y="4203700"/>
            <a:ext cx="3175000" cy="1320800"/>
          </a:xfrm>
          <a:prstGeom prst="rect">
            <a:avLst/>
          </a:prstGeom>
          <a:noFill/>
          <a:ln/>
        </p:spPr>
        <p:txBody>
          <a:bodyPr wrap="square" lIns="0" tIns="0" rIns="0" bIns="0" rtlCol="0" anchor="t"/>
          <a:lstStyle/>
          <a:p>
            <a:pPr>
              <a:lnSpc>
                <a:spcPct val="150000"/>
              </a:lnSpc>
            </a:pPr>
            <a:r>
              <a:rPr lang="en-US" sz="1400" b="1" dirty="0">
                <a:solidFill>
                  <a:srgbClr val="C4A265"/>
                </a:solidFill>
                <a:latin typeface="Quattrocento Sans" pitchFamily="34" charset="0"/>
                <a:ea typeface="Quattrocento Sans" pitchFamily="34" charset="-122"/>
                <a:cs typeface="Quattrocento Sans" pitchFamily="34" charset="-120"/>
              </a:rPr>
              <a:t>Case Normalization</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normalizeCaseForComparison()</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Prevents .cLauDe/Settings.locaL.json bypass</a:t>
            </a:r>
            <a:endParaRPr lang="en-US" sz="1600" dirty="0"/>
          </a:p>
        </p:txBody>
      </p:sp>
      <p:sp>
        <p:nvSpPr>
          <p:cNvPr id="12" name="Shape 10"/>
          <p:cNvSpPr/>
          <p:nvPr/>
        </p:nvSpPr>
        <p:spPr>
          <a:xfrm>
            <a:off x="4572000" y="4102100"/>
            <a:ext cx="3556000" cy="1524000"/>
          </a:xfrm>
          <a:prstGeom prst="rect">
            <a:avLst/>
          </a:prstGeom>
          <a:solidFill>
            <a:srgbClr val="161618"/>
          </a:solidFill>
          <a:ln/>
        </p:spPr>
      </p:sp>
      <p:sp>
        <p:nvSpPr>
          <p:cNvPr id="13" name="Text 11"/>
          <p:cNvSpPr/>
          <p:nvPr/>
        </p:nvSpPr>
        <p:spPr>
          <a:xfrm>
            <a:off x="4762500" y="4203700"/>
            <a:ext cx="3175000" cy="1320800"/>
          </a:xfrm>
          <a:prstGeom prst="rect">
            <a:avLst/>
          </a:prstGeom>
          <a:noFill/>
          <a:ln/>
        </p:spPr>
        <p:txBody>
          <a:bodyPr wrap="square" lIns="0" tIns="0" rIns="0" bIns="0" rtlCol="0" anchor="t"/>
          <a:lstStyle/>
          <a:p>
            <a:pPr>
              <a:lnSpc>
                <a:spcPct val="150000"/>
              </a:lnSpc>
            </a:pPr>
            <a:r>
              <a:rPr lang="en-US" sz="1400" b="1" dirty="0">
                <a:solidFill>
                  <a:srgbClr val="C4A265"/>
                </a:solidFill>
                <a:latin typeface="Quattrocento Sans" pitchFamily="34" charset="0"/>
                <a:ea typeface="Quattrocento Sans" pitchFamily="34" charset="-122"/>
                <a:cs typeface="Quattrocento Sans" pitchFamily="34" charset="-120"/>
              </a:rPr>
              <a:t>Path Traversal</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pathInWorkingPath() + containsPathTraversal()</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Prevents .. directory escape</a:t>
            </a:r>
            <a:endParaRPr lang="en-US" sz="1600" dirty="0"/>
          </a:p>
        </p:txBody>
      </p:sp>
      <p:sp>
        <p:nvSpPr>
          <p:cNvPr id="14" name="Shape 12"/>
          <p:cNvSpPr/>
          <p:nvPr/>
        </p:nvSpPr>
        <p:spPr>
          <a:xfrm>
            <a:off x="8382000" y="4102100"/>
            <a:ext cx="3556000" cy="1524000"/>
          </a:xfrm>
          <a:prstGeom prst="rect">
            <a:avLst/>
          </a:prstGeom>
          <a:solidFill>
            <a:srgbClr val="161618"/>
          </a:solidFill>
          <a:ln/>
        </p:spPr>
      </p:sp>
      <p:sp>
        <p:nvSpPr>
          <p:cNvPr id="15" name="Text 13"/>
          <p:cNvSpPr/>
          <p:nvPr/>
        </p:nvSpPr>
        <p:spPr>
          <a:xfrm>
            <a:off x="8572500" y="4203700"/>
            <a:ext cx="3175000" cy="1320800"/>
          </a:xfrm>
          <a:prstGeom prst="rect">
            <a:avLst/>
          </a:prstGeom>
          <a:noFill/>
          <a:ln/>
        </p:spPr>
        <p:txBody>
          <a:bodyPr wrap="square" lIns="0" tIns="0" rIns="0" bIns="0" rtlCol="0" anchor="t"/>
          <a:lstStyle/>
          <a:p>
            <a:pPr>
              <a:lnSpc>
                <a:spcPct val="150000"/>
              </a:lnSpc>
            </a:pPr>
            <a:r>
              <a:rPr lang="en-US" sz="1400" b="1" dirty="0">
                <a:solidFill>
                  <a:srgbClr val="C4A265"/>
                </a:solidFill>
                <a:latin typeface="Quattrocento Sans" pitchFamily="34" charset="0"/>
                <a:ea typeface="Quattrocento Sans" pitchFamily="34" charset="-122"/>
                <a:cs typeface="Quattrocento Sans" pitchFamily="34" charset="-120"/>
              </a:rPr>
              <a:t>Scratchpad Check</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isScratchpadPath() + normalize()</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Prevents ../../../ bypass</a:t>
            </a:r>
            <a:endParaRPr lang="en-US" sz="1600" dirty="0"/>
          </a:p>
        </p:txBody>
      </p:sp>
      <p:sp>
        <p:nvSpPr>
          <p:cNvPr id="16" name="Shape 14"/>
          <p:cNvSpPr/>
          <p:nvPr/>
        </p:nvSpPr>
        <p:spPr>
          <a:xfrm>
            <a:off x="12192000" y="4102100"/>
            <a:ext cx="3302000" cy="1524000"/>
          </a:xfrm>
          <a:prstGeom prst="rect">
            <a:avLst/>
          </a:prstGeom>
          <a:solidFill>
            <a:srgbClr val="161618"/>
          </a:solidFill>
          <a:ln/>
        </p:spPr>
      </p:sp>
      <p:sp>
        <p:nvSpPr>
          <p:cNvPr id="17" name="Text 15"/>
          <p:cNvSpPr/>
          <p:nvPr/>
        </p:nvSpPr>
        <p:spPr>
          <a:xfrm>
            <a:off x="12382500" y="4203700"/>
            <a:ext cx="2921000" cy="1320800"/>
          </a:xfrm>
          <a:prstGeom prst="rect">
            <a:avLst/>
          </a:prstGeom>
          <a:noFill/>
          <a:ln/>
        </p:spPr>
        <p:txBody>
          <a:bodyPr wrap="square" lIns="0" tIns="0" rIns="0" bIns="0" rtlCol="0" anchor="t"/>
          <a:lstStyle/>
          <a:p>
            <a:pPr>
              <a:lnSpc>
                <a:spcPct val="150000"/>
              </a:lnSpc>
            </a:pPr>
            <a:r>
              <a:rPr lang="en-US" sz="1400" b="1" dirty="0">
                <a:solidFill>
                  <a:srgbClr val="C4A265"/>
                </a:solidFill>
                <a:latin typeface="Quattrocento Sans" pitchFamily="34" charset="0"/>
                <a:ea typeface="Quattrocento Sans" pitchFamily="34" charset="-122"/>
                <a:cs typeface="Quattrocento Sans" pitchFamily="34" charset="-120"/>
              </a:rPr>
              <a:t>Windows Patterns</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hasSuspiciousWindowsPathPattern()</a:t>
            </a:r>
            <a:endParaRPr lang="en-US" sz="1600" dirty="0"/>
          </a:p>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ADS, 8.3, DOS devices, UNC/WebDAV</a:t>
            </a:r>
            <a:endParaRPr lang="en-US" sz="1600" dirty="0"/>
          </a:p>
        </p:txBody>
      </p:sp>
      <p:sp>
        <p:nvSpPr>
          <p:cNvPr id="18" name="Shape 16"/>
          <p:cNvSpPr/>
          <p:nvPr/>
        </p:nvSpPr>
        <p:spPr>
          <a:xfrm>
            <a:off x="762000" y="5905500"/>
            <a:ext cx="50800" cy="1143000"/>
          </a:xfrm>
          <a:prstGeom prst="rect">
            <a:avLst/>
          </a:prstGeom>
          <a:solidFill>
            <a:srgbClr val="C4A265"/>
          </a:solidFill>
          <a:ln/>
        </p:spPr>
      </p:sp>
      <p:sp>
        <p:nvSpPr>
          <p:cNvPr id="19" name="Text 17"/>
          <p:cNvSpPr/>
          <p:nvPr/>
        </p:nvSpPr>
        <p:spPr>
          <a:xfrm>
            <a:off x="1016000" y="5905500"/>
            <a:ext cx="14224000" cy="1143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Path security is not a simple blacklist — it's a multi-layer defense system. Each layer addresses a specific attack vector: case normalization for case-insensitive bypasses, path traversal checks for directory escape, scratchpad checks for relative path manipulation, and Windows pattern detection for platform-specific attacks. Together they cover the attack surface comprehensively.</a:t>
            </a:r>
            <a:endParaRPr lang="en-US" sz="1800" dirty="0"/>
          </a:p>
        </p:txBody>
      </p:sp>
      <p:sp>
        <p:nvSpPr>
          <p:cNvPr id="20" name="Shape 18"/>
          <p:cNvSpPr/>
          <p:nvPr/>
        </p:nvSpPr>
        <p:spPr>
          <a:xfrm>
            <a:off x="762000" y="8636000"/>
            <a:ext cx="14732000" cy="12700"/>
          </a:xfrm>
          <a:prstGeom prst="rect">
            <a:avLst/>
          </a:prstGeom>
          <a:solidFill>
            <a:srgbClr val="3A3A3E"/>
          </a:solidFill>
          <a:ln/>
        </p:spPr>
      </p:sp>
      <p:sp>
        <p:nvSpPr>
          <p:cNvPr id="21" name="Text 19"/>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src/utils/permissions/filesystem.ts:53-91, 490-602</a:t>
            </a:r>
            <a:endParaRPr lang="en-US" sz="1300" dirty="0"/>
          </a:p>
        </p:txBody>
      </p:sp>
    </p:spTree>
  </p:cSld>
  <p:clrMapOvr>
    <a:masterClrMapping/>
  </p:clrMapOvr>
  <p:transition>
    <p:fade/>
    <p:spd val="med"/>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07</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SEVEN</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889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Permission System</a:t>
            </a:r>
            <a:endParaRPr lang="en-US" sz="3800" dirty="0"/>
          </a:p>
        </p:txBody>
      </p:sp>
      <p:sp>
        <p:nvSpPr>
          <p:cNvPr id="6" name="Text 4"/>
          <p:cNvSpPr/>
          <p:nvPr/>
        </p:nvSpPr>
        <p:spPr>
          <a:xfrm>
            <a:off x="762000" y="4699000"/>
            <a:ext cx="1016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A composable framework of "tool input validation + universal permission orchestration + tool-specific permission logic + multi-agent forwarding approval"</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07 PERMISSION SYSTEM</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Permission Architecture: Four-Layer Decision Stack</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3429000" cy="2540000"/>
          </a:xfrm>
          <a:prstGeom prst="rect">
            <a:avLst/>
          </a:prstGeom>
          <a:solidFill>
            <a:srgbClr val="161618"/>
          </a:solidFill>
          <a:ln/>
        </p:spPr>
      </p:sp>
      <p:sp>
        <p:nvSpPr>
          <p:cNvPr id="6" name="Shape 4"/>
          <p:cNvSpPr/>
          <p:nvPr/>
        </p:nvSpPr>
        <p:spPr>
          <a:xfrm>
            <a:off x="762000" y="1524000"/>
            <a:ext cx="3429000" cy="50800"/>
          </a:xfrm>
          <a:prstGeom prst="rect">
            <a:avLst/>
          </a:prstGeom>
          <a:solidFill>
            <a:srgbClr val="C4A265"/>
          </a:solidFill>
          <a:ln/>
        </p:spPr>
      </p:sp>
      <p:sp>
        <p:nvSpPr>
          <p:cNvPr id="7" name="Text 5"/>
          <p:cNvSpPr/>
          <p:nvPr/>
        </p:nvSpPr>
        <p:spPr>
          <a:xfrm>
            <a:off x="952500" y="1701800"/>
            <a:ext cx="381000" cy="304800"/>
          </a:xfrm>
          <a:prstGeom prst="rect">
            <a:avLst/>
          </a:prstGeom>
          <a:noFill/>
          <a:ln/>
        </p:spPr>
        <p:txBody>
          <a:bodyPr wrap="none" lIns="0" tIns="0" rIns="0" bIns="0" rtlCol="0" anchor="ctr"/>
          <a:lstStyle/>
          <a:p>
            <a:pPr algn="ctr">
              <a:lnSpc>
                <a:spcPct val="100000"/>
              </a:lnSpc>
            </a:pPr>
            <a:r>
              <a:rPr lang="en-US" sz="2000" b="1" dirty="0">
                <a:solidFill>
                  <a:srgbClr val="C4A265"/>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397000" y="1701800"/>
            <a:ext cx="2540000" cy="3048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INPUT VALIDATION</a:t>
            </a:r>
            <a:endParaRPr lang="en-US" sz="1600" dirty="0"/>
          </a:p>
        </p:txBody>
      </p:sp>
      <p:sp>
        <p:nvSpPr>
          <p:cNvPr id="9" name="Text 7"/>
          <p:cNvSpPr/>
          <p:nvPr/>
        </p:nvSpPr>
        <p:spPr>
          <a:xfrm>
            <a:off x="952500" y="2108200"/>
            <a:ext cx="3048000" cy="17780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tool.validateInput() pre-check</a:t>
            </a:r>
            <a:endParaRPr lang="en-US" sz="1600" dirty="0"/>
          </a:p>
          <a:p>
            <a:pPr>
              <a:lnSpc>
                <a:spcPct val="150000"/>
              </a:lnSpc>
              <a:spcBef>
                <a:spcPts val="600"/>
              </a:spcBef>
            </a:pPr>
            <a:r>
              <a:rPr lang="en-US" sz="1400" dirty="0">
                <a:solidFill>
                  <a:srgbClr val="E8DCC8"/>
                </a:solidFill>
                <a:latin typeface="Quattrocento Sans" pitchFamily="34" charset="0"/>
                <a:ea typeface="Quattrocento Sans" pitchFamily="34" charset="-122"/>
                <a:cs typeface="Quattrocento Sans" pitchFamily="34" charset="-120"/>
              </a:rPr>
              <a:t>Schema + business validation before permission is even considered</a:t>
            </a:r>
            <a:endParaRPr lang="en-US" sz="1600" dirty="0"/>
          </a:p>
          <a:p>
            <a:pPr>
              <a:lnSpc>
                <a:spcPct val="150000"/>
              </a:lnSpc>
              <a:spcBef>
                <a:spcPts val="400"/>
              </a:spcBef>
            </a:pPr>
            <a:r>
              <a:rPr lang="en-US" sz="1400" dirty="0">
                <a:solidFill>
                  <a:srgbClr val="9A9590"/>
                </a:solidFill>
                <a:latin typeface="Quattrocento Sans" pitchFamily="34" charset="0"/>
                <a:ea typeface="Quattrocento Sans" pitchFamily="34" charset="-122"/>
                <a:cs typeface="Quattrocento Sans" pitchFamily="34" charset="-120"/>
              </a:rPr>
              <a:t>src/services/tools/toolExecution.ts:682-733</a:t>
            </a:r>
            <a:endParaRPr lang="en-US" sz="1600" dirty="0"/>
          </a:p>
        </p:txBody>
      </p:sp>
      <p:sp>
        <p:nvSpPr>
          <p:cNvPr id="10" name="Shape 8"/>
          <p:cNvSpPr/>
          <p:nvPr/>
        </p:nvSpPr>
        <p:spPr>
          <a:xfrm>
            <a:off x="4508500" y="1524000"/>
            <a:ext cx="3429000" cy="2540000"/>
          </a:xfrm>
          <a:prstGeom prst="rect">
            <a:avLst/>
          </a:prstGeom>
          <a:solidFill>
            <a:srgbClr val="161618"/>
          </a:solidFill>
          <a:ln/>
        </p:spPr>
      </p:sp>
      <p:sp>
        <p:nvSpPr>
          <p:cNvPr id="11" name="Shape 9"/>
          <p:cNvSpPr/>
          <p:nvPr/>
        </p:nvSpPr>
        <p:spPr>
          <a:xfrm>
            <a:off x="4508500" y="1524000"/>
            <a:ext cx="3429000" cy="50800"/>
          </a:xfrm>
          <a:prstGeom prst="rect">
            <a:avLst/>
          </a:prstGeom>
          <a:solidFill>
            <a:srgbClr val="6B8E6B"/>
          </a:solidFill>
          <a:ln/>
        </p:spPr>
      </p:sp>
      <p:sp>
        <p:nvSpPr>
          <p:cNvPr id="12" name="Text 10"/>
          <p:cNvSpPr/>
          <p:nvPr/>
        </p:nvSpPr>
        <p:spPr>
          <a:xfrm>
            <a:off x="4699000" y="1701800"/>
            <a:ext cx="381000" cy="304800"/>
          </a:xfrm>
          <a:prstGeom prst="rect">
            <a:avLst/>
          </a:prstGeom>
          <a:noFill/>
          <a:ln/>
        </p:spPr>
        <p:txBody>
          <a:bodyPr wrap="none" lIns="0" tIns="0" rIns="0" bIns="0" rtlCol="0" anchor="ctr"/>
          <a:lstStyle/>
          <a:p>
            <a:pPr algn="ctr">
              <a:lnSpc>
                <a:spcPct val="100000"/>
              </a:lnSpc>
            </a:pPr>
            <a:r>
              <a:rPr lang="en-US" sz="2000" b="1" dirty="0">
                <a:solidFill>
                  <a:srgbClr val="8FBC8F"/>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5143500" y="1701800"/>
            <a:ext cx="2540000" cy="304800"/>
          </a:xfrm>
          <a:prstGeom prst="rect">
            <a:avLst/>
          </a:prstGeom>
          <a:noFill/>
          <a:ln/>
        </p:spPr>
        <p:txBody>
          <a:bodyPr wrap="none" lIns="0" tIns="0" rIns="0" bIns="0" rtlCol="0" anchor="ctr"/>
          <a:lstStyle/>
          <a:p>
            <a:pPr>
              <a:lnSpc>
                <a:spcPct val="100000"/>
              </a:lnSpc>
            </a:pPr>
            <a:r>
              <a:rPr lang="en-US" sz="1600" b="1" dirty="0">
                <a:solidFill>
                  <a:srgbClr val="8FBC8F"/>
                </a:solidFill>
                <a:latin typeface="Liter" pitchFamily="34" charset="0"/>
                <a:ea typeface="Liter" pitchFamily="34" charset="-122"/>
                <a:cs typeface="Liter" pitchFamily="34" charset="-120"/>
              </a:rPr>
              <a:t>TOOL-SPECIFIC</a:t>
            </a:r>
            <a:endParaRPr lang="en-US" sz="1600" dirty="0"/>
          </a:p>
        </p:txBody>
      </p:sp>
      <p:sp>
        <p:nvSpPr>
          <p:cNvPr id="14" name="Text 12"/>
          <p:cNvSpPr/>
          <p:nvPr/>
        </p:nvSpPr>
        <p:spPr>
          <a:xfrm>
            <a:off x="4699000" y="2108200"/>
            <a:ext cx="3048000" cy="17780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tool.checkPermissions()</a:t>
            </a:r>
            <a:endParaRPr lang="en-US" sz="1600" dirty="0"/>
          </a:p>
          <a:p>
            <a:pPr>
              <a:lnSpc>
                <a:spcPct val="150000"/>
              </a:lnSpc>
              <a:spcBef>
                <a:spcPts val="600"/>
              </a:spcBef>
            </a:pPr>
            <a:r>
              <a:rPr lang="en-US" sz="1400" dirty="0">
                <a:solidFill>
                  <a:srgbClr val="E8DCC8"/>
                </a:solidFill>
                <a:latin typeface="Quattrocento Sans" pitchFamily="34" charset="0"/>
                <a:ea typeface="Quattrocento Sans" pitchFamily="34" charset="-122"/>
                <a:cs typeface="Quattrocento Sans" pitchFamily="34" charset="-120"/>
              </a:rPr>
              <a:t>Each tool defines its own permission logic — Bash checks commands, Edit checks paths</a:t>
            </a:r>
            <a:endParaRPr lang="en-US" sz="1600" dirty="0"/>
          </a:p>
          <a:p>
            <a:pPr>
              <a:lnSpc>
                <a:spcPct val="150000"/>
              </a:lnSpc>
              <a:spcBef>
                <a:spcPts val="400"/>
              </a:spcBef>
            </a:pPr>
            <a:r>
              <a:rPr lang="en-US" sz="1400" dirty="0">
                <a:solidFill>
                  <a:srgbClr val="9A9590"/>
                </a:solidFill>
                <a:latin typeface="Quattrocento Sans" pitchFamily="34" charset="0"/>
                <a:ea typeface="Quattrocento Sans" pitchFamily="34" charset="-122"/>
                <a:cs typeface="Quattrocento Sans" pitchFamily="34" charset="-120"/>
              </a:rPr>
              <a:t>src/Tool.ts</a:t>
            </a:r>
            <a:endParaRPr lang="en-US" sz="1600" dirty="0"/>
          </a:p>
        </p:txBody>
      </p:sp>
      <p:sp>
        <p:nvSpPr>
          <p:cNvPr id="15" name="Shape 13"/>
          <p:cNvSpPr/>
          <p:nvPr/>
        </p:nvSpPr>
        <p:spPr>
          <a:xfrm>
            <a:off x="8255000" y="1524000"/>
            <a:ext cx="3429000" cy="2540000"/>
          </a:xfrm>
          <a:prstGeom prst="rect">
            <a:avLst/>
          </a:prstGeom>
          <a:solidFill>
            <a:srgbClr val="161618"/>
          </a:solidFill>
          <a:ln/>
        </p:spPr>
      </p:sp>
      <p:sp>
        <p:nvSpPr>
          <p:cNvPr id="16" name="Shape 14"/>
          <p:cNvSpPr/>
          <p:nvPr/>
        </p:nvSpPr>
        <p:spPr>
          <a:xfrm>
            <a:off x="8255000" y="1524000"/>
            <a:ext cx="3429000" cy="50800"/>
          </a:xfrm>
          <a:prstGeom prst="rect">
            <a:avLst/>
          </a:prstGeom>
          <a:solidFill>
            <a:srgbClr val="8B7B6B"/>
          </a:solidFill>
          <a:ln/>
        </p:spPr>
      </p:sp>
      <p:sp>
        <p:nvSpPr>
          <p:cNvPr id="17" name="Text 15"/>
          <p:cNvSpPr/>
          <p:nvPr/>
        </p:nvSpPr>
        <p:spPr>
          <a:xfrm>
            <a:off x="8445500" y="1701800"/>
            <a:ext cx="381000" cy="304800"/>
          </a:xfrm>
          <a:prstGeom prst="rect">
            <a:avLst/>
          </a:prstGeom>
          <a:noFill/>
          <a:ln/>
        </p:spPr>
        <p:txBody>
          <a:bodyPr wrap="none" lIns="0" tIns="0" rIns="0" bIns="0" rtlCol="0" anchor="ctr"/>
          <a:lstStyle/>
          <a:p>
            <a:pPr algn="ctr">
              <a:lnSpc>
                <a:spcPct val="100000"/>
              </a:lnSpc>
            </a:pPr>
            <a:r>
              <a:rPr lang="en-US" sz="2000" b="1" dirty="0">
                <a:solidFill>
                  <a:srgbClr val="C4A88A"/>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8890000" y="1701800"/>
            <a:ext cx="2540000" cy="304800"/>
          </a:xfrm>
          <a:prstGeom prst="rect">
            <a:avLst/>
          </a:prstGeom>
          <a:noFill/>
          <a:ln/>
        </p:spPr>
        <p:txBody>
          <a:bodyPr wrap="none" lIns="0" tIns="0" rIns="0" bIns="0" rtlCol="0" anchor="ctr"/>
          <a:lstStyle/>
          <a:p>
            <a:pPr>
              <a:lnSpc>
                <a:spcPct val="100000"/>
              </a:lnSpc>
            </a:pPr>
            <a:r>
              <a:rPr lang="en-US" sz="1600" b="1" dirty="0">
                <a:solidFill>
                  <a:srgbClr val="C4A88A"/>
                </a:solidFill>
                <a:latin typeface="Liter" pitchFamily="34" charset="0"/>
                <a:ea typeface="Liter" pitchFamily="34" charset="-122"/>
                <a:cs typeface="Liter" pitchFamily="34" charset="-120"/>
              </a:rPr>
              <a:t>UNIVERSAL ORCH.</a:t>
            </a:r>
            <a:endParaRPr lang="en-US" sz="1600" dirty="0"/>
          </a:p>
        </p:txBody>
      </p:sp>
      <p:sp>
        <p:nvSpPr>
          <p:cNvPr id="19" name="Text 17"/>
          <p:cNvSpPr/>
          <p:nvPr/>
        </p:nvSpPr>
        <p:spPr>
          <a:xfrm>
            <a:off x="8445500" y="2108200"/>
            <a:ext cx="3048000" cy="17780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hasPermissionsToUseToolInner()</a:t>
            </a:r>
            <a:endParaRPr lang="en-US" sz="1600" dirty="0"/>
          </a:p>
          <a:p>
            <a:pPr>
              <a:lnSpc>
                <a:spcPct val="150000"/>
              </a:lnSpc>
              <a:spcBef>
                <a:spcPts val="600"/>
              </a:spcBef>
            </a:pPr>
            <a:r>
              <a:rPr lang="en-US" sz="1400" dirty="0">
                <a:solidFill>
                  <a:srgbClr val="E8DCC8"/>
                </a:solidFill>
                <a:latin typeface="Quattrocento Sans" pitchFamily="34" charset="0"/>
                <a:ea typeface="Quattrocento Sans" pitchFamily="34" charset="-122"/>
                <a:cs typeface="Quattrocento Sans" pitchFamily="34" charset="-120"/>
              </a:rPr>
              <a:t>Whole-tool deny/ask rules → call tool-specific → overlay mode/allow rules →收束 passthrough to ask</a:t>
            </a:r>
            <a:endParaRPr lang="en-US" sz="1600" dirty="0"/>
          </a:p>
          <a:p>
            <a:pPr>
              <a:lnSpc>
                <a:spcPct val="150000"/>
              </a:lnSpc>
              <a:spcBef>
                <a:spcPts val="400"/>
              </a:spcBef>
            </a:pPr>
            <a:r>
              <a:rPr lang="en-US" sz="1400" dirty="0">
                <a:solidFill>
                  <a:srgbClr val="9A9590"/>
                </a:solidFill>
                <a:latin typeface="Quattrocento Sans" pitchFamily="34" charset="0"/>
                <a:ea typeface="Quattrocento Sans" pitchFamily="34" charset="-122"/>
                <a:cs typeface="Quattrocento Sans" pitchFamily="34" charset="-120"/>
              </a:rPr>
              <a:t>src/utils/permissions/permissions.ts</a:t>
            </a:r>
            <a:endParaRPr lang="en-US" sz="1600" dirty="0"/>
          </a:p>
        </p:txBody>
      </p:sp>
      <p:sp>
        <p:nvSpPr>
          <p:cNvPr id="20" name="Shape 18"/>
          <p:cNvSpPr/>
          <p:nvPr/>
        </p:nvSpPr>
        <p:spPr>
          <a:xfrm>
            <a:off x="12001500" y="1524000"/>
            <a:ext cx="3492500" cy="2540000"/>
          </a:xfrm>
          <a:prstGeom prst="rect">
            <a:avLst/>
          </a:prstGeom>
          <a:solidFill>
            <a:srgbClr val="161618"/>
          </a:solidFill>
          <a:ln/>
        </p:spPr>
      </p:sp>
      <p:sp>
        <p:nvSpPr>
          <p:cNvPr id="21" name="Shape 19"/>
          <p:cNvSpPr/>
          <p:nvPr/>
        </p:nvSpPr>
        <p:spPr>
          <a:xfrm>
            <a:off x="12001500" y="1524000"/>
            <a:ext cx="3492500" cy="50800"/>
          </a:xfrm>
          <a:prstGeom prst="rect">
            <a:avLst/>
          </a:prstGeom>
          <a:solidFill>
            <a:srgbClr val="3A3A3E"/>
          </a:solidFill>
          <a:ln/>
        </p:spPr>
      </p:sp>
      <p:sp>
        <p:nvSpPr>
          <p:cNvPr id="22" name="Text 20"/>
          <p:cNvSpPr/>
          <p:nvPr/>
        </p:nvSpPr>
        <p:spPr>
          <a:xfrm>
            <a:off x="12192000" y="1701800"/>
            <a:ext cx="381000" cy="304800"/>
          </a:xfrm>
          <a:prstGeom prst="rect">
            <a:avLst/>
          </a:prstGeom>
          <a:noFill/>
          <a:ln/>
        </p:spPr>
        <p:txBody>
          <a:bodyPr wrap="none" lIns="0" tIns="0" rIns="0" bIns="0" rtlCol="0" anchor="ctr"/>
          <a:lstStyle/>
          <a:p>
            <a:pPr algn="ctr">
              <a:lnSpc>
                <a:spcPct val="100000"/>
              </a:lnSpc>
            </a:pPr>
            <a:r>
              <a:rPr lang="en-US" sz="2000" b="1" dirty="0">
                <a:solidFill>
                  <a:srgbClr val="9A9590"/>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12636500" y="1701800"/>
            <a:ext cx="2540000" cy="304800"/>
          </a:xfrm>
          <a:prstGeom prst="rect">
            <a:avLst/>
          </a:prstGeom>
          <a:noFill/>
          <a:ln/>
        </p:spPr>
        <p:txBody>
          <a:bodyPr wrap="none" lIns="0" tIns="0" rIns="0" bIns="0" rtlCol="0" anchor="ctr"/>
          <a:lstStyle/>
          <a:p>
            <a:pPr>
              <a:lnSpc>
                <a:spcPct val="100000"/>
              </a:lnSpc>
            </a:pPr>
            <a:r>
              <a:rPr lang="en-US" sz="1600" b="1" dirty="0">
                <a:solidFill>
                  <a:srgbClr val="9A9590"/>
                </a:solidFill>
                <a:latin typeface="Liter" pitchFamily="34" charset="0"/>
                <a:ea typeface="Liter" pitchFamily="34" charset="-122"/>
                <a:cs typeface="Liter" pitchFamily="34" charset="-120"/>
              </a:rPr>
              <a:t>UI LAYER</a:t>
            </a:r>
            <a:endParaRPr lang="en-US" sz="1600" dirty="0"/>
          </a:p>
        </p:txBody>
      </p:sp>
      <p:sp>
        <p:nvSpPr>
          <p:cNvPr id="24" name="Text 22"/>
          <p:cNvSpPr/>
          <p:nvPr/>
        </p:nvSpPr>
        <p:spPr>
          <a:xfrm>
            <a:off x="12192000" y="2108200"/>
            <a:ext cx="3111500" cy="17780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useCanUseTool()</a:t>
            </a:r>
            <a:endParaRPr lang="en-US" sz="1600" dirty="0"/>
          </a:p>
          <a:p>
            <a:pPr>
              <a:lnSpc>
                <a:spcPct val="150000"/>
              </a:lnSpc>
              <a:spcBef>
                <a:spcPts val="600"/>
              </a:spcBef>
            </a:pPr>
            <a:r>
              <a:rPr lang="en-US" sz="1400" dirty="0">
                <a:solidFill>
                  <a:srgbClr val="E8DCC8"/>
                </a:solidFill>
                <a:latin typeface="Quattrocento Sans" pitchFamily="34" charset="0"/>
                <a:ea typeface="Quattrocento Sans" pitchFamily="34" charset="-122"/>
                <a:cs typeface="Quattrocento Sans" pitchFamily="34" charset="-120"/>
              </a:rPr>
              <a:t>Decides: direct pass, direct deny, interactive approval, coordinator approval, worker mailbox approval</a:t>
            </a:r>
            <a:endParaRPr lang="en-US" sz="1600" dirty="0"/>
          </a:p>
          <a:p>
            <a:pPr>
              <a:lnSpc>
                <a:spcPct val="150000"/>
              </a:lnSpc>
              <a:spcBef>
                <a:spcPts val="400"/>
              </a:spcBef>
            </a:pPr>
            <a:r>
              <a:rPr lang="en-US" sz="1400" dirty="0">
                <a:solidFill>
                  <a:srgbClr val="9A9590"/>
                </a:solidFill>
                <a:latin typeface="Quattrocento Sans" pitchFamily="34" charset="0"/>
                <a:ea typeface="Quattrocento Sans" pitchFamily="34" charset="-122"/>
                <a:cs typeface="Quattrocento Sans" pitchFamily="34" charset="-120"/>
              </a:rPr>
              <a:t>src/hooks/useCanUseTool.tsx</a:t>
            </a:r>
            <a:endParaRPr lang="en-US" sz="1600" dirty="0"/>
          </a:p>
        </p:txBody>
      </p:sp>
      <p:sp>
        <p:nvSpPr>
          <p:cNvPr id="25" name="Text 23"/>
          <p:cNvSpPr/>
          <p:nvPr/>
        </p:nvSpPr>
        <p:spPr>
          <a:xfrm>
            <a:off x="762000" y="4318000"/>
            <a:ext cx="14732000" cy="635000"/>
          </a:xfrm>
          <a:prstGeom prst="rect">
            <a:avLst/>
          </a:prstGeom>
          <a:noFill/>
          <a:ln/>
        </p:spPr>
        <p:txBody>
          <a:bodyPr wrap="square" lIns="0" tIns="0" rIns="0" bIns="0" rtlCol="0" anchor="t"/>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Note: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QueryEngine wraps canUseTool to record denials — but the actual permission center is in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toolExecution.ts, permissions.ts, useCanUseTool.tsx</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QueryEngine is an observer, not the decider.</a:t>
            </a:r>
            <a:endParaRPr lang="en-US" sz="1800" dirty="0"/>
          </a:p>
        </p:txBody>
      </p:sp>
      <p:sp>
        <p:nvSpPr>
          <p:cNvPr id="26" name="Shape 24"/>
          <p:cNvSpPr/>
          <p:nvPr/>
        </p:nvSpPr>
        <p:spPr>
          <a:xfrm>
            <a:off x="762000" y="5207000"/>
            <a:ext cx="50800" cy="1016000"/>
          </a:xfrm>
          <a:prstGeom prst="rect">
            <a:avLst/>
          </a:prstGeom>
          <a:solidFill>
            <a:srgbClr val="C4A265"/>
          </a:solidFill>
          <a:ln/>
        </p:spPr>
      </p:sp>
      <p:sp>
        <p:nvSpPr>
          <p:cNvPr id="27" name="Text 25"/>
          <p:cNvSpPr/>
          <p:nvPr/>
        </p:nvSpPr>
        <p:spPr>
          <a:xfrm>
            <a:off x="1016000" y="52070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four-layer stack ensures that permission decisions are both tool-aware (layer 2) and globally consistent (layer 3). A tool cannot grant itself permissions that violate global rules, and global rules cannot override tool-specific safety checks. This is separation of concerns applied to security.</a:t>
            </a:r>
            <a:endParaRPr lang="en-US" sz="1800" dirty="0"/>
          </a:p>
        </p:txBody>
      </p:sp>
      <p:sp>
        <p:nvSpPr>
          <p:cNvPr id="28" name="Shape 26"/>
          <p:cNvSpPr/>
          <p:nvPr/>
        </p:nvSpPr>
        <p:spPr>
          <a:xfrm>
            <a:off x="762000" y="8636000"/>
            <a:ext cx="14732000" cy="12700"/>
          </a:xfrm>
          <a:prstGeom prst="rect">
            <a:avLst/>
          </a:prstGeom>
          <a:solidFill>
            <a:srgbClr val="3A3A3E"/>
          </a:solidFill>
          <a:ln/>
        </p:spPr>
      </p:sp>
      <p:sp>
        <p:nvSpPr>
          <p:cNvPr id="29" name="Text 27"/>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src/services/tools/toolExecution.ts:682-733, src/utils/permissions/permissions.ts:1158-1310</a:t>
            </a:r>
            <a:endParaRPr lang="en-US" sz="1300" dirty="0"/>
          </a:p>
        </p:txBody>
      </p:sp>
    </p:spTree>
  </p:cSld>
  <p:clrMapOvr>
    <a:masterClrMapping/>
  </p:clrMapOvr>
  <p:transition>
    <p:fade/>
    <p:spd val="med"/>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07 PERMISSION SYSTEM</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Permission Modes: Not "Fixed Six Modes"</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5 External Modes + 2 Internal</a:t>
            </a:r>
            <a:endParaRPr lang="en-US" sz="2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62000" y="1943100"/>
          <a:ext cx="14732000" cy="3556000"/>
        </p:xfrm>
        <a:graphic>
          <a:graphicData uri="http://schemas.openxmlformats.org/drawingml/2006/table">
            <a:tbl>
              <a:tblPr/>
              <a:tblGrid>
                <a:gridCol w="2651760"/>
                <a:gridCol w="6187440"/>
                <a:gridCol w="5892800"/>
              </a:tblGrid>
              <a:tr h="416128">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Mode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Real Semantics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Common Misconception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428738">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default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No special exemption, passthrough收束为ask</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"Default is permissive" — 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28738">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plan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Needs leader's plan approval to exit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"Plan mode blocks everything" — 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28738">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bypassPermissions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Direct pass, but tool-level ask + safetyCheck can still block</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"Bypass means no restrictions" — 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28738">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dontAsk</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Rewrites ask to deny at final stage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"DontAsk = YOLO reject" — partially true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91787">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acceptEdits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File write tools auto-execute; Bash only auto-executes basic fs commands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"All edits are auto-approved" — 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91787">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auto</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Normal permission first, then classifier/allowlist/acceptEdits fast paths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"Auto means always approve" — 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41348">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bubble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Internal type member, not user-configurable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"Bubble is a user mode" — false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bl>
          </a:graphicData>
        </a:graphic>
      </p:graphicFrame>
      <p:sp>
        <p:nvSpPr>
          <p:cNvPr id="7" name="Text 4"/>
          <p:cNvSpPr/>
          <p:nvPr/>
        </p:nvSpPr>
        <p:spPr>
          <a:xfrm>
            <a:off x="762000" y="57785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Key Insight: Modes Are Not Risk Levels</a:t>
            </a:r>
            <a:endParaRPr lang="en-US" sz="2200" dirty="0"/>
          </a:p>
        </p:txBody>
      </p:sp>
      <p:sp>
        <p:nvSpPr>
          <p:cNvPr id="8" name="Text 5"/>
          <p:cNvSpPr/>
          <p:nvPr/>
        </p:nvSpPr>
        <p:spPr>
          <a:xfrm>
            <a:off x="762000" y="6223000"/>
            <a:ext cx="14732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There is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no unified LOW/MEDIUM/HIGH risk enum</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in the permission system. The framework only knows </a:t>
            </a:r>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allow / deny / ask</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Each tool maps its own business semantics to these three outcomes. This is more flexible than a global risk table — a "HIGH" risk for Bash (rm -rf) is different from a "HIGH" risk for Edit (modifying .gitconfig).</a:t>
            </a:r>
            <a:endParaRPr lang="en-US" sz="1800" dirty="0"/>
          </a:p>
        </p:txBody>
      </p:sp>
      <p:sp>
        <p:nvSpPr>
          <p:cNvPr id="9" name="Shape 6"/>
          <p:cNvSpPr/>
          <p:nvPr/>
        </p:nvSpPr>
        <p:spPr>
          <a:xfrm>
            <a:off x="762000" y="8636000"/>
            <a:ext cx="14732000" cy="12700"/>
          </a:xfrm>
          <a:prstGeom prst="rect">
            <a:avLst/>
          </a:prstGeom>
          <a:solidFill>
            <a:srgbClr val="3A3A3E"/>
          </a:solidFill>
          <a:ln/>
        </p:spPr>
      </p:sp>
      <p:sp>
        <p:nvSpPr>
          <p:cNvPr id="10" name="Text 7"/>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src/types/permissions.ts:16-38</a:t>
            </a:r>
            <a:endParaRPr lang="en-US" sz="1300" dirty="0"/>
          </a:p>
        </p:txBody>
      </p:sp>
    </p:spTree>
  </p:cSld>
  <p:clrMapOvr>
    <a:masterClrMapping/>
  </p:clrMapOvr>
  <p:transition>
    <p:fade/>
    <p:spd val="med"/>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07 PERMISSION SYSTEM</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Auto Mode: Not "One YOLO Classifier"</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Auto mode is a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multi-classifier collaborative system</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not a single gate. Four distinct paths can auto-approve an operation:</a:t>
            </a:r>
            <a:endParaRPr lang="en-US" sz="1800" dirty="0"/>
          </a:p>
        </p:txBody>
      </p:sp>
      <p:sp>
        <p:nvSpPr>
          <p:cNvPr id="6" name="Shape 4"/>
          <p:cNvSpPr/>
          <p:nvPr/>
        </p:nvSpPr>
        <p:spPr>
          <a:xfrm>
            <a:off x="762000" y="2159000"/>
            <a:ext cx="7112000" cy="1143000"/>
          </a:xfrm>
          <a:prstGeom prst="rect">
            <a:avLst/>
          </a:prstGeom>
          <a:solidFill>
            <a:srgbClr val="161618"/>
          </a:solidFill>
          <a:ln/>
        </p:spPr>
      </p:sp>
      <p:sp>
        <p:nvSpPr>
          <p:cNvPr id="7" name="Shape 5"/>
          <p:cNvSpPr/>
          <p:nvPr/>
        </p:nvSpPr>
        <p:spPr>
          <a:xfrm>
            <a:off x="762000" y="2159000"/>
            <a:ext cx="50800" cy="1143000"/>
          </a:xfrm>
          <a:prstGeom prst="rect">
            <a:avLst/>
          </a:prstGeom>
          <a:solidFill>
            <a:srgbClr val="C4A265"/>
          </a:solidFill>
          <a:ln/>
        </p:spPr>
      </p:sp>
      <p:sp>
        <p:nvSpPr>
          <p:cNvPr id="8" name="Text 6"/>
          <p:cNvSpPr/>
          <p:nvPr/>
        </p:nvSpPr>
        <p:spPr>
          <a:xfrm>
            <a:off x="1016000" y="2260600"/>
            <a:ext cx="6604000" cy="939800"/>
          </a:xfrm>
          <a:prstGeom prst="rect">
            <a:avLst/>
          </a:prstGeom>
          <a:noFill/>
          <a:ln/>
        </p:spPr>
        <p:txBody>
          <a:bodyPr wrap="square" lIns="0" tIns="0" rIns="0" bIns="0" rtlCol="0" anchor="t"/>
          <a:lstStyle/>
          <a:p>
            <a:pPr>
              <a:lnSpc>
                <a:spcPct val="150000"/>
              </a:lnSpc>
            </a:pPr>
            <a:r>
              <a:rPr lang="en-US" sz="1600" b="1" dirty="0">
                <a:solidFill>
                  <a:srgbClr val="C4A265"/>
                </a:solidFill>
                <a:latin typeface="Quattrocento Sans" pitchFamily="34" charset="0"/>
                <a:ea typeface="Quattrocento Sans" pitchFamily="34" charset="-122"/>
                <a:cs typeface="Quattrocento Sans" pitchFamily="34" charset="-120"/>
              </a:rPr>
              <a:t>1. Universal Auto Classifier</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classifyYoloAction() — input is translated tool action + session context</a:t>
            </a:r>
            <a:endParaRPr lang="en-US" sz="1600" dirty="0"/>
          </a:p>
        </p:txBody>
      </p:sp>
      <p:sp>
        <p:nvSpPr>
          <p:cNvPr id="9" name="Shape 7"/>
          <p:cNvSpPr/>
          <p:nvPr/>
        </p:nvSpPr>
        <p:spPr>
          <a:xfrm>
            <a:off x="8382000" y="2159000"/>
            <a:ext cx="7112000" cy="1143000"/>
          </a:xfrm>
          <a:prstGeom prst="rect">
            <a:avLst/>
          </a:prstGeom>
          <a:solidFill>
            <a:srgbClr val="161618"/>
          </a:solidFill>
          <a:ln/>
        </p:spPr>
      </p:sp>
      <p:sp>
        <p:nvSpPr>
          <p:cNvPr id="10" name="Shape 8"/>
          <p:cNvSpPr/>
          <p:nvPr/>
        </p:nvSpPr>
        <p:spPr>
          <a:xfrm>
            <a:off x="8382000" y="2159000"/>
            <a:ext cx="50800" cy="1143000"/>
          </a:xfrm>
          <a:prstGeom prst="rect">
            <a:avLst/>
          </a:prstGeom>
          <a:solidFill>
            <a:srgbClr val="6B8E6B"/>
          </a:solidFill>
          <a:ln/>
        </p:spPr>
      </p:sp>
      <p:sp>
        <p:nvSpPr>
          <p:cNvPr id="11" name="Text 9"/>
          <p:cNvSpPr/>
          <p:nvPr/>
        </p:nvSpPr>
        <p:spPr>
          <a:xfrm>
            <a:off x="8636000" y="2260600"/>
            <a:ext cx="6604000" cy="939800"/>
          </a:xfrm>
          <a:prstGeom prst="rect">
            <a:avLst/>
          </a:prstGeom>
          <a:noFill/>
          <a:ln/>
        </p:spPr>
        <p:txBody>
          <a:bodyPr wrap="square" lIns="0" tIns="0" rIns="0" bIns="0" rtlCol="0" anchor="t"/>
          <a:lstStyle/>
          <a:p>
            <a:pPr>
              <a:lnSpc>
                <a:spcPct val="150000"/>
              </a:lnSpc>
            </a:pPr>
            <a:r>
              <a:rPr lang="en-US" sz="1600" b="1" dirty="0">
                <a:solidFill>
                  <a:srgbClr val="8FBC8F"/>
                </a:solidFill>
                <a:latin typeface="Quattrocento Sans" pitchFamily="34" charset="0"/>
                <a:ea typeface="Quattrocento Sans" pitchFamily="34" charset="-122"/>
                <a:cs typeface="Quattrocento Sans" pitchFamily="34" charset="-120"/>
              </a:rPr>
              <a:t>2. Allowlist Fast Path</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Safe tools can skip classifier entirely — known-safe operations bypass ML</a:t>
            </a:r>
            <a:endParaRPr lang="en-US" sz="1600" dirty="0"/>
          </a:p>
        </p:txBody>
      </p:sp>
      <p:sp>
        <p:nvSpPr>
          <p:cNvPr id="12" name="Shape 10"/>
          <p:cNvSpPr/>
          <p:nvPr/>
        </p:nvSpPr>
        <p:spPr>
          <a:xfrm>
            <a:off x="762000" y="3530600"/>
            <a:ext cx="7112000" cy="1143000"/>
          </a:xfrm>
          <a:prstGeom prst="rect">
            <a:avLst/>
          </a:prstGeom>
          <a:solidFill>
            <a:srgbClr val="161618"/>
          </a:solidFill>
          <a:ln/>
        </p:spPr>
      </p:sp>
      <p:sp>
        <p:nvSpPr>
          <p:cNvPr id="13" name="Shape 11"/>
          <p:cNvSpPr/>
          <p:nvPr/>
        </p:nvSpPr>
        <p:spPr>
          <a:xfrm>
            <a:off x="762000" y="3530600"/>
            <a:ext cx="50800" cy="1143000"/>
          </a:xfrm>
          <a:prstGeom prst="rect">
            <a:avLst/>
          </a:prstGeom>
          <a:solidFill>
            <a:srgbClr val="8B7B6B"/>
          </a:solidFill>
          <a:ln/>
        </p:spPr>
      </p:sp>
      <p:sp>
        <p:nvSpPr>
          <p:cNvPr id="14" name="Text 12"/>
          <p:cNvSpPr/>
          <p:nvPr/>
        </p:nvSpPr>
        <p:spPr>
          <a:xfrm>
            <a:off x="1016000" y="3632200"/>
            <a:ext cx="6604000" cy="939800"/>
          </a:xfrm>
          <a:prstGeom prst="rect">
            <a:avLst/>
          </a:prstGeom>
          <a:noFill/>
          <a:ln/>
        </p:spPr>
        <p:txBody>
          <a:bodyPr wrap="square" lIns="0" tIns="0" rIns="0" bIns="0" rtlCol="0" anchor="t"/>
          <a:lstStyle/>
          <a:p>
            <a:pPr>
              <a:lnSpc>
                <a:spcPct val="150000"/>
              </a:lnSpc>
            </a:pPr>
            <a:r>
              <a:rPr lang="en-US" sz="1600" b="1" dirty="0">
                <a:solidFill>
                  <a:srgbClr val="C4A88A"/>
                </a:solidFill>
                <a:latin typeface="Quattrocento Sans" pitchFamily="34" charset="0"/>
                <a:ea typeface="Quattrocento Sans" pitchFamily="34" charset="-122"/>
                <a:cs typeface="Quattrocento Sans" pitchFamily="34" charset="-120"/>
              </a:rPr>
              <a:t>3. acceptEdits Fast Path</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Operations that would be allowed under acceptEdits can also skip classifier</a:t>
            </a:r>
            <a:endParaRPr lang="en-US" sz="1600" dirty="0"/>
          </a:p>
        </p:txBody>
      </p:sp>
      <p:sp>
        <p:nvSpPr>
          <p:cNvPr id="15" name="Shape 13"/>
          <p:cNvSpPr/>
          <p:nvPr/>
        </p:nvSpPr>
        <p:spPr>
          <a:xfrm>
            <a:off x="8382000" y="3530600"/>
            <a:ext cx="7112000" cy="1143000"/>
          </a:xfrm>
          <a:prstGeom prst="rect">
            <a:avLst/>
          </a:prstGeom>
          <a:solidFill>
            <a:srgbClr val="161618"/>
          </a:solidFill>
          <a:ln/>
        </p:spPr>
      </p:sp>
      <p:sp>
        <p:nvSpPr>
          <p:cNvPr id="16" name="Shape 14"/>
          <p:cNvSpPr/>
          <p:nvPr/>
        </p:nvSpPr>
        <p:spPr>
          <a:xfrm>
            <a:off x="8382000" y="3530600"/>
            <a:ext cx="50800" cy="1143000"/>
          </a:xfrm>
          <a:prstGeom prst="rect">
            <a:avLst/>
          </a:prstGeom>
          <a:solidFill>
            <a:srgbClr val="3A3A3E"/>
          </a:solidFill>
          <a:ln/>
        </p:spPr>
      </p:sp>
      <p:sp>
        <p:nvSpPr>
          <p:cNvPr id="17" name="Text 15"/>
          <p:cNvSpPr/>
          <p:nvPr/>
        </p:nvSpPr>
        <p:spPr>
          <a:xfrm>
            <a:off x="8636000" y="3632200"/>
            <a:ext cx="6604000" cy="939800"/>
          </a:xfrm>
          <a:prstGeom prst="rect">
            <a:avLst/>
          </a:prstGeom>
          <a:noFill/>
          <a:ln/>
        </p:spPr>
        <p:txBody>
          <a:bodyPr wrap="square" lIns="0" tIns="0" rIns="0" bIns="0" rtlCol="0" anchor="t"/>
          <a:lstStyle/>
          <a:p>
            <a:pPr>
              <a:lnSpc>
                <a:spcPct val="150000"/>
              </a:lnSpc>
            </a:pPr>
            <a:r>
              <a:rPr lang="en-US" sz="1600" b="1" dirty="0">
                <a:solidFill>
                  <a:srgbClr val="9A9590"/>
                </a:solidFill>
                <a:latin typeface="Quattrocento Sans" pitchFamily="34" charset="0"/>
                <a:ea typeface="Quattrocento Sans" pitchFamily="34" charset="-122"/>
                <a:cs typeface="Quattrocento Sans" pitchFamily="34" charset="-120"/>
              </a:rPr>
              <a:t>4. Bash Independent Classifier</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Bash has its own prompt deny/ask/allow classifier + pendingClassifierCheck async</a:t>
            </a:r>
            <a:endParaRPr lang="en-US" sz="1600" dirty="0"/>
          </a:p>
        </p:txBody>
      </p:sp>
      <p:sp>
        <p:nvSpPr>
          <p:cNvPr id="18" name="Text 16"/>
          <p:cNvSpPr/>
          <p:nvPr/>
        </p:nvSpPr>
        <p:spPr>
          <a:xfrm>
            <a:off x="762000" y="49530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Advantage vs Disadvantage</a:t>
            </a:r>
            <a:endParaRPr lang="en-US" sz="2200" dirty="0"/>
          </a:p>
        </p:txBody>
      </p:sp>
      <p:sp>
        <p:nvSpPr>
          <p:cNvPr id="19" name="Shape 17"/>
          <p:cNvSpPr/>
          <p:nvPr/>
        </p:nvSpPr>
        <p:spPr>
          <a:xfrm>
            <a:off x="762000" y="5461000"/>
            <a:ext cx="50800" cy="1016000"/>
          </a:xfrm>
          <a:prstGeom prst="rect">
            <a:avLst/>
          </a:prstGeom>
          <a:solidFill>
            <a:srgbClr val="C4A265"/>
          </a:solidFill>
          <a:ln/>
        </p:spPr>
      </p:sp>
      <p:sp>
        <p:nvSpPr>
          <p:cNvPr id="20" name="Text 18"/>
          <p:cNvSpPr/>
          <p:nvPr/>
        </p:nvSpPr>
        <p:spPr>
          <a:xfrm>
            <a:off x="1016000" y="5461000"/>
            <a:ext cx="6604000" cy="10160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Multiple fast paths reduce friction for common safe operations. Not all operations need expensive classifier inference. Layered approach provides graceful degradation.</a:t>
            </a:r>
            <a:endParaRPr lang="en-US" sz="1600" dirty="0"/>
          </a:p>
        </p:txBody>
      </p:sp>
      <p:sp>
        <p:nvSpPr>
          <p:cNvPr id="21" name="Shape 19"/>
          <p:cNvSpPr/>
          <p:nvPr/>
        </p:nvSpPr>
        <p:spPr>
          <a:xfrm>
            <a:off x="8382000" y="5461000"/>
            <a:ext cx="50800" cy="1016000"/>
          </a:xfrm>
          <a:prstGeom prst="rect">
            <a:avLst/>
          </a:prstGeom>
          <a:solidFill>
            <a:srgbClr val="8B5A3C"/>
          </a:solidFill>
          <a:ln/>
        </p:spPr>
      </p:sp>
      <p:sp>
        <p:nvSpPr>
          <p:cNvPr id="22" name="Text 20"/>
          <p:cNvSpPr/>
          <p:nvPr/>
        </p:nvSpPr>
        <p:spPr>
          <a:xfrm>
            <a:off x="8636000" y="5461000"/>
            <a:ext cx="6604000" cy="1016000"/>
          </a:xfrm>
          <a:prstGeom prst="rect">
            <a:avLst/>
          </a:prstGeom>
          <a:noFill/>
          <a:ln/>
        </p:spPr>
        <p:txBody>
          <a:bodyPr wrap="square" lIns="0" tIns="0" rIns="0" bIns="0" rtlCol="0" anchor="t"/>
          <a:lstStyle/>
          <a:p>
            <a:pPr>
              <a:lnSpc>
                <a:spcPct val="150000"/>
              </a:lnSpc>
            </a:pPr>
            <a:r>
              <a:rPr lang="en-US" sz="1600" dirty="0">
                <a:solidFill>
                  <a:srgbClr val="D4A088"/>
                </a:solidFill>
                <a:latin typeface="Quattrocento Sans" pitchFamily="34" charset="0"/>
                <a:ea typeface="Quattrocento Sans" pitchFamily="34" charset="-122"/>
                <a:cs typeface="Quattrocento Sans" pitchFamily="34" charset="-120"/>
              </a:rPr>
              <a:t>Disadvantage: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Four paths = four places for bugs/inconsistencies. Harder to reason about "will this operation be auto-approved?" Classifier is ML-based — can have unpredictable behavior on edge cases.</a:t>
            </a:r>
            <a:endParaRPr lang="en-US" sz="1600" dirty="0"/>
          </a:p>
        </p:txBody>
      </p:sp>
      <p:sp>
        <p:nvSpPr>
          <p:cNvPr id="23" name="Shape 21"/>
          <p:cNvSpPr/>
          <p:nvPr/>
        </p:nvSpPr>
        <p:spPr>
          <a:xfrm>
            <a:off x="762000" y="8636000"/>
            <a:ext cx="14732000" cy="12700"/>
          </a:xfrm>
          <a:prstGeom prst="rect">
            <a:avLst/>
          </a:prstGeom>
          <a:solidFill>
            <a:srgbClr val="3A3A3E"/>
          </a:solidFill>
          <a:ln/>
        </p:spPr>
      </p:sp>
      <p:sp>
        <p:nvSpPr>
          <p:cNvPr id="24" name="Text 22"/>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src/utils/permissions/permissions.ts:518-590, 593-876</a:t>
            </a:r>
            <a:endParaRPr lang="en-US" sz="1300" dirty="0"/>
          </a:p>
        </p:txBody>
      </p:sp>
    </p:spTree>
  </p:cSld>
  <p:clrMapOvr>
    <a:masterClrMapping/>
  </p:clrMapOvr>
  <p:transition>
    <p:fade/>
    <p:spd val="med"/>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07 PERMISSION SYSTEM</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Multi-Agent Mailbox Approval Model</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Worker Cannot Directly Approve</a:t>
            </a:r>
            <a:endParaRPr lang="en-US" sz="2200" dirty="0"/>
          </a:p>
        </p:txBody>
      </p:sp>
      <p:sp>
        <p:nvSpPr>
          <p:cNvPr id="6" name="Shape 4"/>
          <p:cNvSpPr/>
          <p:nvPr/>
        </p:nvSpPr>
        <p:spPr>
          <a:xfrm>
            <a:off x="762000" y="1943100"/>
            <a:ext cx="14732000" cy="1651000"/>
          </a:xfrm>
          <a:prstGeom prst="roundRect">
            <a:avLst>
              <a:gd name="adj" fmla="val 4000"/>
            </a:avLst>
          </a:prstGeom>
          <a:solidFill>
            <a:srgbClr val="161618"/>
          </a:solidFill>
          <a:ln/>
        </p:spPr>
      </p:sp>
      <p:sp>
        <p:nvSpPr>
          <p:cNvPr id="7" name="Text 5"/>
          <p:cNvSpPr/>
          <p:nvPr/>
        </p:nvSpPr>
        <p:spPr>
          <a:xfrm>
            <a:off x="1016000" y="2044700"/>
            <a:ext cx="14224000" cy="14478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handleSwarmWorkerPermission()</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on worker side:</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1. First tries classifier auto-approval</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2. Failure → creates permission request → sends via </a:t>
            </a:r>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mailbox</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to leader</a:t>
            </a:r>
            <a:endParaRPr lang="en-US" sz="1600" dirty="0"/>
          </a:p>
          <a:p>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3. Leader </a:t>
            </a:r>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useInboxPoller()</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 puts into ToolUseConfirmQueue → same UI as local → sends result back to worker</a:t>
            </a:r>
            <a:endParaRPr lang="en-US" sz="1600" dirty="0"/>
          </a:p>
        </p:txBody>
      </p:sp>
      <p:sp>
        <p:nvSpPr>
          <p:cNvPr id="8" name="Text 6"/>
          <p:cNvSpPr/>
          <p:nvPr/>
        </p:nvSpPr>
        <p:spPr>
          <a:xfrm>
            <a:off x="762000" y="3873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Atomic Claim: Race Condition Prevention</a:t>
            </a:r>
            <a:endParaRPr lang="en-US" sz="2200" dirty="0"/>
          </a:p>
        </p:txBody>
      </p:sp>
      <p:sp>
        <p:nvSpPr>
          <p:cNvPr id="9" name="Shape 7"/>
          <p:cNvSpPr/>
          <p:nvPr/>
        </p:nvSpPr>
        <p:spPr>
          <a:xfrm>
            <a:off x="762000" y="4356100"/>
            <a:ext cx="7112000" cy="1651000"/>
          </a:xfrm>
          <a:prstGeom prst="roundRect">
            <a:avLst>
              <a:gd name="adj" fmla="val 4000"/>
            </a:avLst>
          </a:prstGeom>
          <a:solidFill>
            <a:srgbClr val="161618"/>
          </a:solidFill>
          <a:ln/>
        </p:spPr>
      </p:sp>
      <p:sp>
        <p:nvSpPr>
          <p:cNvPr id="10" name="Text 8"/>
          <p:cNvSpPr/>
          <p:nvPr/>
        </p:nvSpPr>
        <p:spPr>
          <a:xfrm>
            <a:off x="1016000" y="4457700"/>
            <a:ext cx="6604000" cy="14478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createResolveOnce() provides claim():</a:t>
            </a:r>
            <a:endParaRPr lang="en-US" sz="1600" dirty="0"/>
          </a:p>
          <a:p>
            <a:pPr>
              <a:lnSpc>
                <a:spcPct val="150000"/>
              </a:lnSpc>
            </a:pPr>
            <a:r>
              <a:rPr lang="en-US" sz="1400" dirty="0">
                <a:solidFill>
                  <a:srgbClr val="C4A265"/>
                </a:solidFill>
                <a:latin typeface="MiSans" pitchFamily="34" charset="0"/>
                <a:ea typeface="MiSans" pitchFamily="34" charset="-122"/>
                <a:cs typeface="MiSans" pitchFamily="34" charset="-120"/>
              </a:rPr>
              <a:t>// "atomically check-and-mark as resolved"</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worker callback executes claim()</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at onAllow / onReject / abort</a:t>
            </a:r>
            <a:endParaRPr lang="en-US" sz="1600" dirty="0"/>
          </a:p>
          <a:p>
            <a:pPr>
              <a:lnSpc>
                <a:spcPct val="150000"/>
              </a:lnSpc>
            </a:pPr>
            <a:r>
              <a:rPr lang="en-US" sz="1400" dirty="0">
                <a:solidFill>
                  <a:srgbClr val="9A9590"/>
                </a:solidFill>
                <a:latin typeface="MiSans" pitchFamily="34" charset="0"/>
                <a:ea typeface="MiSans" pitchFamily="34" charset="-122"/>
                <a:cs typeface="MiSans" pitchFamily="34" charset="-120"/>
              </a:rPr>
              <a:t>// Prevents multiple async sources from</a:t>
            </a:r>
            <a:endParaRPr lang="en-US" sz="1600" dirty="0"/>
          </a:p>
          <a:p>
            <a:pPr>
              <a:lnSpc>
                <a:spcPct val="150000"/>
              </a:lnSpc>
            </a:pPr>
            <a:r>
              <a:rPr lang="en-US" sz="1400" dirty="0">
                <a:solidFill>
                  <a:srgbClr val="9A9590"/>
                </a:solidFill>
                <a:latin typeface="MiSans" pitchFamily="34" charset="0"/>
                <a:ea typeface="MiSans" pitchFamily="34" charset="-122"/>
                <a:cs typeface="MiSans" pitchFamily="34" charset="-120"/>
              </a:rPr>
              <a:t>// simultaneously resolving same request</a:t>
            </a:r>
            <a:endParaRPr lang="en-US" sz="1600" dirty="0"/>
          </a:p>
        </p:txBody>
      </p:sp>
      <p:sp>
        <p:nvSpPr>
          <p:cNvPr id="11" name="Text 9"/>
          <p:cNvSpPr/>
          <p:nvPr/>
        </p:nvSpPr>
        <p:spPr>
          <a:xfrm>
            <a:off x="8382000" y="4356100"/>
            <a:ext cx="7112000" cy="1651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claim()</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is "first resolver wins" semantics. Once one source (local UI, coordinator, worker mailbox, channel relay, classifier) resolves the permission, all other sources are blocked.</a:t>
            </a:r>
            <a:endParaRPr lang="en-US" sz="1800" dirty="0"/>
          </a:p>
          <a:p>
            <a:pPr>
              <a:lnSpc>
                <a:spcPct val="160000"/>
              </a:lnSpc>
              <a:spcBef>
                <a:spcPts val="800"/>
              </a:spcBef>
            </a:pPr>
            <a:r>
              <a:rPr lang="en-US" sz="1700" dirty="0">
                <a:solidFill>
                  <a:srgbClr val="E8DCC8"/>
                </a:solidFill>
                <a:latin typeface="QuattrocentoSans" pitchFamily="34" charset="0"/>
                <a:ea typeface="QuattrocentoSans" pitchFamily="34" charset="-122"/>
                <a:cs typeface="QuattrocentoSans" pitchFamily="34" charset="-120"/>
              </a:rPr>
              <a:t>This is a </a:t>
            </a:r>
            <a:pPr>
              <a:lnSpc>
                <a:spcPct val="160000"/>
              </a:lnSpc>
              <a:spcBef>
                <a:spcPts val="800"/>
              </a:spcBef>
            </a:pPr>
            <a:r>
              <a:rPr lang="en-US" sz="1700" b="1" dirty="0">
                <a:solidFill>
                  <a:srgbClr val="E8DCC8"/>
                </a:solidFill>
                <a:latin typeface="QuattrocentoSans" pitchFamily="34" charset="0"/>
                <a:ea typeface="QuattrocentoSans" pitchFamily="34" charset="-122"/>
                <a:cs typeface="QuattrocentoSans" pitchFamily="34" charset="-120"/>
              </a:rPr>
              <a:t>competitive resolution system</a:t>
            </a:r>
            <a:pPr>
              <a:lnSpc>
                <a:spcPct val="160000"/>
              </a:lnSpc>
              <a:spcBef>
                <a:spcPts val="800"/>
              </a:spcBef>
            </a:pPr>
            <a:r>
              <a:rPr lang="en-US" sz="1700" dirty="0">
                <a:solidFill>
                  <a:srgbClr val="E8DCC8"/>
                </a:solidFill>
                <a:latin typeface="QuattrocentoSans" pitchFamily="34" charset="0"/>
                <a:ea typeface="QuattrocentoSans" pitchFamily="34" charset="-122"/>
                <a:cs typeface="QuattrocentoSans" pitchFamily="34" charset="-120"/>
              </a:rPr>
              <a:t> — multiple participants may race, but only one decision is applied.</a:t>
            </a:r>
            <a:endParaRPr lang="en-US" sz="1800" dirty="0"/>
          </a:p>
        </p:txBody>
      </p:sp>
      <p:sp>
        <p:nvSpPr>
          <p:cNvPr id="12" name="Shape 10"/>
          <p:cNvSpPr/>
          <p:nvPr/>
        </p:nvSpPr>
        <p:spPr>
          <a:xfrm>
            <a:off x="762000" y="6350000"/>
            <a:ext cx="50800" cy="889000"/>
          </a:xfrm>
          <a:prstGeom prst="rect">
            <a:avLst/>
          </a:prstGeom>
          <a:solidFill>
            <a:srgbClr val="C4A265"/>
          </a:solidFill>
          <a:ln/>
        </p:spPr>
      </p:sp>
      <p:sp>
        <p:nvSpPr>
          <p:cNvPr id="13" name="Text 11"/>
          <p:cNvSpPr/>
          <p:nvPr/>
        </p:nvSpPr>
        <p:spPr>
          <a:xfrm>
            <a:off x="1016000" y="6350000"/>
            <a:ext cx="14224000" cy="889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mailbox pattern decouples worker from leader — workers don't need direct references to leaders, and leaders don't need to track workers. The mailbox is the single source of truth for pending approvals. This enables dynamic worker pools where workers can join and leave without reconfiguring the approval flow.</a:t>
            </a:r>
            <a:endParaRPr lang="en-US" sz="1800" dirty="0"/>
          </a:p>
        </p:txBody>
      </p:sp>
      <p:sp>
        <p:nvSpPr>
          <p:cNvPr id="14" name="Shape 12"/>
          <p:cNvSpPr/>
          <p:nvPr/>
        </p:nvSpPr>
        <p:spPr>
          <a:xfrm>
            <a:off x="762000" y="8636000"/>
            <a:ext cx="14732000" cy="12700"/>
          </a:xfrm>
          <a:prstGeom prst="rect">
            <a:avLst/>
          </a:prstGeom>
          <a:solidFill>
            <a:srgbClr val="3A3A3E"/>
          </a:solidFill>
          <a:ln/>
        </p:spPr>
      </p:sp>
      <p:sp>
        <p:nvSpPr>
          <p:cNvPr id="15" name="Text 13"/>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src/hooks/toolPermission/handlers/swarmWorkerHandler.ts, src/hooks/toolPermission/PermissionContext.ts:63-93</a:t>
            </a:r>
            <a:endParaRPr lang="en-US" sz="1300" dirty="0"/>
          </a:p>
        </p:txBody>
      </p:sp>
    </p:spTree>
  </p:cSld>
  <p:clrMapOvr>
    <a:masterClrMapping/>
  </p:clrMapOvr>
  <p:transition>
    <p:fade/>
    <p:spd val="med"/>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08</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EIGHT</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143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Context &amp; Memory Management</a:t>
            </a:r>
            <a:endParaRPr lang="en-US" sz="3800" dirty="0"/>
          </a:p>
        </p:txBody>
      </p:sp>
      <p:sp>
        <p:nvSpPr>
          <p:cNvPr id="6" name="Text 4"/>
          <p:cNvSpPr/>
          <p:nvPr/>
        </p:nvSpPr>
        <p:spPr>
          <a:xfrm>
            <a:off x="762000" y="4699000"/>
            <a:ext cx="1143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Not "compressing all history into a layered memory" — but "distributing information of different lifecycles, different trust levels, different purposes to different governance loops"</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08 CONTEXT &amp; MEMORY</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Memory System: Three Independent Governance Objects</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4699000" cy="2921000"/>
          </a:xfrm>
          <a:prstGeom prst="rect">
            <a:avLst/>
          </a:prstGeom>
          <a:solidFill>
            <a:srgbClr val="161618"/>
          </a:solidFill>
          <a:ln/>
        </p:spPr>
      </p:sp>
      <p:sp>
        <p:nvSpPr>
          <p:cNvPr id="6" name="Shape 4"/>
          <p:cNvSpPr/>
          <p:nvPr/>
        </p:nvSpPr>
        <p:spPr>
          <a:xfrm>
            <a:off x="762000" y="1524000"/>
            <a:ext cx="4699000" cy="50800"/>
          </a:xfrm>
          <a:prstGeom prst="rect">
            <a:avLst/>
          </a:prstGeom>
          <a:solidFill>
            <a:srgbClr val="C4A265"/>
          </a:solidFill>
          <a:ln/>
        </p:spPr>
      </p:sp>
      <p:sp>
        <p:nvSpPr>
          <p:cNvPr id="7" name="Text 5"/>
          <p:cNvSpPr/>
          <p:nvPr/>
        </p:nvSpPr>
        <p:spPr>
          <a:xfrm>
            <a:off x="952500" y="1701800"/>
            <a:ext cx="4318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CLAUDE.md — Instruction Memory</a:t>
            </a:r>
            <a:endParaRPr lang="en-US" sz="1600" dirty="0"/>
          </a:p>
        </p:txBody>
      </p:sp>
      <p:sp>
        <p:nvSpPr>
          <p:cNvPr id="8" name="Text 6"/>
          <p:cNvSpPr/>
          <p:nvPr/>
        </p:nvSpPr>
        <p:spPr>
          <a:xfrm>
            <a:off x="952500" y="2133600"/>
            <a:ext cx="4318000" cy="2159000"/>
          </a:xfrm>
          <a:prstGeom prst="rect">
            <a:avLst/>
          </a:prstGeom>
          <a:noFill/>
          <a:ln/>
        </p:spPr>
        <p:txBody>
          <a:bodyPr wrap="square" lIns="0" tIns="0" rIns="0" bIns="0" rtlCol="0" anchor="t"/>
          <a:lstStyle/>
          <a:p>
            <a:pPr>
              <a:lnSpc>
                <a:spcPct val="150000"/>
              </a:lnSpc>
            </a:pPr>
            <a:r>
              <a:rPr lang="en-US" sz="1500" b="1" dirty="0">
                <a:solidFill>
                  <a:srgbClr val="E8DCC8"/>
                </a:solidFill>
                <a:latin typeface="Quattrocento Sans" pitchFamily="34" charset="0"/>
                <a:ea typeface="Quattrocento Sans" pitchFamily="34" charset="-122"/>
                <a:cs typeface="Quattrocento Sans" pitchFamily="34" charset="-120"/>
              </a:rPr>
              <a:t>Purpose:</a:t>
            </a:r>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 Stable instruction injection</a:t>
            </a:r>
            <a:endParaRPr lang="en-US" sz="1600" dirty="0"/>
          </a:p>
          <a:p>
            <a:pPr>
              <a:lnSpc>
                <a:spcPct val="150000"/>
              </a:lnSpc>
              <a:spcBef>
                <a:spcPts val="400"/>
              </a:spcBef>
            </a:pPr>
            <a:r>
              <a:rPr lang="en-US" sz="1500" dirty="0">
                <a:solidFill>
                  <a:srgbClr val="E8DCC8"/>
                </a:solidFill>
                <a:latin typeface="Quattrocento Sans" pitchFamily="34" charset="0"/>
                <a:ea typeface="Quattrocento Sans" pitchFamily="34" charset="-122"/>
                <a:cs typeface="Quattrocento Sans" pitchFamily="34" charset="-120"/>
              </a:rPr>
              <a:t>Loading: Managed→User→Project→Local priority</a:t>
            </a:r>
            <a:endParaRPr lang="en-US" sz="1600" dirty="0"/>
          </a:p>
          <a:p>
            <a:pPr>
              <a:lnSpc>
                <a:spcPct val="150000"/>
              </a:lnSpc>
              <a:spcBef>
                <a:spcPts val="400"/>
              </a:spcBef>
            </a:pPr>
            <a:r>
              <a:rPr lang="en-US" sz="1500" dirty="0">
                <a:solidFill>
                  <a:srgbClr val="E8DCC8"/>
                </a:solidFill>
                <a:latin typeface="Quattrocento Sans" pitchFamily="34" charset="0"/>
                <a:ea typeface="Quattrocento Sans" pitchFamily="34" charset="-122"/>
                <a:cs typeface="Quattrocento Sans" pitchFamily="34" charset="-120"/>
              </a:rPr>
              <a:t>Features: @include support, max depth, cycle dedup</a:t>
            </a:r>
            <a:endParaRPr lang="en-US" sz="1600" dirty="0"/>
          </a:p>
          <a:p>
            <a:pPr>
              <a:lnSpc>
                <a:spcPct val="150000"/>
              </a:lnSpc>
              <a:spcBef>
                <a:spcPts val="400"/>
              </a:spcBef>
            </a:pPr>
            <a:r>
              <a:rPr lang="en-US" sz="1500" dirty="0">
                <a:solidFill>
                  <a:srgbClr val="9A9590"/>
                </a:solidFill>
                <a:latin typeface="Quattrocento Sans" pitchFamily="34" charset="0"/>
                <a:ea typeface="Quattrocento Sans" pitchFamily="34" charset="-122"/>
                <a:cs typeface="Quattrocento Sans" pitchFamily="34" charset="-120"/>
              </a:rPr>
              <a:t>Not a memory layer — it's an instruction chain</a:t>
            </a:r>
            <a:endParaRPr lang="en-US" sz="1600" dirty="0"/>
          </a:p>
        </p:txBody>
      </p:sp>
      <p:sp>
        <p:nvSpPr>
          <p:cNvPr id="9" name="Shape 7"/>
          <p:cNvSpPr/>
          <p:nvPr/>
        </p:nvSpPr>
        <p:spPr>
          <a:xfrm>
            <a:off x="5715000" y="1524000"/>
            <a:ext cx="4699000" cy="2921000"/>
          </a:xfrm>
          <a:prstGeom prst="rect">
            <a:avLst/>
          </a:prstGeom>
          <a:solidFill>
            <a:srgbClr val="161618"/>
          </a:solidFill>
          <a:ln/>
        </p:spPr>
      </p:sp>
      <p:sp>
        <p:nvSpPr>
          <p:cNvPr id="10" name="Shape 8"/>
          <p:cNvSpPr/>
          <p:nvPr/>
        </p:nvSpPr>
        <p:spPr>
          <a:xfrm>
            <a:off x="5715000" y="1524000"/>
            <a:ext cx="4699000" cy="50800"/>
          </a:xfrm>
          <a:prstGeom prst="rect">
            <a:avLst/>
          </a:prstGeom>
          <a:solidFill>
            <a:srgbClr val="6B8E6B"/>
          </a:solidFill>
          <a:ln/>
        </p:spPr>
      </p:sp>
      <p:sp>
        <p:nvSpPr>
          <p:cNvPr id="11" name="Text 9"/>
          <p:cNvSpPr/>
          <p:nvPr/>
        </p:nvSpPr>
        <p:spPr>
          <a:xfrm>
            <a:off x="5905500" y="1701800"/>
            <a:ext cx="4318000" cy="330200"/>
          </a:xfrm>
          <a:prstGeom prst="rect">
            <a:avLst/>
          </a:prstGeom>
          <a:noFill/>
          <a:ln/>
        </p:spPr>
        <p:txBody>
          <a:bodyPr wrap="none" lIns="0" tIns="0" rIns="0" bIns="0" rtlCol="0" anchor="ctr"/>
          <a:lstStyle/>
          <a:p>
            <a:pPr>
              <a:lnSpc>
                <a:spcPct val="100000"/>
              </a:lnSpc>
            </a:pPr>
            <a:r>
              <a:rPr lang="en-US" sz="1800" b="1" dirty="0">
                <a:solidFill>
                  <a:srgbClr val="8FBC8F"/>
                </a:solidFill>
                <a:latin typeface="Liter" pitchFamily="34" charset="0"/>
                <a:ea typeface="Liter" pitchFamily="34" charset="-122"/>
                <a:cs typeface="Liter" pitchFamily="34" charset="-120"/>
              </a:rPr>
              <a:t>MEMORY.md — Persistent Memory</a:t>
            </a:r>
            <a:endParaRPr lang="en-US" sz="1600" dirty="0"/>
          </a:p>
        </p:txBody>
      </p:sp>
      <p:sp>
        <p:nvSpPr>
          <p:cNvPr id="12" name="Text 10"/>
          <p:cNvSpPr/>
          <p:nvPr/>
        </p:nvSpPr>
        <p:spPr>
          <a:xfrm>
            <a:off x="5905500" y="2133600"/>
            <a:ext cx="4318000" cy="2159000"/>
          </a:xfrm>
          <a:prstGeom prst="rect">
            <a:avLst/>
          </a:prstGeom>
          <a:noFill/>
          <a:ln/>
        </p:spPr>
        <p:txBody>
          <a:bodyPr wrap="square" lIns="0" tIns="0" rIns="0" bIns="0" rtlCol="0" anchor="t"/>
          <a:lstStyle/>
          <a:p>
            <a:pPr>
              <a:lnSpc>
                <a:spcPct val="150000"/>
              </a:lnSpc>
            </a:pPr>
            <a:r>
              <a:rPr lang="en-US" sz="1500" b="1" dirty="0">
                <a:solidFill>
                  <a:srgbClr val="E8DCC8"/>
                </a:solidFill>
                <a:latin typeface="Quattrocento Sans" pitchFamily="34" charset="0"/>
                <a:ea typeface="Quattrocento Sans" pitchFamily="34" charset="-122"/>
                <a:cs typeface="Quattrocento Sans" pitchFamily="34" charset="-120"/>
              </a:rPr>
              <a:t>Purpose:</a:t>
            </a:r>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 Cross-session persistent memory</a:t>
            </a:r>
            <a:endParaRPr lang="en-US" sz="1600" dirty="0"/>
          </a:p>
          <a:p>
            <a:pPr>
              <a:lnSpc>
                <a:spcPct val="150000"/>
              </a:lnSpc>
              <a:spcBef>
                <a:spcPts val="400"/>
              </a:spcBef>
            </a:pPr>
            <a:r>
              <a:rPr lang="en-US" sz="1500" dirty="0">
                <a:solidFill>
                  <a:srgbClr val="E8DCC8"/>
                </a:solidFill>
                <a:latin typeface="Quattrocento Sans" pitchFamily="34" charset="0"/>
                <a:ea typeface="Quattrocento Sans" pitchFamily="34" charset="-122"/>
                <a:cs typeface="Quattrocento Sans" pitchFamily="34" charset="-120"/>
              </a:rPr>
              <a:t>Entry: MEMORY.md (200 lines, 25KB limit)</a:t>
            </a:r>
            <a:endParaRPr lang="en-US" sz="1600" dirty="0"/>
          </a:p>
          <a:p>
            <a:pPr>
              <a:lnSpc>
                <a:spcPct val="150000"/>
              </a:lnSpc>
              <a:spcBef>
                <a:spcPts val="400"/>
              </a:spcBef>
            </a:pPr>
            <a:r>
              <a:rPr lang="en-US" sz="1500" dirty="0">
                <a:solidFill>
                  <a:srgbClr val="E8DCC8"/>
                </a:solidFill>
                <a:latin typeface="Quattrocento Sans" pitchFamily="34" charset="0"/>
                <a:ea typeface="Quattrocento Sans" pitchFamily="34" charset="-122"/>
                <a:cs typeface="Quattrocento Sans" pitchFamily="34" charset="-120"/>
              </a:rPr>
              <a:t>Content: Topic files for actual storage</a:t>
            </a:r>
            <a:endParaRPr lang="en-US" sz="1600" dirty="0"/>
          </a:p>
          <a:p>
            <a:pPr>
              <a:lnSpc>
                <a:spcPct val="150000"/>
              </a:lnSpc>
              <a:spcBef>
                <a:spcPts val="400"/>
              </a:spcBef>
            </a:pPr>
            <a:r>
              <a:rPr lang="en-US" sz="1500" dirty="0">
                <a:solidFill>
                  <a:srgbClr val="E8DCC8"/>
                </a:solidFill>
                <a:latin typeface="Quattrocento Sans" pitchFamily="34" charset="0"/>
                <a:ea typeface="Quattrocento Sans" pitchFamily="34" charset="-122"/>
                <a:cs typeface="Quattrocento Sans" pitchFamily="34" charset="-120"/>
              </a:rPr>
              <a:t>Variants: auto-memory, agent-memory, team-memory</a:t>
            </a:r>
            <a:endParaRPr lang="en-US" sz="1600" dirty="0"/>
          </a:p>
        </p:txBody>
      </p:sp>
      <p:sp>
        <p:nvSpPr>
          <p:cNvPr id="13" name="Shape 11"/>
          <p:cNvSpPr/>
          <p:nvPr/>
        </p:nvSpPr>
        <p:spPr>
          <a:xfrm>
            <a:off x="10668000" y="1524000"/>
            <a:ext cx="4826000" cy="2921000"/>
          </a:xfrm>
          <a:prstGeom prst="rect">
            <a:avLst/>
          </a:prstGeom>
          <a:solidFill>
            <a:srgbClr val="161618"/>
          </a:solidFill>
          <a:ln/>
        </p:spPr>
      </p:sp>
      <p:sp>
        <p:nvSpPr>
          <p:cNvPr id="14" name="Shape 12"/>
          <p:cNvSpPr/>
          <p:nvPr/>
        </p:nvSpPr>
        <p:spPr>
          <a:xfrm>
            <a:off x="10668000" y="1524000"/>
            <a:ext cx="4826000" cy="50800"/>
          </a:xfrm>
          <a:prstGeom prst="rect">
            <a:avLst/>
          </a:prstGeom>
          <a:solidFill>
            <a:srgbClr val="8B7B6B"/>
          </a:solidFill>
          <a:ln/>
        </p:spPr>
      </p:sp>
      <p:sp>
        <p:nvSpPr>
          <p:cNvPr id="15" name="Text 13"/>
          <p:cNvSpPr/>
          <p:nvPr/>
        </p:nvSpPr>
        <p:spPr>
          <a:xfrm>
            <a:off x="10858500" y="1701800"/>
            <a:ext cx="4445000" cy="330200"/>
          </a:xfrm>
          <a:prstGeom prst="rect">
            <a:avLst/>
          </a:prstGeom>
          <a:noFill/>
          <a:ln/>
        </p:spPr>
        <p:txBody>
          <a:bodyPr wrap="none" lIns="0" tIns="0" rIns="0" bIns="0" rtlCol="0" anchor="ctr"/>
          <a:lstStyle/>
          <a:p>
            <a:pPr>
              <a:lnSpc>
                <a:spcPct val="100000"/>
              </a:lnSpc>
            </a:pPr>
            <a:r>
              <a:rPr lang="en-US" sz="1800" b="1" dirty="0">
                <a:solidFill>
                  <a:srgbClr val="C4A88A"/>
                </a:solidFill>
                <a:latin typeface="Liter" pitchFamily="34" charset="0"/>
                <a:ea typeface="Liter" pitchFamily="34" charset="-122"/>
                <a:cs typeface="Liter" pitchFamily="34" charset="-120"/>
              </a:rPr>
              <a:t>Compact — Session Context</a:t>
            </a:r>
            <a:endParaRPr lang="en-US" sz="1600" dirty="0"/>
          </a:p>
        </p:txBody>
      </p:sp>
      <p:sp>
        <p:nvSpPr>
          <p:cNvPr id="16" name="Text 14"/>
          <p:cNvSpPr/>
          <p:nvPr/>
        </p:nvSpPr>
        <p:spPr>
          <a:xfrm>
            <a:off x="10858500" y="2133600"/>
            <a:ext cx="4445000" cy="2159000"/>
          </a:xfrm>
          <a:prstGeom prst="rect">
            <a:avLst/>
          </a:prstGeom>
          <a:noFill/>
          <a:ln/>
        </p:spPr>
        <p:txBody>
          <a:bodyPr wrap="square" lIns="0" tIns="0" rIns="0" bIns="0" rtlCol="0" anchor="t"/>
          <a:lstStyle/>
          <a:p>
            <a:pPr>
              <a:lnSpc>
                <a:spcPct val="150000"/>
              </a:lnSpc>
            </a:pPr>
            <a:r>
              <a:rPr lang="en-US" sz="1500" b="1" dirty="0">
                <a:solidFill>
                  <a:srgbClr val="E8DCC8"/>
                </a:solidFill>
                <a:latin typeface="Quattrocento Sans" pitchFamily="34" charset="0"/>
                <a:ea typeface="Quattrocento Sans" pitchFamily="34" charset="-122"/>
                <a:cs typeface="Quattrocento Sans" pitchFamily="34" charset="-120"/>
              </a:rPr>
              <a:t>Purpose:</a:t>
            </a:r>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 Current session context compression</a:t>
            </a:r>
            <a:endParaRPr lang="en-US" sz="1600" dirty="0"/>
          </a:p>
          <a:p>
            <a:pPr>
              <a:lnSpc>
                <a:spcPct val="150000"/>
              </a:lnSpc>
              <a:spcBef>
                <a:spcPts val="400"/>
              </a:spcBef>
            </a:pPr>
            <a:r>
              <a:rPr lang="en-US" sz="1500" dirty="0">
                <a:solidFill>
                  <a:srgbClr val="E8DCC8"/>
                </a:solidFill>
                <a:latin typeface="Quattrocento Sans" pitchFamily="34" charset="0"/>
                <a:ea typeface="Quattrocento Sans" pitchFamily="34" charset="-122"/>
                <a:cs typeface="Quattrocento Sans" pitchFamily="34" charset="-120"/>
              </a:rPr>
              <a:t>Mechanisms: microcompact, autocompact, contextCollapse</a:t>
            </a:r>
            <a:endParaRPr lang="en-US" sz="1600" dirty="0"/>
          </a:p>
          <a:p>
            <a:pPr>
              <a:lnSpc>
                <a:spcPct val="150000"/>
              </a:lnSpc>
              <a:spcBef>
                <a:spcPts val="400"/>
              </a:spcBef>
            </a:pPr>
            <a:r>
              <a:rPr lang="en-US" sz="1500" dirty="0">
                <a:solidFill>
                  <a:srgbClr val="E8DCC8"/>
                </a:solidFill>
                <a:latin typeface="Quattrocento Sans" pitchFamily="34" charset="0"/>
                <a:ea typeface="Quattrocento Sans" pitchFamily="34" charset="-122"/>
                <a:cs typeface="Quattrocento Sans" pitchFamily="34" charset="-120"/>
              </a:rPr>
              <a:t>Independent subsystem, not persistent memory</a:t>
            </a:r>
            <a:endParaRPr lang="en-US" sz="1600" dirty="0"/>
          </a:p>
          <a:p>
            <a:pPr>
              <a:lnSpc>
                <a:spcPct val="150000"/>
              </a:lnSpc>
              <a:spcBef>
                <a:spcPts val="400"/>
              </a:spcBef>
            </a:pPr>
            <a:r>
              <a:rPr lang="en-US" sz="1500" dirty="0">
                <a:solidFill>
                  <a:srgbClr val="9A9590"/>
                </a:solidFill>
                <a:latin typeface="Quattrocento Sans" pitchFamily="34" charset="0"/>
                <a:ea typeface="Quattrocento Sans" pitchFamily="34" charset="-122"/>
                <a:cs typeface="Quattrocento Sans" pitchFamily="34" charset="-120"/>
              </a:rPr>
              <a:t>Solves window pressure, not cross-session recall</a:t>
            </a:r>
            <a:endParaRPr lang="en-US" sz="1600" dirty="0"/>
          </a:p>
        </p:txBody>
      </p:sp>
      <p:sp>
        <p:nvSpPr>
          <p:cNvPr id="17" name="Shape 15"/>
          <p:cNvSpPr/>
          <p:nvPr/>
        </p:nvSpPr>
        <p:spPr>
          <a:xfrm>
            <a:off x="762000" y="4762500"/>
            <a:ext cx="50800" cy="1016000"/>
          </a:xfrm>
          <a:prstGeom prst="rect">
            <a:avLst/>
          </a:prstGeom>
          <a:solidFill>
            <a:srgbClr val="C4A265"/>
          </a:solidFill>
          <a:ln/>
        </p:spPr>
      </p:sp>
      <p:sp>
        <p:nvSpPr>
          <p:cNvPr id="18" name="Text 16"/>
          <p:cNvSpPr/>
          <p:nvPr/>
        </p:nvSpPr>
        <p:spPr>
          <a:xfrm>
            <a:off x="1016000" y="47625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Key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Claude Code doesn't converge "all memory" into a single three-layer structure — it splits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instructions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t>
            </a:r>
            <a:pPr>
              <a:lnSpc>
                <a:spcPct val="160000"/>
              </a:lnSpc>
            </a:pPr>
            <a:r>
              <a:rPr lang="en-US" sz="1700" dirty="0">
                <a:solidFill>
                  <a:srgbClr val="8FBC8F"/>
                </a:solidFill>
                <a:latin typeface="QuattrocentoSans" pitchFamily="34" charset="0"/>
                <a:ea typeface="QuattrocentoSans" pitchFamily="34" charset="-122"/>
                <a:cs typeface="QuattrocentoSans" pitchFamily="34" charset="-120"/>
              </a:rPr>
              <a:t>persistent facts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and </a:t>
            </a:r>
            <a:pPr>
              <a:lnSpc>
                <a:spcPct val="160000"/>
              </a:lnSpc>
            </a:pPr>
            <a:r>
              <a:rPr lang="en-US" sz="1700" dirty="0">
                <a:solidFill>
                  <a:srgbClr val="C4A88A"/>
                </a:solidFill>
                <a:latin typeface="QuattrocentoSans" pitchFamily="34" charset="0"/>
                <a:ea typeface="QuattrocentoSans" pitchFamily="34" charset="-122"/>
                <a:cs typeface="QuattrocentoSans" pitchFamily="34" charset="-120"/>
              </a:rPr>
              <a:t>session context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into three different governance objects with different harness mechanisms. Each has its own lifecycle, trust model, and compression strategy.</a:t>
            </a:r>
            <a:endParaRPr lang="en-US" sz="1800" dirty="0"/>
          </a:p>
        </p:txBody>
      </p:sp>
      <p:sp>
        <p:nvSpPr>
          <p:cNvPr id="19" name="Shape 17"/>
          <p:cNvSpPr/>
          <p:nvPr/>
        </p:nvSpPr>
        <p:spPr>
          <a:xfrm>
            <a:off x="762000" y="8636000"/>
            <a:ext cx="14732000" cy="12700"/>
          </a:xfrm>
          <a:prstGeom prst="rect">
            <a:avLst/>
          </a:prstGeom>
          <a:solidFill>
            <a:srgbClr val="3A3A3E"/>
          </a:solidFill>
          <a:ln/>
        </p:spPr>
      </p:sp>
      <p:sp>
        <p:nvSpPr>
          <p:cNvPr id="20" name="Text 18"/>
          <p:cNvSpPr/>
          <p:nvPr/>
        </p:nvSpPr>
        <p:spPr>
          <a:xfrm>
            <a:off x="762000" y="8763000"/>
            <a:ext cx="889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src/utils/claudemd.ts:1-26, src/memdir/memdir.ts:34-39</a:t>
            </a:r>
            <a:endParaRPr lang="en-US" sz="1300" dirty="0"/>
          </a:p>
        </p:txBody>
      </p:sp>
    </p:spTree>
  </p:cSld>
  <p:clrMapOvr>
    <a:masterClrMapping/>
  </p:clrMapOvr>
  <p:transition>
    <p:fade/>
    <p:spd val="med"/>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08 CONTEXT &amp; MEMORY</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Context Compression Pipeline: Four-Stage Escalation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3429000" cy="2159000"/>
          </a:xfrm>
          <a:prstGeom prst="rect">
            <a:avLst/>
          </a:prstGeom>
          <a:solidFill>
            <a:srgbClr val="161618"/>
          </a:solidFill>
          <a:ln/>
        </p:spPr>
      </p:sp>
      <p:sp>
        <p:nvSpPr>
          <p:cNvPr id="6" name="Shape 4"/>
          <p:cNvSpPr/>
          <p:nvPr/>
        </p:nvSpPr>
        <p:spPr>
          <a:xfrm>
            <a:off x="762000" y="1524000"/>
            <a:ext cx="3429000" cy="50800"/>
          </a:xfrm>
          <a:prstGeom prst="rect">
            <a:avLst/>
          </a:prstGeom>
          <a:solidFill>
            <a:srgbClr val="C4A265"/>
          </a:solidFill>
          <a:ln/>
        </p:spPr>
      </p:sp>
      <p:sp>
        <p:nvSpPr>
          <p:cNvPr id="7" name="Text 5"/>
          <p:cNvSpPr/>
          <p:nvPr/>
        </p:nvSpPr>
        <p:spPr>
          <a:xfrm>
            <a:off x="952500" y="1701800"/>
            <a:ext cx="3048000" cy="3048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1. snip</a:t>
            </a:r>
            <a:endParaRPr lang="en-US" sz="1600" dirty="0"/>
          </a:p>
        </p:txBody>
      </p:sp>
      <p:sp>
        <p:nvSpPr>
          <p:cNvPr id="8" name="Text 6"/>
          <p:cNvSpPr/>
          <p:nvPr/>
        </p:nvSpPr>
        <p:spPr>
          <a:xfrm>
            <a:off x="952500" y="2082800"/>
            <a:ext cx="3048000" cy="1460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Lightest —裁剪 low-value history fragments</a:t>
            </a:r>
            <a:endParaRPr lang="en-US" sz="1600" dirty="0"/>
          </a:p>
          <a:p>
            <a:pPr>
              <a:lnSpc>
                <a:spcPct val="150000"/>
              </a:lnSpc>
              <a:spcBef>
                <a:spcPts val="400"/>
              </a:spcBef>
            </a:pPr>
            <a:r>
              <a:rPr lang="en-US" sz="1400" dirty="0">
                <a:solidFill>
                  <a:srgbClr val="E8DCC8"/>
                </a:solidFill>
                <a:latin typeface="Quattrocento Sans" pitchFamily="34" charset="0"/>
                <a:ea typeface="Quattrocento Sans" pitchFamily="34" charset="-122"/>
                <a:cs typeface="Quattrocento Sans" pitchFamily="34" charset="-120"/>
              </a:rPr>
              <a:t>Passes tokensFreed to subsequent autocompact</a:t>
            </a:r>
            <a:endParaRPr lang="en-US" sz="1600" dirty="0"/>
          </a:p>
          <a:p>
            <a:pPr>
              <a:lnSpc>
                <a:spcPct val="150000"/>
              </a:lnSpc>
              <a:spcBef>
                <a:spcPts val="400"/>
              </a:spcBef>
            </a:pPr>
            <a:r>
              <a:rPr lang="en-US" sz="1400" dirty="0">
                <a:solidFill>
                  <a:srgbClr val="9A9590"/>
                </a:solidFill>
                <a:latin typeface="Quattrocento Sans" pitchFamily="34" charset="0"/>
                <a:ea typeface="Quattrocento Sans" pitchFamily="34" charset="-122"/>
                <a:cs typeface="Quattrocento Sans" pitchFamily="34" charset="-120"/>
              </a:rPr>
              <a:t>"Delete before summarizing"</a:t>
            </a:r>
            <a:endParaRPr lang="en-US" sz="1600" dirty="0"/>
          </a:p>
        </p:txBody>
      </p:sp>
      <p:sp>
        <p:nvSpPr>
          <p:cNvPr id="9" name="Shape 7"/>
          <p:cNvSpPr/>
          <p:nvPr/>
        </p:nvSpPr>
        <p:spPr>
          <a:xfrm>
            <a:off x="4508500" y="1524000"/>
            <a:ext cx="3429000" cy="2159000"/>
          </a:xfrm>
          <a:prstGeom prst="rect">
            <a:avLst/>
          </a:prstGeom>
          <a:solidFill>
            <a:srgbClr val="161618"/>
          </a:solidFill>
          <a:ln/>
        </p:spPr>
      </p:sp>
      <p:sp>
        <p:nvSpPr>
          <p:cNvPr id="10" name="Shape 8"/>
          <p:cNvSpPr/>
          <p:nvPr/>
        </p:nvSpPr>
        <p:spPr>
          <a:xfrm>
            <a:off x="4508500" y="1524000"/>
            <a:ext cx="3429000" cy="50800"/>
          </a:xfrm>
          <a:prstGeom prst="rect">
            <a:avLst/>
          </a:prstGeom>
          <a:solidFill>
            <a:srgbClr val="6B8E6B"/>
          </a:solidFill>
          <a:ln/>
        </p:spPr>
      </p:sp>
      <p:sp>
        <p:nvSpPr>
          <p:cNvPr id="11" name="Text 9"/>
          <p:cNvSpPr/>
          <p:nvPr/>
        </p:nvSpPr>
        <p:spPr>
          <a:xfrm>
            <a:off x="4699000" y="1701800"/>
            <a:ext cx="3048000" cy="304800"/>
          </a:xfrm>
          <a:prstGeom prst="rect">
            <a:avLst/>
          </a:prstGeom>
          <a:noFill/>
          <a:ln/>
        </p:spPr>
        <p:txBody>
          <a:bodyPr wrap="none" lIns="0" tIns="0" rIns="0" bIns="0" rtlCol="0" anchor="ctr"/>
          <a:lstStyle/>
          <a:p>
            <a:pPr>
              <a:lnSpc>
                <a:spcPct val="100000"/>
              </a:lnSpc>
            </a:pPr>
            <a:r>
              <a:rPr lang="en-US" sz="1600" b="1" dirty="0">
                <a:solidFill>
                  <a:srgbClr val="8FBC8F"/>
                </a:solidFill>
                <a:latin typeface="Liter" pitchFamily="34" charset="0"/>
                <a:ea typeface="Liter" pitchFamily="34" charset="-122"/>
                <a:cs typeface="Liter" pitchFamily="34" charset="-120"/>
              </a:rPr>
              <a:t>2. microcompact</a:t>
            </a:r>
            <a:endParaRPr lang="en-US" sz="1600" dirty="0"/>
          </a:p>
        </p:txBody>
      </p:sp>
      <p:sp>
        <p:nvSpPr>
          <p:cNvPr id="12" name="Text 10"/>
          <p:cNvSpPr/>
          <p:nvPr/>
        </p:nvSpPr>
        <p:spPr>
          <a:xfrm>
            <a:off x="4699000" y="2082800"/>
            <a:ext cx="3048000" cy="1460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Clear old tool results (FILE_READ, shell, GREP, GLOB, WEB_SEARCH, etc.)</a:t>
            </a:r>
            <a:endParaRPr lang="en-US" sz="1600" dirty="0"/>
          </a:p>
          <a:p>
            <a:pPr>
              <a:lnSpc>
                <a:spcPct val="150000"/>
              </a:lnSpc>
              <a:spcBef>
                <a:spcPts val="400"/>
              </a:spcBef>
            </a:pPr>
            <a:r>
              <a:rPr lang="en-US" sz="1400" dirty="0">
                <a:solidFill>
                  <a:srgbClr val="E8DCC8"/>
                </a:solidFill>
                <a:latin typeface="Quattrocento Sans" pitchFamily="34" charset="0"/>
                <a:ea typeface="Quattrocento Sans" pitchFamily="34" charset="-122"/>
                <a:cs typeface="Quattrocento Sans" pitchFamily="34" charset="-120"/>
              </a:rPr>
              <a:t>Two modes: time-based and cached (via cache_edits)</a:t>
            </a:r>
            <a:endParaRPr lang="en-US" sz="1600" dirty="0"/>
          </a:p>
        </p:txBody>
      </p:sp>
      <p:sp>
        <p:nvSpPr>
          <p:cNvPr id="13" name="Shape 11"/>
          <p:cNvSpPr/>
          <p:nvPr/>
        </p:nvSpPr>
        <p:spPr>
          <a:xfrm>
            <a:off x="8255000" y="1524000"/>
            <a:ext cx="3429000" cy="2159000"/>
          </a:xfrm>
          <a:prstGeom prst="rect">
            <a:avLst/>
          </a:prstGeom>
          <a:solidFill>
            <a:srgbClr val="161618"/>
          </a:solidFill>
          <a:ln/>
        </p:spPr>
      </p:sp>
      <p:sp>
        <p:nvSpPr>
          <p:cNvPr id="14" name="Shape 12"/>
          <p:cNvSpPr/>
          <p:nvPr/>
        </p:nvSpPr>
        <p:spPr>
          <a:xfrm>
            <a:off x="8255000" y="1524000"/>
            <a:ext cx="3429000" cy="50800"/>
          </a:xfrm>
          <a:prstGeom prst="rect">
            <a:avLst/>
          </a:prstGeom>
          <a:solidFill>
            <a:srgbClr val="8B7B6B"/>
          </a:solidFill>
          <a:ln/>
        </p:spPr>
      </p:sp>
      <p:sp>
        <p:nvSpPr>
          <p:cNvPr id="15" name="Text 13"/>
          <p:cNvSpPr/>
          <p:nvPr/>
        </p:nvSpPr>
        <p:spPr>
          <a:xfrm>
            <a:off x="8445500" y="1701800"/>
            <a:ext cx="3048000" cy="304800"/>
          </a:xfrm>
          <a:prstGeom prst="rect">
            <a:avLst/>
          </a:prstGeom>
          <a:noFill/>
          <a:ln/>
        </p:spPr>
        <p:txBody>
          <a:bodyPr wrap="none" lIns="0" tIns="0" rIns="0" bIns="0" rtlCol="0" anchor="ctr"/>
          <a:lstStyle/>
          <a:p>
            <a:pPr>
              <a:lnSpc>
                <a:spcPct val="100000"/>
              </a:lnSpc>
            </a:pPr>
            <a:r>
              <a:rPr lang="en-US" sz="1600" b="1" dirty="0">
                <a:solidFill>
                  <a:srgbClr val="C4A88A"/>
                </a:solidFill>
                <a:latin typeface="Liter" pitchFamily="34" charset="0"/>
                <a:ea typeface="Liter" pitchFamily="34" charset="-122"/>
                <a:cs typeface="Liter" pitchFamily="34" charset="-120"/>
              </a:rPr>
              <a:t>3. contextCollapse</a:t>
            </a:r>
            <a:endParaRPr lang="en-US" sz="1600" dirty="0"/>
          </a:p>
        </p:txBody>
      </p:sp>
      <p:sp>
        <p:nvSpPr>
          <p:cNvPr id="16" name="Text 14"/>
          <p:cNvSpPr/>
          <p:nvPr/>
        </p:nvSpPr>
        <p:spPr>
          <a:xfrm>
            <a:off x="8445500" y="2082800"/>
            <a:ext cx="3048000" cy="1460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Read-time projection — summary in collapse store</a:t>
            </a:r>
            <a:endParaRPr lang="en-US" sz="1600" dirty="0"/>
          </a:p>
          <a:p>
            <a:pPr>
              <a:lnSpc>
                <a:spcPct val="150000"/>
              </a:lnSpc>
              <a:spcBef>
                <a:spcPts val="400"/>
              </a:spcBef>
            </a:pPr>
            <a:r>
              <a:rPr lang="en-US" sz="1400" dirty="0">
                <a:solidFill>
                  <a:srgbClr val="E8DCC8"/>
                </a:solidFill>
                <a:latin typeface="Quattrocento Sans" pitchFamily="34" charset="0"/>
                <a:ea typeface="Quattrocento Sans" pitchFamily="34" charset="-122"/>
                <a:cs typeface="Quattrocento Sans" pitchFamily="34" charset="-120"/>
              </a:rPr>
              <a:t>projectView() replays commit log each round</a:t>
            </a:r>
            <a:endParaRPr lang="en-US" sz="1600" dirty="0"/>
          </a:p>
          <a:p>
            <a:pPr>
              <a:lnSpc>
                <a:spcPct val="150000"/>
              </a:lnSpc>
              <a:spcBef>
                <a:spcPts val="400"/>
              </a:spcBef>
            </a:pPr>
            <a:r>
              <a:rPr lang="en-US" sz="1400" dirty="0">
                <a:solidFill>
                  <a:srgbClr val="9A9590"/>
                </a:solidFill>
                <a:latin typeface="Quattrocento Sans" pitchFamily="34" charset="0"/>
                <a:ea typeface="Quattrocento Sans" pitchFamily="34" charset="-122"/>
                <a:cs typeface="Quattrocento Sans" pitchFamily="34" charset="-120"/>
              </a:rPr>
              <a:t>Preserves granularity, avoids flattening</a:t>
            </a:r>
            <a:endParaRPr lang="en-US" sz="1600" dirty="0"/>
          </a:p>
        </p:txBody>
      </p:sp>
      <p:sp>
        <p:nvSpPr>
          <p:cNvPr id="17" name="Shape 15"/>
          <p:cNvSpPr/>
          <p:nvPr/>
        </p:nvSpPr>
        <p:spPr>
          <a:xfrm>
            <a:off x="12001500" y="1524000"/>
            <a:ext cx="3492500" cy="2159000"/>
          </a:xfrm>
          <a:prstGeom prst="rect">
            <a:avLst/>
          </a:prstGeom>
          <a:solidFill>
            <a:srgbClr val="161618"/>
          </a:solidFill>
          <a:ln w="12700">
            <a:solidFill>
              <a:srgbClr val="C4A265"/>
            </a:solidFill>
            <a:prstDash val="solid"/>
          </a:ln>
        </p:spPr>
      </p:sp>
      <p:sp>
        <p:nvSpPr>
          <p:cNvPr id="18" name="Shape 16"/>
          <p:cNvSpPr/>
          <p:nvPr/>
        </p:nvSpPr>
        <p:spPr>
          <a:xfrm>
            <a:off x="12001500" y="1524000"/>
            <a:ext cx="3492500" cy="50800"/>
          </a:xfrm>
          <a:prstGeom prst="rect">
            <a:avLst/>
          </a:prstGeom>
          <a:solidFill>
            <a:srgbClr val="C4A265"/>
          </a:solidFill>
          <a:ln/>
        </p:spPr>
      </p:sp>
      <p:sp>
        <p:nvSpPr>
          <p:cNvPr id="19" name="Text 17"/>
          <p:cNvSpPr/>
          <p:nvPr/>
        </p:nvSpPr>
        <p:spPr>
          <a:xfrm>
            <a:off x="12192000" y="1701800"/>
            <a:ext cx="3111500" cy="304800"/>
          </a:xfrm>
          <a:prstGeom prst="rect">
            <a:avLst/>
          </a:prstGeom>
          <a:noFill/>
          <a:ln/>
        </p:spPr>
        <p:txBody>
          <a:bodyPr wrap="none" lIns="0" tIns="0" rIns="0" bIns="0" rtlCol="0" anchor="ctr"/>
          <a:lstStyle/>
          <a:p>
            <a:pPr>
              <a:lnSpc>
                <a:spcPct val="100000"/>
              </a:lnSpc>
            </a:pPr>
            <a:r>
              <a:rPr lang="en-US" sz="1600" b="1" dirty="0">
                <a:solidFill>
                  <a:srgbClr val="C4A265"/>
                </a:solidFill>
                <a:latin typeface="Liter" pitchFamily="34" charset="0"/>
                <a:ea typeface="Liter" pitchFamily="34" charset="-122"/>
                <a:cs typeface="Liter" pitchFamily="34" charset="-120"/>
              </a:rPr>
              <a:t>4. autocompact</a:t>
            </a:r>
            <a:endParaRPr lang="en-US" sz="1600" dirty="0"/>
          </a:p>
        </p:txBody>
      </p:sp>
      <p:sp>
        <p:nvSpPr>
          <p:cNvPr id="20" name="Text 18"/>
          <p:cNvSpPr/>
          <p:nvPr/>
        </p:nvSpPr>
        <p:spPr>
          <a:xfrm>
            <a:off x="12192000" y="2082800"/>
            <a:ext cx="3111500" cy="1460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 Sans" pitchFamily="34" charset="0"/>
                <a:ea typeface="Quattrocento Sans" pitchFamily="34" charset="-122"/>
                <a:cs typeface="Quattrocento Sans" pitchFamily="34" charset="-120"/>
              </a:rPr>
              <a:t>Formal conversation summary — heavy mechanism</a:t>
            </a:r>
            <a:endParaRPr lang="en-US" sz="1600" dirty="0"/>
          </a:p>
          <a:p>
            <a:pPr>
              <a:lnSpc>
                <a:spcPct val="150000"/>
              </a:lnSpc>
              <a:spcBef>
                <a:spcPts val="400"/>
              </a:spcBef>
            </a:pPr>
            <a:r>
              <a:rPr lang="en-US" sz="1400" dirty="0">
                <a:solidFill>
                  <a:srgbClr val="E8DCC8"/>
                </a:solidFill>
                <a:latin typeface="Quattrocento Sans" pitchFamily="34" charset="0"/>
                <a:ea typeface="Quattrocento Sans" pitchFamily="34" charset="-122"/>
                <a:cs typeface="Quattrocento Sans" pitchFamily="34" charset="-120"/>
              </a:rPr>
              <a:t>Circuit breaker: 3 consecutive failures → stop retry</a:t>
            </a:r>
            <a:endParaRPr lang="en-US" sz="1600" dirty="0"/>
          </a:p>
          <a:p>
            <a:pPr>
              <a:lnSpc>
                <a:spcPct val="150000"/>
              </a:lnSpc>
              <a:spcBef>
                <a:spcPts val="400"/>
              </a:spcBef>
            </a:pPr>
            <a:r>
              <a:rPr lang="en-US" sz="1400" dirty="0">
                <a:solidFill>
                  <a:srgbClr val="C4A265"/>
                </a:solidFill>
                <a:latin typeface="Quattrocento Sans" pitchFamily="34" charset="0"/>
                <a:ea typeface="Quattrocento Sans" pitchFamily="34" charset="-122"/>
                <a:cs typeface="Quattrocento Sans" pitchFamily="34" charset="-120"/>
              </a:rPr>
              <a:t>"The nuclear option"</a:t>
            </a:r>
            <a:endParaRPr lang="en-US" sz="1600" dirty="0"/>
          </a:p>
        </p:txBody>
      </p:sp>
      <p:sp>
        <p:nvSpPr>
          <p:cNvPr id="21" name="Text 19"/>
          <p:cNvSpPr/>
          <p:nvPr/>
        </p:nvSpPr>
        <p:spPr>
          <a:xfrm>
            <a:off x="762000" y="3937000"/>
            <a:ext cx="14732000" cy="508000"/>
          </a:xfrm>
          <a:prstGeom prst="rect">
            <a:avLst/>
          </a:prstGeom>
          <a:noFill/>
          <a:ln/>
        </p:spPr>
        <p:txBody>
          <a:bodyPr wrap="square" lIns="0" tIns="0" rIns="0" bIns="0" rtlCol="0" anchor="ctr"/>
          <a:lstStyle/>
          <a:p>
            <a:pPr algn="ctr">
              <a:lnSpc>
                <a:spcPct val="100000"/>
              </a:lnSpc>
            </a:pPr>
            <a:r>
              <a:rPr lang="en-US" sz="2000" dirty="0">
                <a:solidFill>
                  <a:srgbClr val="C4A265"/>
                </a:solidFill>
                <a:latin typeface="Liter" pitchFamily="34" charset="0"/>
                <a:ea typeface="Liter" pitchFamily="34" charset="-122"/>
                <a:cs typeface="Liter" pitchFamily="34" charset="-120"/>
              </a:rPr>
              <a:t>snip</a:t>
            </a:r>
            <a:pPr algn="ctr">
              <a:lnSpc>
                <a:spcPct val="100000"/>
              </a:lnSpc>
            </a:pPr>
            <a:r>
              <a:rPr lang="en-US" sz="2000" dirty="0">
                <a:solidFill>
                  <a:srgbClr val="E8DCC8"/>
                </a:solidFill>
                <a:latin typeface="Liter" pitchFamily="34" charset="0"/>
                <a:ea typeface="Liter" pitchFamily="34" charset="-122"/>
                <a:cs typeface="Liter" pitchFamily="34" charset="-120"/>
              </a:rPr>
              <a:t> → </a:t>
            </a:r>
            <a:pPr algn="ctr">
              <a:lnSpc>
                <a:spcPct val="100000"/>
              </a:lnSpc>
            </a:pPr>
            <a:r>
              <a:rPr lang="en-US" sz="2000" dirty="0">
                <a:solidFill>
                  <a:srgbClr val="8FBC8F"/>
                </a:solidFill>
                <a:latin typeface="Liter" pitchFamily="34" charset="0"/>
                <a:ea typeface="Liter" pitchFamily="34" charset="-122"/>
                <a:cs typeface="Liter" pitchFamily="34" charset="-120"/>
              </a:rPr>
              <a:t>microcompact</a:t>
            </a:r>
            <a:pPr algn="ctr">
              <a:lnSpc>
                <a:spcPct val="100000"/>
              </a:lnSpc>
            </a:pPr>
            <a:r>
              <a:rPr lang="en-US" sz="2000" dirty="0">
                <a:solidFill>
                  <a:srgbClr val="E8DCC8"/>
                </a:solidFill>
                <a:latin typeface="Liter" pitchFamily="34" charset="0"/>
                <a:ea typeface="Liter" pitchFamily="34" charset="-122"/>
                <a:cs typeface="Liter" pitchFamily="34" charset="-120"/>
              </a:rPr>
              <a:t> → </a:t>
            </a:r>
            <a:pPr algn="ctr">
              <a:lnSpc>
                <a:spcPct val="100000"/>
              </a:lnSpc>
            </a:pPr>
            <a:r>
              <a:rPr lang="en-US" sz="2000" dirty="0">
                <a:solidFill>
                  <a:srgbClr val="C4A88A"/>
                </a:solidFill>
                <a:latin typeface="Liter" pitchFamily="34" charset="0"/>
                <a:ea typeface="Liter" pitchFamily="34" charset="-122"/>
                <a:cs typeface="Liter" pitchFamily="34" charset="-120"/>
              </a:rPr>
              <a:t>contextCollapse</a:t>
            </a:r>
            <a:pPr algn="ctr">
              <a:lnSpc>
                <a:spcPct val="100000"/>
              </a:lnSpc>
            </a:pPr>
            <a:r>
              <a:rPr lang="en-US" sz="2000" dirty="0">
                <a:solidFill>
                  <a:srgbClr val="E8DCC8"/>
                </a:solidFill>
                <a:latin typeface="Liter" pitchFamily="34" charset="0"/>
                <a:ea typeface="Liter" pitchFamily="34" charset="-122"/>
                <a:cs typeface="Liter" pitchFamily="34" charset="-120"/>
              </a:rPr>
              <a:t> → </a:t>
            </a:r>
            <a:pPr algn="ctr">
              <a:lnSpc>
                <a:spcPct val="100000"/>
              </a:lnSpc>
            </a:pPr>
            <a:r>
              <a:rPr lang="en-US" sz="2000" dirty="0">
                <a:solidFill>
                  <a:srgbClr val="C4A265"/>
                </a:solidFill>
                <a:latin typeface="Liter" pitchFamily="34" charset="0"/>
                <a:ea typeface="Liter" pitchFamily="34" charset="-122"/>
                <a:cs typeface="Liter" pitchFamily="34" charset="-120"/>
              </a:rPr>
              <a:t>autocompact</a:t>
            </a:r>
            <a:endParaRPr lang="en-US" sz="1600" dirty="0"/>
          </a:p>
        </p:txBody>
      </p:sp>
      <p:sp>
        <p:nvSpPr>
          <p:cNvPr id="22" name="Text 20"/>
          <p:cNvSpPr/>
          <p:nvPr/>
        </p:nvSpPr>
        <p:spPr>
          <a:xfrm>
            <a:off x="762000" y="4699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Escalation Strategy</a:t>
            </a:r>
            <a:endParaRPr lang="en-US" sz="2200" dirty="0"/>
          </a:p>
        </p:txBody>
      </p:sp>
      <p:sp>
        <p:nvSpPr>
          <p:cNvPr id="23" name="Text 21"/>
          <p:cNvSpPr/>
          <p:nvPr/>
        </p:nvSpPr>
        <p:spPr>
          <a:xfrm>
            <a:off x="762000" y="5143500"/>
            <a:ext cx="14732000" cy="889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Try the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cheapest, lowest-damage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option first (snip removes low-value content, microcompact clears old tool results), only escalate to expensive formal compaction (autocompact summarizes conversation) when necessary. Most turns skip stages 3 and 4 entirely.</a:t>
            </a:r>
            <a:endParaRPr lang="en-US" sz="1800" dirty="0"/>
          </a:p>
        </p:txBody>
      </p:sp>
      <p:sp>
        <p:nvSpPr>
          <p:cNvPr id="24" name="Text 22"/>
          <p:cNvSpPr/>
          <p:nvPr/>
        </p:nvSpPr>
        <p:spPr>
          <a:xfrm>
            <a:off x="762000" y="6286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Advantage vs Disadvantage</a:t>
            </a:r>
            <a:endParaRPr lang="en-US" sz="2200" dirty="0"/>
          </a:p>
        </p:txBody>
      </p:sp>
      <p:sp>
        <p:nvSpPr>
          <p:cNvPr id="25" name="Shape 23"/>
          <p:cNvSpPr/>
          <p:nvPr/>
        </p:nvSpPr>
        <p:spPr>
          <a:xfrm>
            <a:off x="762000" y="6794500"/>
            <a:ext cx="50800" cy="762000"/>
          </a:xfrm>
          <a:prstGeom prst="rect">
            <a:avLst/>
          </a:prstGeom>
          <a:solidFill>
            <a:srgbClr val="C4A265"/>
          </a:solidFill>
          <a:ln/>
        </p:spPr>
      </p:sp>
      <p:sp>
        <p:nvSpPr>
          <p:cNvPr id="26" name="Text 24"/>
          <p:cNvSpPr/>
          <p:nvPr/>
        </p:nvSpPr>
        <p:spPr>
          <a:xfrm>
            <a:off x="1016000" y="6794500"/>
            <a:ext cx="6604000" cy="7620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 Sans" pitchFamily="34" charset="0"/>
                <a:ea typeface="Quattrocento Sans" pitchFamily="34" charset="-122"/>
                <a:cs typeface="Quattrocento Sans" pitchFamily="34" charset="-120"/>
              </a:rPr>
              <a:t>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Preserves maximum context quality. Multi-stage means expensive compaction is rare. Each stage addresses a specific type of context bloat.</a:t>
            </a:r>
            <a:endParaRPr lang="en-US" sz="1600" dirty="0"/>
          </a:p>
        </p:txBody>
      </p:sp>
      <p:sp>
        <p:nvSpPr>
          <p:cNvPr id="27" name="Shape 25"/>
          <p:cNvSpPr/>
          <p:nvPr/>
        </p:nvSpPr>
        <p:spPr>
          <a:xfrm>
            <a:off x="8382000" y="6794500"/>
            <a:ext cx="50800" cy="762000"/>
          </a:xfrm>
          <a:prstGeom prst="rect">
            <a:avLst/>
          </a:prstGeom>
          <a:solidFill>
            <a:srgbClr val="8B5A3C"/>
          </a:solidFill>
          <a:ln/>
        </p:spPr>
      </p:sp>
      <p:sp>
        <p:nvSpPr>
          <p:cNvPr id="28" name="Text 26"/>
          <p:cNvSpPr/>
          <p:nvPr/>
        </p:nvSpPr>
        <p:spPr>
          <a:xfrm>
            <a:off x="8636000" y="6794500"/>
            <a:ext cx="6604000" cy="762000"/>
          </a:xfrm>
          <a:prstGeom prst="rect">
            <a:avLst/>
          </a:prstGeom>
          <a:noFill/>
          <a:ln/>
        </p:spPr>
        <p:txBody>
          <a:bodyPr wrap="square" lIns="0" tIns="0" rIns="0" bIns="0" rtlCol="0" anchor="t"/>
          <a:lstStyle/>
          <a:p>
            <a:pPr>
              <a:lnSpc>
                <a:spcPct val="150000"/>
              </a:lnSpc>
            </a:pPr>
            <a:r>
              <a:rPr lang="en-US" sz="1600" dirty="0">
                <a:solidFill>
                  <a:srgbClr val="D4A088"/>
                </a:solidFill>
                <a:latin typeface="Quattrocento Sans" pitchFamily="34" charset="0"/>
                <a:ea typeface="Quattrocento Sans" pitchFamily="34" charset="-122"/>
                <a:cs typeface="Quattrocento Sans" pitchFamily="34" charset="-120"/>
              </a:rPr>
              <a:t>Disadvantage:</a:t>
            </a:r>
            <a:pPr>
              <a:lnSpc>
                <a:spcPct val="150000"/>
              </a:lnSpc>
            </a:pPr>
            <a:r>
              <a:rPr lang="en-US" sz="1600" dirty="0">
                <a:solidFill>
                  <a:srgbClr val="E8DCC8"/>
                </a:solidFill>
                <a:latin typeface="Quattrocento Sans" pitchFamily="34" charset="0"/>
                <a:ea typeface="Quattrocento Sans" pitchFamily="34" charset="-122"/>
                <a:cs typeface="Quattrocento Sans" pitchFamily="34" charset="-120"/>
              </a:rPr>
              <a:t> Four stages add latency to every API call. Complex interactions between stages. Hard to predict when compaction triggers.</a:t>
            </a:r>
            <a:endParaRPr lang="en-US" sz="1600" dirty="0"/>
          </a:p>
        </p:txBody>
      </p:sp>
      <p:sp>
        <p:nvSpPr>
          <p:cNvPr id="29" name="Shape 27"/>
          <p:cNvSpPr/>
          <p:nvPr/>
        </p:nvSpPr>
        <p:spPr>
          <a:xfrm>
            <a:off x="762000" y="8636000"/>
            <a:ext cx="14732000" cy="12700"/>
          </a:xfrm>
          <a:prstGeom prst="rect">
            <a:avLst/>
          </a:prstGeom>
          <a:solidFill>
            <a:srgbClr val="3A3A3E"/>
          </a:solidFill>
          <a:ln/>
        </p:spPr>
      </p:sp>
      <p:sp>
        <p:nvSpPr>
          <p:cNvPr id="30" name="Text 28"/>
          <p:cNvSpPr/>
          <p:nvPr/>
        </p:nvSpPr>
        <p:spPr>
          <a:xfrm>
            <a:off x="762000" y="8763000"/>
            <a:ext cx="762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src/query.ts:396-467</a:t>
            </a:r>
            <a:endParaRPr lang="en-US" sz="1300" dirty="0"/>
          </a:p>
        </p:txBody>
      </p:sp>
    </p:spTree>
  </p:cSld>
  <p:clrMapOvr>
    <a:masterClrMapping/>
  </p:clrMapOvr>
  <p:transition>
    <p:fade/>
    <p:spd val="med"/>
  </p:transition>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08 CONTEXT &amp; MEMORY</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autocompact: Threshold-Driven Formal Compression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Trigger Threshold Calculation</a:t>
            </a:r>
            <a:endParaRPr lang="en-US" sz="2200" dirty="0"/>
          </a:p>
        </p:txBody>
      </p:sp>
      <p:sp>
        <p:nvSpPr>
          <p:cNvPr id="6" name="Shape 4"/>
          <p:cNvSpPr/>
          <p:nvPr/>
        </p:nvSpPr>
        <p:spPr>
          <a:xfrm>
            <a:off x="762000" y="1943100"/>
            <a:ext cx="7112000" cy="1651000"/>
          </a:xfrm>
          <a:prstGeom prst="roundRect">
            <a:avLst>
              <a:gd name="adj" fmla="val 4000"/>
            </a:avLst>
          </a:prstGeom>
          <a:solidFill>
            <a:srgbClr val="161618"/>
          </a:solidFill>
          <a:ln/>
        </p:spPr>
      </p:sp>
      <p:sp>
        <p:nvSpPr>
          <p:cNvPr id="7" name="Text 5"/>
          <p:cNvSpPr/>
          <p:nvPr/>
        </p:nvSpPr>
        <p:spPr>
          <a:xfrm>
            <a:off x="1016000" y="2044700"/>
            <a:ext cx="6604000" cy="14478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src/services/compact/autoCompact.ts</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effectiveContextWindow = contextWindow - reservedSummaryOutput </a:t>
            </a:r>
            <a:pPr>
              <a:lnSpc>
                <a:spcPct val="150000"/>
              </a:lnSpc>
            </a:pPr>
            <a:r>
              <a:rPr lang="en-US" sz="1400" dirty="0">
                <a:solidFill>
                  <a:srgbClr val="9A9590"/>
                </a:solidFill>
                <a:latin typeface="MiSans" pitchFamily="34" charset="0"/>
                <a:ea typeface="MiSans" pitchFamily="34" charset="-122"/>
                <a:cs typeface="MiSans" pitchFamily="34" charset="-120"/>
              </a:rPr>
              <a:t>// max 20k</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autocompactThreshold = effectiveContextWindow - 13_000</a:t>
            </a:r>
            <a:endParaRPr lang="en-US" sz="1600" dirty="0"/>
          </a:p>
          <a:p>
            <a:pPr>
              <a:lnSpc>
                <a:spcPct val="150000"/>
              </a:lnSpc>
            </a:pPr>
            <a:r>
              <a:rPr lang="en-US" sz="1400" dirty="0">
                <a:solidFill>
                  <a:srgbClr val="9A9590"/>
                </a:solidFill>
                <a:latin typeface="MiSans" pitchFamily="34" charset="0"/>
                <a:ea typeface="MiSans" pitchFamily="34" charset="-122"/>
                <a:cs typeface="MiSans" pitchFamily="34" charset="-120"/>
              </a:rPr>
              <a:t>// 13,000 = autocompact buffer</a:t>
            </a:r>
            <a:endParaRPr lang="en-US" sz="1600" dirty="0"/>
          </a:p>
        </p:txBody>
      </p:sp>
      <p:sp>
        <p:nvSpPr>
          <p:cNvPr id="8" name="Text 6"/>
          <p:cNvSpPr/>
          <p:nvPr/>
        </p:nvSpPr>
        <p:spPr>
          <a:xfrm>
            <a:off x="8382000" y="1943100"/>
            <a:ext cx="7112000" cy="1651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The threshold is not "can we still send requests" but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"after sending request, can we still complete a safe compact/continuation?"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13K buffer ensures there's room for both the model's response AND a subsequent compaction if needed.</a:t>
            </a:r>
            <a:endParaRPr lang="en-US" sz="1800" dirty="0"/>
          </a:p>
        </p:txBody>
      </p:sp>
      <p:sp>
        <p:nvSpPr>
          <p:cNvPr id="9" name="Text 7"/>
          <p:cNvSpPr/>
          <p:nvPr/>
        </p:nvSpPr>
        <p:spPr>
          <a:xfrm>
            <a:off x="762000" y="3873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Circuit Breaker &amp; Multi-Threshold护栏</a:t>
            </a:r>
            <a:endParaRPr lang="en-US" sz="2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762000" y="4356100"/>
          <a:ext cx="14732000" cy="2159000"/>
        </p:xfrm>
        <a:graphic>
          <a:graphicData uri="http://schemas.openxmlformats.org/drawingml/2006/table">
            <a:tbl>
              <a:tblPr/>
              <a:tblGrid>
                <a:gridCol w="3241040"/>
                <a:gridCol w="5598160"/>
                <a:gridCol w="5892800"/>
              </a:tblGrid>
              <a:tr h="431800">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Threshold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Purpose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Behavior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4318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warning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Early warning that context is growing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Log telemetry, no action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318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error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Context approaching critical limit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Log error, may trigger proactive compact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318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autocompact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Formal compaction trigger point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Run trySessionMemoryCompaction() first, then formal compact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31800">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blocking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Hard limit — prevent context from completely filling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Block new requests,保留 space for user explicit /compact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bl>
          </a:graphicData>
        </a:graphic>
      </p:graphicFrame>
      <p:sp>
        <p:nvSpPr>
          <p:cNvPr id="11" name="Shape 8"/>
          <p:cNvSpPr/>
          <p:nvPr/>
        </p:nvSpPr>
        <p:spPr>
          <a:xfrm>
            <a:off x="762000" y="6794500"/>
            <a:ext cx="50800" cy="1524000"/>
          </a:xfrm>
          <a:prstGeom prst="rect">
            <a:avLst/>
          </a:prstGeom>
          <a:solidFill>
            <a:srgbClr val="C4A265"/>
          </a:solidFill>
          <a:ln/>
        </p:spPr>
      </p:sp>
      <p:sp>
        <p:nvSpPr>
          <p:cNvPr id="12" name="Text 9"/>
          <p:cNvSpPr/>
          <p:nvPr/>
        </p:nvSpPr>
        <p:spPr>
          <a:xfrm>
            <a:off x="1016000" y="6794500"/>
            <a:ext cx="3810000" cy="330200"/>
          </a:xfrm>
          <a:prstGeom prst="rect">
            <a:avLst/>
          </a:prstGeom>
          <a:noFill/>
          <a:ln/>
        </p:spPr>
        <p:txBody>
          <a:bodyPr wrap="none" lIns="0" tIns="0" rIns="0" bIns="0" rtlCol="0" anchor="ctr"/>
          <a:lstStyle/>
          <a:p>
            <a:pPr>
              <a:lnSpc>
                <a:spcPct val="100000"/>
              </a:lnSpc>
            </a:pPr>
            <a:r>
              <a:rPr lang="en-US" sz="1800" b="1" dirty="0">
                <a:solidFill>
                  <a:srgbClr val="C4A265"/>
                </a:solidFill>
                <a:latin typeface="Liter" pitchFamily="34" charset="0"/>
                <a:ea typeface="Liter" pitchFamily="34" charset="-122"/>
                <a:cs typeface="Liter" pitchFamily="34" charset="-120"/>
              </a:rPr>
              <a:t>Design Insight</a:t>
            </a:r>
            <a:endParaRPr lang="en-US" sz="1600" dirty="0"/>
          </a:p>
        </p:txBody>
      </p:sp>
      <p:sp>
        <p:nvSpPr>
          <p:cNvPr id="13" name="Text 10"/>
          <p:cNvSpPr/>
          <p:nvPr/>
        </p:nvSpPr>
        <p:spPr>
          <a:xfrm>
            <a:off x="1016000" y="7175500"/>
            <a:ext cx="14224000" cy="1016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The blocking limit is critical for user experience: when auto-compact is disabled, it prevents the context from completely filling up —保留 space for the user to explicitly execute /compact. Without this, the session would become unrecoverable once the context window is full and auto-compact is off.</a:t>
            </a:r>
            <a:endParaRPr lang="en-US" sz="1800" dirty="0"/>
          </a:p>
        </p:txBody>
      </p:sp>
      <p:sp>
        <p:nvSpPr>
          <p:cNvPr id="14" name="Shape 11"/>
          <p:cNvSpPr/>
          <p:nvPr/>
        </p:nvSpPr>
        <p:spPr>
          <a:xfrm>
            <a:off x="762000" y="8636000"/>
            <a:ext cx="14732000" cy="12700"/>
          </a:xfrm>
          <a:prstGeom prst="rect">
            <a:avLst/>
          </a:prstGeom>
          <a:solidFill>
            <a:srgbClr val="3A3A3E"/>
          </a:solidFill>
          <a:ln/>
        </p:spPr>
      </p:sp>
      <p:sp>
        <p:nvSpPr>
          <p:cNvPr id="15" name="Text 12"/>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src/services/compact/autoCompact.ts:28-49, 62-90, 93-145</a:t>
            </a:r>
            <a:endParaRPr lang="en-US" sz="1300" dirty="0"/>
          </a:p>
        </p:txBody>
      </p:sp>
    </p:spTree>
  </p:cSld>
  <p:clrMapOvr>
    <a:masterClrMapping/>
  </p:clrMapOvr>
  <p:transition>
    <p:fade/>
    <p:spd val="med"/>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08 CONTEXT &amp; MEMORY</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Compact Boundary: Not Simple Summary, But Relink</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635000"/>
          </a:xfrm>
          <a:prstGeom prst="rect">
            <a:avLst/>
          </a:prstGeom>
          <a:noFill/>
          <a:ln/>
        </p:spPr>
        <p:txBody>
          <a:bodyPr wrap="square" lIns="0" tIns="0" rIns="0" bIns="0" rtlCol="0" anchor="t"/>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buildPostCompactMessages()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reorganizes compact results. This is not "deleting a segment of history" — it's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"rewriting the message chain with relink information"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a:t>
            </a:r>
            <a:endParaRPr lang="en-US" sz="1800" dirty="0"/>
          </a:p>
        </p:txBody>
      </p:sp>
      <p:sp>
        <p:nvSpPr>
          <p:cNvPr id="6" name="Text 4"/>
          <p:cNvSpPr/>
          <p:nvPr/>
        </p:nvSpPr>
        <p:spPr>
          <a:xfrm>
            <a:off x="762000" y="2286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Boundary Components</a:t>
            </a:r>
            <a:endParaRPr lang="en-US" sz="2200" dirty="0"/>
          </a:p>
        </p:txBody>
      </p:sp>
      <p:sp>
        <p:nvSpPr>
          <p:cNvPr id="7" name="Shape 5"/>
          <p:cNvSpPr/>
          <p:nvPr/>
        </p:nvSpPr>
        <p:spPr>
          <a:xfrm>
            <a:off x="762000" y="2768600"/>
            <a:ext cx="14732000" cy="1143000"/>
          </a:xfrm>
          <a:prstGeom prst="roundRect">
            <a:avLst>
              <a:gd name="adj" fmla="val 4000"/>
            </a:avLst>
          </a:prstGeom>
          <a:solidFill>
            <a:srgbClr val="161618"/>
          </a:solidFill>
          <a:ln/>
        </p:spPr>
      </p:sp>
      <p:sp>
        <p:nvSpPr>
          <p:cNvPr id="8" name="Text 6"/>
          <p:cNvSpPr/>
          <p:nvPr/>
        </p:nvSpPr>
        <p:spPr>
          <a:xfrm>
            <a:off x="1016000" y="2870200"/>
            <a:ext cx="14224000" cy="939800"/>
          </a:xfrm>
          <a:prstGeom prst="rect">
            <a:avLst/>
          </a:prstGeom>
          <a:noFill/>
          <a:ln/>
        </p:spPr>
        <p:txBody>
          <a:bodyPr wrap="square" lIns="0" tIns="0" rIns="0" bIns="0" rtlCol="0" anchor="ctr"/>
          <a:lstStyle/>
          <a:p>
            <a:pPr>
              <a:lnSpc>
                <a:spcPct val="150000"/>
              </a:lnSpc>
            </a:pPr>
            <a:r>
              <a:rPr lang="en-US" sz="1500" dirty="0">
                <a:solidFill>
                  <a:srgbClr val="C4A265"/>
                </a:solidFill>
                <a:latin typeface="MiSans" pitchFamily="34" charset="0"/>
                <a:ea typeface="MiSans" pitchFamily="34" charset="-122"/>
                <a:cs typeface="MiSans" pitchFamily="34" charset="-120"/>
              </a:rPr>
              <a:t>boundary marker</a:t>
            </a:r>
            <a:pPr>
              <a:lnSpc>
                <a:spcPct val="150000"/>
              </a:lnSpc>
            </a:pPr>
            <a:r>
              <a:rPr lang="en-US" sz="1500" dirty="0">
                <a:solidFill>
                  <a:srgbClr val="E8DCC8"/>
                </a:solidFill>
                <a:latin typeface="MiSans" pitchFamily="34" charset="0"/>
                <a:ea typeface="MiSans" pitchFamily="34" charset="-122"/>
                <a:cs typeface="MiSans" pitchFamily="34" charset="-120"/>
              </a:rPr>
              <a:t> + </a:t>
            </a:r>
            <a:pPr>
              <a:lnSpc>
                <a:spcPct val="150000"/>
              </a:lnSpc>
            </a:pPr>
            <a:r>
              <a:rPr lang="en-US" sz="1500" dirty="0">
                <a:solidFill>
                  <a:srgbClr val="8FBC8F"/>
                </a:solidFill>
                <a:latin typeface="MiSans" pitchFamily="34" charset="0"/>
                <a:ea typeface="MiSans" pitchFamily="34" charset="-122"/>
                <a:cs typeface="MiSans" pitchFamily="34" charset="-120"/>
              </a:rPr>
              <a:t>summary messages</a:t>
            </a:r>
            <a:pPr>
              <a:lnSpc>
                <a:spcPct val="150000"/>
              </a:lnSpc>
            </a:pPr>
            <a:r>
              <a:rPr lang="en-US" sz="1500" dirty="0">
                <a:solidFill>
                  <a:srgbClr val="E8DCC8"/>
                </a:solidFill>
                <a:latin typeface="MiSans" pitchFamily="34" charset="0"/>
                <a:ea typeface="MiSans" pitchFamily="34" charset="-122"/>
                <a:cs typeface="MiSans" pitchFamily="34" charset="-120"/>
              </a:rPr>
              <a:t> + </a:t>
            </a:r>
            <a:pPr>
              <a:lnSpc>
                <a:spcPct val="150000"/>
              </a:lnSpc>
            </a:pPr>
            <a:r>
              <a:rPr lang="en-US" sz="1500" dirty="0">
                <a:solidFill>
                  <a:srgbClr val="C4A88A"/>
                </a:solidFill>
                <a:latin typeface="MiSans" pitchFamily="34" charset="0"/>
                <a:ea typeface="MiSans" pitchFamily="34" charset="-122"/>
                <a:cs typeface="MiSans" pitchFamily="34" charset="-120"/>
              </a:rPr>
              <a:t>messagesToKeep</a:t>
            </a:r>
            <a:pPr>
              <a:lnSpc>
                <a:spcPct val="150000"/>
              </a:lnSpc>
            </a:pPr>
            <a:r>
              <a:rPr lang="en-US" sz="1500" dirty="0">
                <a:solidFill>
                  <a:srgbClr val="E8DCC8"/>
                </a:solidFill>
                <a:latin typeface="MiSans" pitchFamily="34" charset="0"/>
                <a:ea typeface="MiSans" pitchFamily="34" charset="-122"/>
                <a:cs typeface="MiSans" pitchFamily="34" charset="-120"/>
              </a:rPr>
              <a:t> + </a:t>
            </a:r>
            <a:pPr>
              <a:lnSpc>
                <a:spcPct val="150000"/>
              </a:lnSpc>
            </a:pPr>
            <a:r>
              <a:rPr lang="en-US" sz="1500" dirty="0">
                <a:solidFill>
                  <a:srgbClr val="9A9590"/>
                </a:solidFill>
                <a:latin typeface="MiSans" pitchFamily="34" charset="0"/>
                <a:ea typeface="MiSans" pitchFamily="34" charset="-122"/>
                <a:cs typeface="MiSans" pitchFamily="34" charset="-120"/>
              </a:rPr>
              <a:t>attachments</a:t>
            </a:r>
            <a:pPr>
              <a:lnSpc>
                <a:spcPct val="150000"/>
              </a:lnSpc>
            </a:pPr>
            <a:r>
              <a:rPr lang="en-US" sz="1500" dirty="0">
                <a:solidFill>
                  <a:srgbClr val="E8DCC8"/>
                </a:solidFill>
                <a:latin typeface="MiSans" pitchFamily="34" charset="0"/>
                <a:ea typeface="MiSans" pitchFamily="34" charset="-122"/>
                <a:cs typeface="MiSans" pitchFamily="34" charset="-120"/>
              </a:rPr>
              <a:t> + </a:t>
            </a:r>
            <a:pPr>
              <a:lnSpc>
                <a:spcPct val="150000"/>
              </a:lnSpc>
            </a:pPr>
            <a:r>
              <a:rPr lang="en-US" sz="1500" dirty="0">
                <a:solidFill>
                  <a:srgbClr val="9A9590"/>
                </a:solidFill>
                <a:latin typeface="MiSans" pitchFamily="34" charset="0"/>
                <a:ea typeface="MiSans" pitchFamily="34" charset="-122"/>
                <a:cs typeface="MiSans" pitchFamily="34" charset="-120"/>
              </a:rPr>
              <a:t>hookResults</a:t>
            </a:r>
            <a:endParaRPr lang="en-US" sz="1600" dirty="0"/>
          </a:p>
          <a:p>
            <a:pPr>
              <a:lnSpc>
                <a:spcPct val="150000"/>
              </a:lnSpc>
              <a:spcBef>
                <a:spcPts val="600"/>
              </a:spcBef>
            </a:pPr>
            <a:r>
              <a:rPr lang="en-US" sz="1500" dirty="0">
                <a:solidFill>
                  <a:srgbClr val="E8DCC8"/>
                </a:solidFill>
                <a:latin typeface="MiSans" pitchFamily="34" charset="0"/>
                <a:ea typeface="MiSans" pitchFamily="34" charset="-122"/>
                <a:cs typeface="MiSans" pitchFamily="34" charset="-120"/>
              </a:rPr>
              <a:t>annotateBoundaryWithPreservedSegment() adds preservedSegment: specifies preserved tail's head/anchor/tail</a:t>
            </a:r>
            <a:endParaRPr lang="en-US" sz="1600" dirty="0"/>
          </a:p>
        </p:txBody>
      </p:sp>
      <p:sp>
        <p:nvSpPr>
          <p:cNvPr id="9" name="Text 7"/>
          <p:cNvSpPr/>
          <p:nvPr/>
        </p:nvSpPr>
        <p:spPr>
          <a:xfrm>
            <a:off x="762000" y="41656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QueryEngine Reliability Complement</a:t>
            </a:r>
            <a:endParaRPr lang="en-US" sz="2200" dirty="0"/>
          </a:p>
        </p:txBody>
      </p:sp>
      <p:sp>
        <p:nvSpPr>
          <p:cNvPr id="10" name="Text 8"/>
          <p:cNvSpPr/>
          <p:nvPr/>
        </p:nvSpPr>
        <p:spPr>
          <a:xfrm>
            <a:off x="762000" y="4610100"/>
            <a:ext cx="7112000" cy="1397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When encountering compact boundary:</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1.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Force-write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preserved tail messages to disk</a:t>
            </a:r>
            <a:endParaRPr lang="en-US" sz="1800" dirty="0"/>
          </a:p>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2.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THEN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trim pre-compact messages in memory</a:t>
            </a:r>
            <a:endParaRPr lang="en-US" sz="1800" dirty="0"/>
          </a:p>
          <a:p>
            <a:pPr>
              <a:lnSpc>
                <a:spcPct val="160000"/>
              </a:lnSpc>
              <a:spcBef>
                <a:spcPts val="600"/>
              </a:spcBef>
            </a:pPr>
            <a:r>
              <a:rPr lang="en-US" sz="1700" b="1" dirty="0">
                <a:solidFill>
                  <a:srgbClr val="E8DCC8"/>
                </a:solidFill>
                <a:latin typeface="QuattrocentoSans" pitchFamily="34" charset="0"/>
                <a:ea typeface="QuattrocentoSans" pitchFamily="34" charset="-122"/>
                <a:cs typeface="QuattrocentoSans" pitchFamily="34" charset="-120"/>
              </a:rPr>
              <a:t>Why?</a:t>
            </a:r>
            <a:pPr>
              <a:lnSpc>
                <a:spcPct val="160000"/>
              </a:lnSpc>
              <a:spcBef>
                <a:spcPts val="600"/>
              </a:spcBef>
            </a:pPr>
            <a:r>
              <a:rPr lang="en-US" sz="1700" dirty="0">
                <a:solidFill>
                  <a:srgbClr val="E8DCC8"/>
                </a:solidFill>
                <a:latin typeface="QuattrocentoSans" pitchFamily="34" charset="0"/>
                <a:ea typeface="QuattrocentoSans" pitchFamily="34" charset="-122"/>
                <a:cs typeface="QuattrocentoSans" pitchFamily="34" charset="-120"/>
              </a:rPr>
              <a:t> If process killed between turns, loader can't find tailUuid → preserved segment relink fails → recovery produces incomplete history.</a:t>
            </a:r>
            <a:endParaRPr lang="en-US" sz="1800" dirty="0"/>
          </a:p>
        </p:txBody>
      </p:sp>
      <p:sp>
        <p:nvSpPr>
          <p:cNvPr id="11" name="Shape 9"/>
          <p:cNvSpPr/>
          <p:nvPr/>
        </p:nvSpPr>
        <p:spPr>
          <a:xfrm>
            <a:off x="8382000" y="4165600"/>
            <a:ext cx="7112000" cy="1397000"/>
          </a:xfrm>
          <a:prstGeom prst="roundRect">
            <a:avLst>
              <a:gd name="adj" fmla="val 4000"/>
            </a:avLst>
          </a:prstGeom>
          <a:solidFill>
            <a:srgbClr val="161618"/>
          </a:solidFill>
          <a:ln/>
        </p:spPr>
      </p:sp>
      <p:sp>
        <p:nvSpPr>
          <p:cNvPr id="12" name="Text 10"/>
          <p:cNvSpPr/>
          <p:nvPr/>
        </p:nvSpPr>
        <p:spPr>
          <a:xfrm>
            <a:off x="8636000" y="4267200"/>
            <a:ext cx="6604000" cy="11938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QueryEngine.ts:693-715</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onCompactBoundary(boundary) {</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await forceWritePreservedTail();</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trimPreCompactMessages();</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a:t>
            </a:r>
            <a:endParaRPr lang="en-US" sz="1600" dirty="0"/>
          </a:p>
        </p:txBody>
      </p:sp>
      <p:sp>
        <p:nvSpPr>
          <p:cNvPr id="13" name="Shape 11"/>
          <p:cNvSpPr/>
          <p:nvPr/>
        </p:nvSpPr>
        <p:spPr>
          <a:xfrm>
            <a:off x="762000" y="6223000"/>
            <a:ext cx="50800" cy="1016000"/>
          </a:xfrm>
          <a:prstGeom prst="rect">
            <a:avLst/>
          </a:prstGeom>
          <a:solidFill>
            <a:srgbClr val="C4A265"/>
          </a:solidFill>
          <a:ln/>
        </p:spPr>
      </p:sp>
      <p:sp>
        <p:nvSpPr>
          <p:cNvPr id="14" name="Text 12"/>
          <p:cNvSpPr/>
          <p:nvPr/>
        </p:nvSpPr>
        <p:spPr>
          <a:xfrm>
            <a:off x="1016000" y="62230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compact boundary is a "save point" in the conversation. By persisting the preserved tail before trimming memory, Claude Code ensures that even if the process crashes immediately after compaction, the next session can correctly reconstruct the message chain. This is crash-resilient context management.</a:t>
            </a:r>
            <a:endParaRPr lang="en-US" sz="1800" dirty="0"/>
          </a:p>
        </p:txBody>
      </p:sp>
      <p:sp>
        <p:nvSpPr>
          <p:cNvPr id="15" name="Shape 13"/>
          <p:cNvSpPr/>
          <p:nvPr/>
        </p:nvSpPr>
        <p:spPr>
          <a:xfrm>
            <a:off x="762000" y="8636000"/>
            <a:ext cx="14732000" cy="12700"/>
          </a:xfrm>
          <a:prstGeom prst="rect">
            <a:avLst/>
          </a:prstGeom>
          <a:solidFill>
            <a:srgbClr val="3A3A3E"/>
          </a:solidFill>
          <a:ln/>
        </p:spPr>
      </p:sp>
      <p:sp>
        <p:nvSpPr>
          <p:cNvPr id="16" name="Text 14"/>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src/services/compact/compact.ts:330-367, src/QueryEngine.ts:693-715</a:t>
            </a:r>
            <a:endParaRPr lang="en-US" sz="1300" dirty="0"/>
          </a:p>
        </p:txBody>
      </p:sp>
    </p:spTree>
  </p:cSld>
  <p:clrMapOvr>
    <a:masterClrMapping/>
  </p:clrMapOvr>
  <p:transition>
    <p:fade/>
    <p:spd val="med"/>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08 CONTEXT &amp; MEMORY</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autoDream: Cross-Session Memory Consolidation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635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autoDream is a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"background memory integrator"</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not main thread dialogue, not per-round extractor, but a low-frequency asynchronous cross-session consolidation process.</a:t>
            </a:r>
            <a:endParaRPr lang="en-US" sz="1800" dirty="0"/>
          </a:p>
        </p:txBody>
      </p:sp>
      <p:sp>
        <p:nvSpPr>
          <p:cNvPr id="6" name="Text 4"/>
          <p:cNvSpPr/>
          <p:nvPr/>
        </p:nvSpPr>
        <p:spPr>
          <a:xfrm>
            <a:off x="762000" y="2286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Trigger: Three-Gate System</a:t>
            </a:r>
            <a:endParaRPr lang="en-US" sz="2200" dirty="0"/>
          </a:p>
        </p:txBody>
      </p:sp>
      <p:sp>
        <p:nvSpPr>
          <p:cNvPr id="7" name="Shape 5"/>
          <p:cNvSpPr/>
          <p:nvPr/>
        </p:nvSpPr>
        <p:spPr>
          <a:xfrm>
            <a:off x="762000" y="2768600"/>
            <a:ext cx="4699000" cy="1143000"/>
          </a:xfrm>
          <a:prstGeom prst="rect">
            <a:avLst/>
          </a:prstGeom>
          <a:solidFill>
            <a:srgbClr val="161618"/>
          </a:solidFill>
          <a:ln/>
        </p:spPr>
      </p:sp>
      <p:sp>
        <p:nvSpPr>
          <p:cNvPr id="8" name="Text 6"/>
          <p:cNvSpPr/>
          <p:nvPr/>
        </p:nvSpPr>
        <p:spPr>
          <a:xfrm>
            <a:off x="952500" y="2870200"/>
            <a:ext cx="4318000" cy="939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Time Gate</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Default: 24 hours since last consolidation</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Prevents excessive runs</a:t>
            </a:r>
            <a:endParaRPr lang="en-US" sz="1600" dirty="0"/>
          </a:p>
        </p:txBody>
      </p:sp>
      <p:sp>
        <p:nvSpPr>
          <p:cNvPr id="9" name="Shape 7"/>
          <p:cNvSpPr/>
          <p:nvPr/>
        </p:nvSpPr>
        <p:spPr>
          <a:xfrm>
            <a:off x="5715000" y="2768600"/>
            <a:ext cx="4699000" cy="1143000"/>
          </a:xfrm>
          <a:prstGeom prst="rect">
            <a:avLst/>
          </a:prstGeom>
          <a:solidFill>
            <a:srgbClr val="161618"/>
          </a:solidFill>
          <a:ln/>
        </p:spPr>
      </p:sp>
      <p:sp>
        <p:nvSpPr>
          <p:cNvPr id="10" name="Text 8"/>
          <p:cNvSpPr/>
          <p:nvPr/>
        </p:nvSpPr>
        <p:spPr>
          <a:xfrm>
            <a:off x="5905500" y="2870200"/>
            <a:ext cx="4318000" cy="939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Session Gate</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Default: 5 sessions since last run</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Ensures enough new content to consolidate</a:t>
            </a:r>
            <a:endParaRPr lang="en-US" sz="1600" dirty="0"/>
          </a:p>
        </p:txBody>
      </p:sp>
      <p:sp>
        <p:nvSpPr>
          <p:cNvPr id="11" name="Shape 9"/>
          <p:cNvSpPr/>
          <p:nvPr/>
        </p:nvSpPr>
        <p:spPr>
          <a:xfrm>
            <a:off x="10668000" y="2768600"/>
            <a:ext cx="4826000" cy="1143000"/>
          </a:xfrm>
          <a:prstGeom prst="rect">
            <a:avLst/>
          </a:prstGeom>
          <a:solidFill>
            <a:srgbClr val="161618"/>
          </a:solidFill>
          <a:ln/>
        </p:spPr>
      </p:sp>
      <p:sp>
        <p:nvSpPr>
          <p:cNvPr id="12" name="Text 10"/>
          <p:cNvSpPr/>
          <p:nvPr/>
        </p:nvSpPr>
        <p:spPr>
          <a:xfrm>
            <a:off x="10858500" y="2870200"/>
            <a:ext cx="4445000" cy="939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 Sans" pitchFamily="34" charset="0"/>
                <a:ea typeface="Quattrocento Sans" pitchFamily="34" charset="-122"/>
                <a:cs typeface="Quattrocento Sans" pitchFamily="34" charset="-120"/>
              </a:rPr>
              <a:t>Lock Gate</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.consolidate-lock (mtime = lastConsolidatedAt, content = PID)</a:t>
            </a:r>
            <a:endParaRPr lang="en-US" sz="1600" dirty="0"/>
          </a:p>
          <a:p>
            <a:pPr>
              <a:lnSpc>
                <a:spcPct val="150000"/>
              </a:lnSpc>
            </a:pPr>
            <a:r>
              <a:rPr lang="en-US" sz="1500" dirty="0">
                <a:solidFill>
                  <a:srgbClr val="E8DCC8"/>
                </a:solidFill>
                <a:latin typeface="Quattrocento Sans" pitchFamily="34" charset="0"/>
                <a:ea typeface="Quattrocento Sans" pitchFamily="34" charset="-122"/>
                <a:cs typeface="Quattrocento Sans" pitchFamily="34" charset="-120"/>
              </a:rPr>
              <a:t>Prevents concurrent runs</a:t>
            </a:r>
            <a:endParaRPr lang="en-US" sz="1600" dirty="0"/>
          </a:p>
        </p:txBody>
      </p:sp>
      <p:sp>
        <p:nvSpPr>
          <p:cNvPr id="13" name="Text 11"/>
          <p:cNvSpPr/>
          <p:nvPr/>
        </p:nvSpPr>
        <p:spPr>
          <a:xfrm>
            <a:off x="762000" y="41656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Execution: Forked Agent with Restricted Tools</a:t>
            </a:r>
            <a:endParaRPr lang="en-US" sz="2200" dirty="0"/>
          </a:p>
        </p:txBody>
      </p:sp>
      <p:sp>
        <p:nvSpPr>
          <p:cNvPr id="14" name="Text 12"/>
          <p:cNvSpPr/>
          <p:nvPr/>
        </p:nvSpPr>
        <p:spPr>
          <a:xfrm>
            <a:off x="762000" y="4610100"/>
            <a:ext cx="7112000" cy="1016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When all gates pass, starts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runForkedAgent()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with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createAutoMemCanUseTool(memoryRoot)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can only read memory/transcripts, grep/glob, read-only shell, edit/write within memory directory.</a:t>
            </a:r>
            <a:endParaRPr lang="en-US" sz="1800" dirty="0"/>
          </a:p>
        </p:txBody>
      </p:sp>
      <p:sp>
        <p:nvSpPr>
          <p:cNvPr id="15" name="Shape 13"/>
          <p:cNvSpPr/>
          <p:nvPr/>
        </p:nvSpPr>
        <p:spPr>
          <a:xfrm>
            <a:off x="8382000" y="4165600"/>
            <a:ext cx="7112000" cy="1524000"/>
          </a:xfrm>
          <a:prstGeom prst="roundRect">
            <a:avLst>
              <a:gd name="adj" fmla="val 4000"/>
            </a:avLst>
          </a:prstGeom>
          <a:solidFill>
            <a:srgbClr val="161618"/>
          </a:solidFill>
          <a:ln/>
        </p:spPr>
      </p:sp>
      <p:sp>
        <p:nvSpPr>
          <p:cNvPr id="16" name="Text 14"/>
          <p:cNvSpPr/>
          <p:nvPr/>
        </p:nvSpPr>
        <p:spPr>
          <a:xfrm>
            <a:off x="8636000" y="4267200"/>
            <a:ext cx="6604000" cy="1320800"/>
          </a:xfrm>
          <a:prstGeom prst="rect">
            <a:avLst/>
          </a:prstGeom>
          <a:noFill/>
          <a:ln/>
        </p:spPr>
        <p:txBody>
          <a:bodyPr wrap="square" lIns="0" tIns="0" rIns="0" bIns="0" rtlCol="0" anchor="t"/>
          <a:lstStyle/>
          <a:p>
            <a:pPr>
              <a:lnSpc>
                <a:spcPct val="150000"/>
              </a:lnSpc>
            </a:pPr>
            <a:r>
              <a:rPr lang="en-US" sz="1400" dirty="0">
                <a:solidFill>
                  <a:srgbClr val="C4A265"/>
                </a:solidFill>
                <a:latin typeface="MiSans" pitchFamily="34" charset="0"/>
                <a:ea typeface="MiSans" pitchFamily="34" charset="-122"/>
                <a:cs typeface="MiSans" pitchFamily="34" charset="-120"/>
              </a:rPr>
              <a:t>// Four-phase prompt:</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Phase 1: Orient — understand current memory</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Phase 2: Gather — collect recent signals</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Phase 3: Consolidate — merge and dedup</a:t>
            </a:r>
            <a:endParaRPr lang="en-US" sz="1600" dirty="0"/>
          </a:p>
          <a:p>
            <a:pPr>
              <a:lnSpc>
                <a:spcPct val="150000"/>
              </a:lnSpc>
            </a:pPr>
            <a:r>
              <a:rPr lang="en-US" sz="1400" dirty="0">
                <a:solidFill>
                  <a:srgbClr val="E8DCC8"/>
                </a:solidFill>
                <a:latin typeface="MiSans" pitchFamily="34" charset="0"/>
                <a:ea typeface="MiSans" pitchFamily="34" charset="-122"/>
                <a:cs typeface="MiSans" pitchFamily="34" charset="-120"/>
              </a:rPr>
              <a:t>Phase 4: Prune — clean up stale entries</a:t>
            </a:r>
            <a:endParaRPr lang="en-US" sz="1600" dirty="0"/>
          </a:p>
        </p:txBody>
      </p:sp>
      <p:sp>
        <p:nvSpPr>
          <p:cNvPr id="17" name="Text 15"/>
          <p:cNvSpPr/>
          <p:nvPr/>
        </p:nvSpPr>
        <p:spPr>
          <a:xfrm>
            <a:off x="762000" y="5842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Failure Handling: Rollback</a:t>
            </a:r>
            <a:endParaRPr lang="en-US" sz="2200" dirty="0"/>
          </a:p>
        </p:txBody>
      </p:sp>
      <p:sp>
        <p:nvSpPr>
          <p:cNvPr id="18" name="Text 16"/>
          <p:cNvSpPr/>
          <p:nvPr/>
        </p:nvSpPr>
        <p:spPr>
          <a:xfrm>
            <a:off x="762000" y="6286500"/>
            <a:ext cx="14732000" cy="762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On failure: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rollbackConsolidationLock(priorMtime)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rolls lock mtime back so future can retry. This ensures a failed consolidation doesn't block future attempts indefinitely.</a:t>
            </a:r>
            <a:endParaRPr lang="en-US" sz="1800" dirty="0"/>
          </a:p>
        </p:txBody>
      </p:sp>
      <p:sp>
        <p:nvSpPr>
          <p:cNvPr id="19" name="Shape 17"/>
          <p:cNvSpPr/>
          <p:nvPr/>
        </p:nvSpPr>
        <p:spPr>
          <a:xfrm>
            <a:off x="762000" y="8636000"/>
            <a:ext cx="14732000" cy="12700"/>
          </a:xfrm>
          <a:prstGeom prst="rect">
            <a:avLst/>
          </a:prstGeom>
          <a:solidFill>
            <a:srgbClr val="3A3A3E"/>
          </a:solidFill>
          <a:ln/>
        </p:spPr>
      </p:sp>
      <p:sp>
        <p:nvSpPr>
          <p:cNvPr id="20" name="Text 18"/>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src/services/autoDream/autoDream.ts:1-12, 58-66, src/services/autoDream/consolidationPrompt.ts:26-64</a:t>
            </a:r>
            <a:endParaRPr lang="en-US" sz="1300" dirty="0"/>
          </a:p>
        </p:txBody>
      </p:sp>
    </p:spTree>
  </p:cSld>
  <p:clrMapOvr>
    <a:masterClrMapping/>
  </p:clrMapOvr>
  <p:transition>
    <p:fade/>
    <p:spd val="med"/>
  </p:transition>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08 CONTEXT &amp; MEMORY</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KAIROS Mode: Assistant Runtime State Switch</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KAIROS is not a single feature but a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global runtime state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When kairosActive = true, multiple subsystems switch behavior:</a:t>
            </a:r>
            <a:endParaRPr lang="en-US" sz="1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762000" y="2159000"/>
          <a:ext cx="14732000" cy="3556000"/>
        </p:xfrm>
        <a:graphic>
          <a:graphicData uri="http://schemas.openxmlformats.org/drawingml/2006/table">
            <a:tbl>
              <a:tblPr/>
              <a:tblGrid>
                <a:gridCol w="4124960"/>
                <a:gridCol w="5303520"/>
                <a:gridCol w="5303520"/>
              </a:tblGrid>
              <a:tr h="431800">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Subsystem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Normal Mode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c>
                  <a:txBody>
                    <a:bodyPr/>
                    <a:lstStyle/>
                    <a:p>
                      <a:pPr algn="l"/>
                      <a:r>
                        <a:rPr lang="en-US" sz="1600" b="1" u="none" dirty="0">
                          <a:solidFill>
                            <a:srgbClr val="E8DCC8"/>
                          </a:solidFill>
                          <a:latin typeface="QuattrocentoSans" pitchFamily="34" charset="0"/>
                          <a:ea typeface="QuattrocentoSans" pitchFamily="34" charset="-122"/>
                          <a:cs typeface="QuattrocentoSans" pitchFamily="34" charset="-120"/>
                        </a:rPr>
                        <a:t>KAIROS Mode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2A2A2E"/>
                    </a:solidFill>
                  </a:tcPr>
                </a:tc>
              </a:tr>
              <a:tr h="4445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Memory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Real-time topic file + MEMORY.md maintenance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Append-only daily log → nightly /dream distillation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445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autoDream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Forked subagent consolidation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Explicitly closed — uses disk-skill dream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445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Bash</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Synchronous execution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Auto-background after blocking budget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445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UI</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Full transcript view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Brief/assistant view</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445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Channels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Not available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External message/notification sources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r h="4445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Scheduled Tasks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Wait for user input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Bypass部分 isLoading gate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61618"/>
                    </a:solidFill>
                  </a:tcPr>
                </a:tc>
              </a:tr>
              <a:tr h="457200">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Core Assumption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E8DCC8"/>
                          </a:solidFill>
                          <a:latin typeface="QuattrocentoSans" pitchFamily="34" charset="0"/>
                          <a:ea typeface="QuattrocentoSans" pitchFamily="34" charset="-122"/>
                          <a:cs typeface="QuattrocentoSans" pitchFamily="34" charset="-120"/>
                        </a:rPr>
                        <a:t>User-driven REPL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c>
                  <a:txBody>
                    <a:bodyPr/>
                    <a:lstStyle/>
                    <a:p>
                      <a:pPr algn="l"/>
                      <a:r>
                        <a:rPr lang="en-US" sz="1600" u="none" dirty="0">
                          <a:solidFill>
                            <a:srgbClr val="C4A265"/>
                          </a:solidFill>
                          <a:latin typeface="QuattrocentoSans" pitchFamily="34" charset="0"/>
                          <a:ea typeface="QuattrocentoSans" pitchFamily="34" charset="-122"/>
                          <a:cs typeface="QuattrocentoSans" pitchFamily="34" charset="-120"/>
                        </a:rPr>
                        <a:t>Main thread is continuous coordinator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3A3A3E"/>
                      </a:solidFill>
                      <a:prstDash val="solid"/>
                      <a:round/>
                      <a:headEnd type="none" w="med" len="med"/>
                      <a:tailEnd type="none" w="med" len="med"/>
                    </a:lnL>
                    <a:lnR w="12700" cap="flat" cmpd="sng" algn="ctr">
                      <a:solidFill>
                        <a:srgbClr val="3A3A3E"/>
                      </a:solidFill>
                      <a:prstDash val="solid"/>
                      <a:round/>
                      <a:headEnd type="none" w="med" len="med"/>
                      <a:tailEnd type="none" w="med" len="med"/>
                    </a:lnR>
                    <a:lnT w="12700" cap="flat" cmpd="sng" algn="ctr">
                      <a:solidFill>
                        <a:srgbClr val="3A3A3E"/>
                      </a:solidFill>
                      <a:prstDash val="solid"/>
                      <a:round/>
                      <a:headEnd type="none" w="med" len="med"/>
                      <a:tailEnd type="none" w="med" len="med"/>
                    </a:lnT>
                    <a:lnB w="12700" cap="flat" cmpd="sng" algn="ctr">
                      <a:solidFill>
                        <a:srgbClr val="3A3A3E"/>
                      </a:solidFill>
                      <a:prstDash val="solid"/>
                      <a:round/>
                      <a:headEnd type="none" w="med" len="med"/>
                      <a:tailEnd type="none" w="med" len="med"/>
                    </a:lnB>
                    <a:solidFill>
                      <a:srgbClr val="1A1A1C"/>
                    </a:solidFill>
                  </a:tcPr>
                </a:tc>
              </a:tr>
            </a:tbl>
          </a:graphicData>
        </a:graphic>
      </p:graphicFrame>
      <p:sp>
        <p:nvSpPr>
          <p:cNvPr id="7" name="Shape 4"/>
          <p:cNvSpPr/>
          <p:nvPr/>
        </p:nvSpPr>
        <p:spPr>
          <a:xfrm>
            <a:off x="762000" y="6032500"/>
            <a:ext cx="50800" cy="1016000"/>
          </a:xfrm>
          <a:prstGeom prst="rect">
            <a:avLst/>
          </a:prstGeom>
          <a:solidFill>
            <a:srgbClr val="C4A265"/>
          </a:solidFill>
          <a:ln/>
        </p:spPr>
      </p:sp>
      <p:sp>
        <p:nvSpPr>
          <p:cNvPr id="8" name="Text 5"/>
          <p:cNvSpPr/>
          <p:nvPr/>
        </p:nvSpPr>
        <p:spPr>
          <a:xfrm>
            <a:off x="1016000" y="60325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KAIROS demonstrates Claude Code's architectural flexibility. Rather than building a separate "assistant mode" product, it's implemented as a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state switch</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that changes behavior across memory, tools, UI, and scheduling subsystems. The same codebase serves both interactive and autonomous use cases.</a:t>
            </a:r>
            <a:endParaRPr lang="en-US" sz="1800" dirty="0"/>
          </a:p>
        </p:txBody>
      </p:sp>
      <p:sp>
        <p:nvSpPr>
          <p:cNvPr id="9" name="Shape 6"/>
          <p:cNvSpPr/>
          <p:nvPr/>
        </p:nvSpPr>
        <p:spPr>
          <a:xfrm>
            <a:off x="762000" y="8636000"/>
            <a:ext cx="14732000" cy="12700"/>
          </a:xfrm>
          <a:prstGeom prst="rect">
            <a:avLst/>
          </a:prstGeom>
          <a:solidFill>
            <a:srgbClr val="3A3A3E"/>
          </a:solidFill>
          <a:ln/>
        </p:spPr>
      </p:sp>
      <p:sp>
        <p:nvSpPr>
          <p:cNvPr id="10" name="Text 7"/>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src/bootstrap/state.ts:72-79, src/main.tsx:1048-1088, src/tools/BashTool/BashTool.tsx:973-983</a:t>
            </a:r>
            <a:endParaRPr lang="en-US" sz="1300" dirty="0"/>
          </a:p>
        </p:txBody>
      </p:sp>
    </p:spTree>
  </p:cSld>
  <p:clrMapOvr>
    <a:masterClrMapping/>
  </p:clrMapOvr>
  <p:transition>
    <p:fade/>
    <p:spd val="med"/>
  </p:transition>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09</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NINE</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016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Reliability Engineering</a:t>
            </a:r>
            <a:endParaRPr lang="en-US" sz="3800" dirty="0"/>
          </a:p>
        </p:txBody>
      </p:sp>
      <p:sp>
        <p:nvSpPr>
          <p:cNvPr id="6" name="Text 4"/>
          <p:cNvSpPr/>
          <p:nvPr/>
        </p:nvSpPr>
        <p:spPr>
          <a:xfrm>
            <a:off x="762000" y="4699000"/>
            <a:ext cx="1143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All recoverable failures should be absorbed into unified message flow and state machine, not directly interrupt the session</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09 RELIABILITY ENGINEERING</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Reliability: Four-Layer Responsibility Division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All recoverable failures should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not directly interrupt the session</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absorbed into unified message flow and state machine.</a:t>
            </a:r>
            <a:endParaRPr lang="en-US" sz="1800" dirty="0"/>
          </a:p>
        </p:txBody>
      </p:sp>
      <p:sp>
        <p:nvSpPr>
          <p:cNvPr id="6" name="Shape 4"/>
          <p:cNvSpPr/>
          <p:nvPr/>
        </p:nvSpPr>
        <p:spPr>
          <a:xfrm>
            <a:off x="762000" y="2159000"/>
            <a:ext cx="7112000" cy="1524000"/>
          </a:xfrm>
          <a:prstGeom prst="roundRect">
            <a:avLst>
              <a:gd name="adj" fmla="val 4000"/>
            </a:avLst>
          </a:prstGeom>
          <a:solidFill>
            <a:srgbClr val="161618"/>
          </a:solidFill>
          <a:ln/>
        </p:spPr>
      </p:sp>
      <p:sp>
        <p:nvSpPr>
          <p:cNvPr id="7" name="Text 5"/>
          <p:cNvSpPr/>
          <p:nvPr/>
        </p:nvSpPr>
        <p:spPr>
          <a:xfrm>
            <a:off x="1016000" y="2260600"/>
            <a:ext cx="6604000" cy="304800"/>
          </a:xfrm>
          <a:prstGeom prst="rect">
            <a:avLst/>
          </a:prstGeom>
          <a:noFill/>
          <a:ln/>
        </p:spPr>
        <p:txBody>
          <a:bodyPr wrap="none" lIns="0" tIns="0" rIns="0" bIns="0" rtlCol="0" anchor="ctr"/>
          <a:lstStyle/>
          <a:p>
            <a:pPr>
              <a:lnSpc>
                <a:spcPct val="130000"/>
              </a:lnSpc>
            </a:pPr>
            <a:r>
              <a:rPr lang="en-US" sz="1800" dirty="0">
                <a:solidFill>
                  <a:srgbClr val="C4A265"/>
                </a:solidFill>
                <a:latin typeface="Liter" pitchFamily="34" charset="0"/>
                <a:ea typeface="Liter" pitchFamily="34" charset="-122"/>
                <a:cs typeface="Liter" pitchFamily="34" charset="-120"/>
              </a:rPr>
              <a:t>Layer 1</a:t>
            </a:r>
            <a:pPr>
              <a:lnSpc>
                <a:spcPct val="130000"/>
              </a:lnSpc>
            </a:pPr>
            <a:r>
              <a:rPr lang="en-US" sz="1800" dirty="0">
                <a:solidFill>
                  <a:srgbClr val="E8DCC8"/>
                </a:solidFill>
                <a:latin typeface="Liter" pitchFamily="34" charset="0"/>
                <a:ea typeface="Liter" pitchFamily="34" charset="-122"/>
                <a:cs typeface="Liter" pitchFamily="34" charset="-120"/>
              </a:rPr>
              <a:t> </a:t>
            </a:r>
            <a:pPr>
              <a:lnSpc>
                <a:spcPct val="130000"/>
              </a:lnSpc>
            </a:pPr>
            <a:r>
              <a:rPr lang="en-US" sz="1800" b="1" dirty="0">
                <a:solidFill>
                  <a:srgbClr val="E8DCC8"/>
                </a:solidFill>
                <a:latin typeface="Liter" pitchFamily="34" charset="0"/>
                <a:ea typeface="Liter" pitchFamily="34" charset="-122"/>
                <a:cs typeface="Liter" pitchFamily="34" charset="-120"/>
              </a:rPr>
              <a:t>Session-Level (QueryEngine.ts)</a:t>
            </a:r>
            <a:endParaRPr lang="en-US" sz="2200" dirty="0"/>
          </a:p>
        </p:txBody>
      </p:sp>
      <p:sp>
        <p:nvSpPr>
          <p:cNvPr id="8" name="Text 6"/>
          <p:cNvSpPr/>
          <p:nvPr/>
        </p:nvSpPr>
        <p:spPr>
          <a:xfrm>
            <a:off x="1016000" y="2616200"/>
            <a:ext cx="6604000" cy="9398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Transcript persistence, SDK output normalization, compact boundary handling, final result收口, error diagnosis boundary control</a:t>
            </a:r>
            <a:endParaRPr lang="en-US" sz="1800" dirty="0"/>
          </a:p>
        </p:txBody>
      </p:sp>
      <p:sp>
        <p:nvSpPr>
          <p:cNvPr id="9" name="Shape 7"/>
          <p:cNvSpPr/>
          <p:nvPr/>
        </p:nvSpPr>
        <p:spPr>
          <a:xfrm>
            <a:off x="8382000" y="2159000"/>
            <a:ext cx="7112000" cy="1524000"/>
          </a:xfrm>
          <a:prstGeom prst="roundRect">
            <a:avLst>
              <a:gd name="adj" fmla="val 4000"/>
            </a:avLst>
          </a:prstGeom>
          <a:solidFill>
            <a:srgbClr val="161618"/>
          </a:solidFill>
          <a:ln/>
        </p:spPr>
      </p:sp>
      <p:sp>
        <p:nvSpPr>
          <p:cNvPr id="10" name="Text 8"/>
          <p:cNvSpPr/>
          <p:nvPr/>
        </p:nvSpPr>
        <p:spPr>
          <a:xfrm>
            <a:off x="8636000" y="2260600"/>
            <a:ext cx="6604000" cy="304800"/>
          </a:xfrm>
          <a:prstGeom prst="rect">
            <a:avLst/>
          </a:prstGeom>
          <a:noFill/>
          <a:ln/>
        </p:spPr>
        <p:txBody>
          <a:bodyPr wrap="none" lIns="0" tIns="0" rIns="0" bIns="0" rtlCol="0" anchor="ctr"/>
          <a:lstStyle/>
          <a:p>
            <a:pPr>
              <a:lnSpc>
                <a:spcPct val="130000"/>
              </a:lnSpc>
            </a:pPr>
            <a:r>
              <a:rPr lang="en-US" sz="1800" dirty="0">
                <a:solidFill>
                  <a:srgbClr val="C4A265"/>
                </a:solidFill>
                <a:latin typeface="Liter" pitchFamily="34" charset="0"/>
                <a:ea typeface="Liter" pitchFamily="34" charset="-122"/>
                <a:cs typeface="Liter" pitchFamily="34" charset="-120"/>
              </a:rPr>
              <a:t>Layer 2</a:t>
            </a:r>
            <a:pPr>
              <a:lnSpc>
                <a:spcPct val="130000"/>
              </a:lnSpc>
            </a:pPr>
            <a:r>
              <a:rPr lang="en-US" sz="1800" dirty="0">
                <a:solidFill>
                  <a:srgbClr val="E8DCC8"/>
                </a:solidFill>
                <a:latin typeface="Liter" pitchFamily="34" charset="0"/>
                <a:ea typeface="Liter" pitchFamily="34" charset="-122"/>
                <a:cs typeface="Liter" pitchFamily="34" charset="-120"/>
              </a:rPr>
              <a:t> </a:t>
            </a:r>
            <a:pPr>
              <a:lnSpc>
                <a:spcPct val="130000"/>
              </a:lnSpc>
            </a:pPr>
            <a:r>
              <a:rPr lang="en-US" sz="1800" b="1" dirty="0">
                <a:solidFill>
                  <a:srgbClr val="E8DCC8"/>
                </a:solidFill>
                <a:latin typeface="Liter" pitchFamily="34" charset="0"/>
                <a:ea typeface="Liter" pitchFamily="34" charset="-122"/>
                <a:cs typeface="Liter" pitchFamily="34" charset="-120"/>
              </a:rPr>
              <a:t>Turn-Level (query.ts)</a:t>
            </a:r>
            <a:endParaRPr lang="en-US" sz="2200" dirty="0"/>
          </a:p>
        </p:txBody>
      </p:sp>
      <p:sp>
        <p:nvSpPr>
          <p:cNvPr id="11" name="Text 9"/>
          <p:cNvSpPr/>
          <p:nvPr/>
        </p:nvSpPr>
        <p:spPr>
          <a:xfrm>
            <a:off x="8636000" y="2616200"/>
            <a:ext cx="6604000" cy="9398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Main loop advancement, tool_use/tool_result闭环, fallback/recovery/abort/stop hooks coordination</a:t>
            </a:r>
            <a:endParaRPr lang="en-US" sz="1800" dirty="0"/>
          </a:p>
        </p:txBody>
      </p:sp>
      <p:sp>
        <p:nvSpPr>
          <p:cNvPr id="12" name="Shape 10"/>
          <p:cNvSpPr/>
          <p:nvPr/>
        </p:nvSpPr>
        <p:spPr>
          <a:xfrm>
            <a:off x="762000" y="3911600"/>
            <a:ext cx="7112000" cy="1524000"/>
          </a:xfrm>
          <a:prstGeom prst="roundRect">
            <a:avLst>
              <a:gd name="adj" fmla="val 4000"/>
            </a:avLst>
          </a:prstGeom>
          <a:solidFill>
            <a:srgbClr val="161618"/>
          </a:solidFill>
          <a:ln/>
        </p:spPr>
      </p:sp>
      <p:sp>
        <p:nvSpPr>
          <p:cNvPr id="13" name="Text 11"/>
          <p:cNvSpPr/>
          <p:nvPr/>
        </p:nvSpPr>
        <p:spPr>
          <a:xfrm>
            <a:off x="1016000" y="4013200"/>
            <a:ext cx="6604000" cy="304800"/>
          </a:xfrm>
          <a:prstGeom prst="rect">
            <a:avLst/>
          </a:prstGeom>
          <a:noFill/>
          <a:ln/>
        </p:spPr>
        <p:txBody>
          <a:bodyPr wrap="none" lIns="0" tIns="0" rIns="0" bIns="0" rtlCol="0" anchor="ctr"/>
          <a:lstStyle/>
          <a:p>
            <a:pPr>
              <a:lnSpc>
                <a:spcPct val="130000"/>
              </a:lnSpc>
            </a:pPr>
            <a:r>
              <a:rPr lang="en-US" sz="1800" dirty="0">
                <a:solidFill>
                  <a:srgbClr val="C4A265"/>
                </a:solidFill>
                <a:latin typeface="Liter" pitchFamily="34" charset="0"/>
                <a:ea typeface="Liter" pitchFamily="34" charset="-122"/>
                <a:cs typeface="Liter" pitchFamily="34" charset="-120"/>
              </a:rPr>
              <a:t>Layer 3</a:t>
            </a:r>
            <a:pPr>
              <a:lnSpc>
                <a:spcPct val="130000"/>
              </a:lnSpc>
            </a:pPr>
            <a:r>
              <a:rPr lang="en-US" sz="1800" dirty="0">
                <a:solidFill>
                  <a:srgbClr val="E8DCC8"/>
                </a:solidFill>
                <a:latin typeface="Liter" pitchFamily="34" charset="0"/>
                <a:ea typeface="Liter" pitchFamily="34" charset="-122"/>
                <a:cs typeface="Liter" pitchFamily="34" charset="-120"/>
              </a:rPr>
              <a:t> </a:t>
            </a:r>
            <a:pPr>
              <a:lnSpc>
                <a:spcPct val="130000"/>
              </a:lnSpc>
            </a:pPr>
            <a:r>
              <a:rPr lang="en-US" sz="1800" b="1" dirty="0">
                <a:solidFill>
                  <a:srgbClr val="E8DCC8"/>
                </a:solidFill>
                <a:latin typeface="Liter" pitchFamily="34" charset="0"/>
                <a:ea typeface="Liter" pitchFamily="34" charset="-122"/>
                <a:cs typeface="Liter" pitchFamily="34" charset="-120"/>
              </a:rPr>
              <a:t>Model Access (claude.ts + withRetry.ts)</a:t>
            </a:r>
            <a:endParaRPr lang="en-US" sz="2200" dirty="0"/>
          </a:p>
        </p:txBody>
      </p:sp>
      <p:sp>
        <p:nvSpPr>
          <p:cNvPr id="14" name="Text 12"/>
          <p:cNvSpPr/>
          <p:nvPr/>
        </p:nvSpPr>
        <p:spPr>
          <a:xfrm>
            <a:off x="1016000" y="4368800"/>
            <a:ext cx="6604000" cy="9398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API retry, streaming watchdog, stall detection, streaming→non-streaming fallback, model fallback</a:t>
            </a:r>
            <a:endParaRPr lang="en-US" sz="1800" dirty="0"/>
          </a:p>
        </p:txBody>
      </p:sp>
      <p:sp>
        <p:nvSpPr>
          <p:cNvPr id="15" name="Shape 13"/>
          <p:cNvSpPr/>
          <p:nvPr/>
        </p:nvSpPr>
        <p:spPr>
          <a:xfrm>
            <a:off x="8382000" y="3911600"/>
            <a:ext cx="7112000" cy="1524000"/>
          </a:xfrm>
          <a:prstGeom prst="roundRect">
            <a:avLst>
              <a:gd name="adj" fmla="val 4000"/>
            </a:avLst>
          </a:prstGeom>
          <a:solidFill>
            <a:srgbClr val="161618"/>
          </a:solidFill>
          <a:ln/>
        </p:spPr>
      </p:sp>
      <p:sp>
        <p:nvSpPr>
          <p:cNvPr id="16" name="Text 14"/>
          <p:cNvSpPr/>
          <p:nvPr/>
        </p:nvSpPr>
        <p:spPr>
          <a:xfrm>
            <a:off x="8636000" y="4013200"/>
            <a:ext cx="6604000" cy="304800"/>
          </a:xfrm>
          <a:prstGeom prst="rect">
            <a:avLst/>
          </a:prstGeom>
          <a:noFill/>
          <a:ln/>
        </p:spPr>
        <p:txBody>
          <a:bodyPr wrap="none" lIns="0" tIns="0" rIns="0" bIns="0" rtlCol="0" anchor="ctr"/>
          <a:lstStyle/>
          <a:p>
            <a:pPr>
              <a:lnSpc>
                <a:spcPct val="130000"/>
              </a:lnSpc>
            </a:pPr>
            <a:r>
              <a:rPr lang="en-US" sz="1800" dirty="0">
                <a:solidFill>
                  <a:srgbClr val="C4A265"/>
                </a:solidFill>
                <a:latin typeface="Liter" pitchFamily="34" charset="0"/>
                <a:ea typeface="Liter" pitchFamily="34" charset="-122"/>
                <a:cs typeface="Liter" pitchFamily="34" charset="-120"/>
              </a:rPr>
              <a:t>Layer 4</a:t>
            </a:r>
            <a:pPr>
              <a:lnSpc>
                <a:spcPct val="130000"/>
              </a:lnSpc>
            </a:pPr>
            <a:r>
              <a:rPr lang="en-US" sz="1800" dirty="0">
                <a:solidFill>
                  <a:srgbClr val="E8DCC8"/>
                </a:solidFill>
                <a:latin typeface="Liter" pitchFamily="34" charset="0"/>
                <a:ea typeface="Liter" pitchFamily="34" charset="-122"/>
                <a:cs typeface="Liter" pitchFamily="34" charset="-120"/>
              </a:rPr>
              <a:t> </a:t>
            </a:r>
            <a:pPr>
              <a:lnSpc>
                <a:spcPct val="130000"/>
              </a:lnSpc>
            </a:pPr>
            <a:r>
              <a:rPr lang="en-US" sz="1800" b="1" dirty="0">
                <a:solidFill>
                  <a:srgbClr val="E8DCC8"/>
                </a:solidFill>
                <a:latin typeface="Liter" pitchFamily="34" charset="0"/>
                <a:ea typeface="Liter" pitchFamily="34" charset="-122"/>
                <a:cs typeface="Liter" pitchFamily="34" charset="-120"/>
              </a:rPr>
              <a:t>Side Effects (tools/* + compact/*)</a:t>
            </a:r>
            <a:endParaRPr lang="en-US" sz="2200" dirty="0"/>
          </a:p>
        </p:txBody>
      </p:sp>
      <p:sp>
        <p:nvSpPr>
          <p:cNvPr id="17" name="Text 15"/>
          <p:cNvSpPr/>
          <p:nvPr/>
        </p:nvSpPr>
        <p:spPr>
          <a:xfrm>
            <a:off x="8636000" y="4368800"/>
            <a:ext cx="6604000" cy="9398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Tool execution order/permission/safety/error backfill; context compression/boundary reconstruction/recovery</a:t>
            </a:r>
            <a:endParaRPr lang="en-US" sz="1800" dirty="0"/>
          </a:p>
        </p:txBody>
      </p:sp>
      <p:sp>
        <p:nvSpPr>
          <p:cNvPr id="18" name="Text 16"/>
          <p:cNvSpPr/>
          <p:nvPr/>
        </p:nvSpPr>
        <p:spPr>
          <a:xfrm>
            <a:off x="762000" y="5715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Core Principle</a:t>
            </a:r>
            <a:endParaRPr lang="en-US" sz="2200" dirty="0"/>
          </a:p>
        </p:txBody>
      </p:sp>
      <p:sp>
        <p:nvSpPr>
          <p:cNvPr id="19" name="Shape 17"/>
          <p:cNvSpPr/>
          <p:nvPr/>
        </p:nvSpPr>
        <p:spPr>
          <a:xfrm>
            <a:off x="762000" y="6197600"/>
            <a:ext cx="14732000" cy="1016000"/>
          </a:xfrm>
          <a:prstGeom prst="roundRect">
            <a:avLst>
              <a:gd name="adj" fmla="val 4000"/>
            </a:avLst>
          </a:prstGeom>
          <a:solidFill>
            <a:srgbClr val="161618"/>
          </a:solidFill>
          <a:ln/>
        </p:spPr>
      </p:sp>
      <p:sp>
        <p:nvSpPr>
          <p:cNvPr id="20" name="Text 18"/>
          <p:cNvSpPr/>
          <p:nvPr/>
        </p:nvSpPr>
        <p:spPr>
          <a:xfrm>
            <a:off x="1016000" y="6299200"/>
            <a:ext cx="14224000" cy="812800"/>
          </a:xfrm>
          <a:prstGeom prst="rect">
            <a:avLst/>
          </a:prstGeom>
          <a:noFill/>
          <a:ln/>
        </p:spPr>
        <p:txBody>
          <a:bodyPr wrap="square" lIns="0" tIns="0" rIns="0" bIns="0" rtlCol="0" anchor="ctr"/>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Every failure is a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structured event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tool_result(is_error), withheld API error, compact boundary marker, api_retry system message. The model and SDK can observe, understand, and respond to each event.</a:t>
            </a:r>
            <a:endParaRPr lang="en-US" sz="1800" dirty="0"/>
          </a:p>
        </p:txBody>
      </p:sp>
      <p:sp>
        <p:nvSpPr>
          <p:cNvPr id="21" name="Shape 19"/>
          <p:cNvSpPr/>
          <p:nvPr/>
        </p:nvSpPr>
        <p:spPr>
          <a:xfrm>
            <a:off x="762000" y="8636000"/>
            <a:ext cx="14732000" cy="12700"/>
          </a:xfrm>
          <a:prstGeom prst="rect">
            <a:avLst/>
          </a:prstGeom>
          <a:solidFill>
            <a:srgbClr val="3A3A3E"/>
          </a:solidFill>
          <a:ln/>
        </p:spPr>
      </p:sp>
      <p:sp>
        <p:nvSpPr>
          <p:cNvPr id="22" name="Text 20"/>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src/QueryEngine.ts:687-1155, src/query.ts:553-1265</a:t>
            </a:r>
            <a:endParaRPr lang="en-US" sz="1300" dirty="0"/>
          </a:p>
        </p:txBody>
      </p:sp>
    </p:spTree>
  </p:cSld>
  <p:clrMapOvr>
    <a:masterClrMapping/>
  </p:clrMapOvr>
  <p:transition>
    <p:fade/>
    <p:spd val="med"/>
  </p:transition>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09 RELIABILITY ENGINEERING</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Retry Policy: Graded by Source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withRetry.ts distinguishes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foreground</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and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background</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requests — not "one-size-fits-all" retry.</a:t>
            </a:r>
            <a:endParaRPr lang="en-US" sz="1800" dirty="0"/>
          </a:p>
        </p:txBody>
      </p:sp>
      <p:sp>
        <p:nvSpPr>
          <p:cNvPr id="6" name="Text 4"/>
          <p:cNvSpPr/>
          <p:nvPr/>
        </p:nvSpPr>
        <p:spPr>
          <a:xfrm>
            <a:off x="762000" y="2159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Foreground vs Background</a:t>
            </a:r>
            <a:endParaRPr lang="en-US" sz="2200" dirty="0"/>
          </a:p>
        </p:txBody>
      </p:sp>
      <p:sp>
        <p:nvSpPr>
          <p:cNvPr id="7" name="Shape 5"/>
          <p:cNvSpPr/>
          <p:nvPr/>
        </p:nvSpPr>
        <p:spPr>
          <a:xfrm>
            <a:off x="762000" y="2641600"/>
            <a:ext cx="7112000" cy="1270000"/>
          </a:xfrm>
          <a:prstGeom prst="roundRect">
            <a:avLst>
              <a:gd name="adj" fmla="val 4000"/>
            </a:avLst>
          </a:prstGeom>
          <a:solidFill>
            <a:srgbClr val="161618"/>
          </a:solidFill>
          <a:ln/>
        </p:spPr>
      </p:sp>
      <p:sp>
        <p:nvSpPr>
          <p:cNvPr id="8" name="Text 6"/>
          <p:cNvSpPr/>
          <p:nvPr/>
        </p:nvSpPr>
        <p:spPr>
          <a:xfrm>
            <a:off x="1016000" y="2743200"/>
            <a:ext cx="6604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Sans" pitchFamily="34" charset="0"/>
                <a:ea typeface="QuattrocentoSans" pitchFamily="34" charset="-122"/>
                <a:cs typeface="QuattrocentoSans" pitchFamily="34" charset="-120"/>
              </a:rPr>
              <a:t>Foreground</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(sdk, main thread, agent task)</a:t>
            </a:r>
            <a:endParaRPr lang="en-US" sz="1800" dirty="0"/>
          </a:p>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Allows 529 retry — user-facing requests must succeed</a:t>
            </a:r>
            <a:endParaRPr lang="en-US" sz="1800" dirty="0"/>
          </a:p>
        </p:txBody>
      </p:sp>
      <p:sp>
        <p:nvSpPr>
          <p:cNvPr id="9" name="Shape 7"/>
          <p:cNvSpPr/>
          <p:nvPr/>
        </p:nvSpPr>
        <p:spPr>
          <a:xfrm>
            <a:off x="8382000" y="2641600"/>
            <a:ext cx="7112000" cy="1270000"/>
          </a:xfrm>
          <a:prstGeom prst="roundRect">
            <a:avLst>
              <a:gd name="adj" fmla="val 4000"/>
            </a:avLst>
          </a:prstGeom>
          <a:solidFill>
            <a:srgbClr val="161618"/>
          </a:solidFill>
          <a:ln/>
        </p:spPr>
      </p:sp>
      <p:sp>
        <p:nvSpPr>
          <p:cNvPr id="10" name="Text 8"/>
          <p:cNvSpPr/>
          <p:nvPr/>
        </p:nvSpPr>
        <p:spPr>
          <a:xfrm>
            <a:off x="8636000" y="2743200"/>
            <a:ext cx="6604000" cy="10668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Sans" pitchFamily="34" charset="0"/>
                <a:ea typeface="QuattrocentoSans" pitchFamily="34" charset="-122"/>
                <a:cs typeface="QuattrocentoSans" pitchFamily="34" charset="-120"/>
              </a:rPr>
              <a:t>Background</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(summaries, suggestions, titles)</a:t>
            </a:r>
            <a:endParaRPr lang="en-US" sz="1800" dirty="0"/>
          </a:p>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Default no retry — avoids amplifying gateway pressure 3-10x</a:t>
            </a:r>
            <a:endParaRPr lang="en-US" sz="1800" dirty="0"/>
          </a:p>
        </p:txBody>
      </p:sp>
      <p:sp>
        <p:nvSpPr>
          <p:cNvPr id="11" name="Text 9"/>
          <p:cNvSpPr/>
          <p:nvPr/>
        </p:nvSpPr>
        <p:spPr>
          <a:xfrm>
            <a:off x="762000" y="4191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Connection-Level Self-Healing</a:t>
            </a:r>
            <a:endParaRPr lang="en-US" sz="2200" dirty="0"/>
          </a:p>
        </p:txBody>
      </p:sp>
      <p:sp>
        <p:nvSpPr>
          <p:cNvPr id="12" name="Shape 10"/>
          <p:cNvSpPr/>
          <p:nvPr/>
        </p:nvSpPr>
        <p:spPr>
          <a:xfrm>
            <a:off x="762000" y="4673600"/>
            <a:ext cx="14732000" cy="1333500"/>
          </a:xfrm>
          <a:prstGeom prst="roundRect">
            <a:avLst>
              <a:gd name="adj" fmla="val 4000"/>
            </a:avLst>
          </a:prstGeom>
          <a:solidFill>
            <a:srgbClr val="161618"/>
          </a:solidFill>
          <a:ln/>
        </p:spPr>
      </p:sp>
      <p:sp>
        <p:nvSpPr>
          <p:cNvPr id="13" name="Text 11"/>
          <p:cNvSpPr/>
          <p:nvPr/>
        </p:nvSpPr>
        <p:spPr>
          <a:xfrm>
            <a:off x="1016000" y="4775200"/>
            <a:ext cx="14224000" cy="1143000"/>
          </a:xfrm>
          <a:prstGeom prst="rect">
            <a:avLst/>
          </a:prstGeom>
          <a:noFill/>
          <a:ln/>
        </p:spPr>
        <p:txBody>
          <a:bodyPr wrap="square" lIns="0" tIns="0" rIns="0" bIns="0" rtlCol="0" anchor="t"/>
          <a:lstStyle/>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401/OAuth revoked</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 refresh token and retry</a:t>
            </a:r>
            <a:endParaRPr lang="en-US" sz="1800" dirty="0"/>
          </a:p>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ECONNRESET/EPIPE</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 stale keep-alive socket → conditionally disable keep-alive → rebuild connection</a:t>
            </a:r>
            <a:endParaRPr lang="en-US" sz="1800" dirty="0"/>
          </a:p>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Continuous 529</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 threshold reached → throw FallbackTriggeredError → state machine handles model switch</a:t>
            </a:r>
            <a:endParaRPr lang="en-US" sz="1800" dirty="0"/>
          </a:p>
        </p:txBody>
      </p:sp>
      <p:sp>
        <p:nvSpPr>
          <p:cNvPr id="14" name="Shape 12"/>
          <p:cNvSpPr/>
          <p:nvPr/>
        </p:nvSpPr>
        <p:spPr>
          <a:xfrm>
            <a:off x="762000" y="6159500"/>
            <a:ext cx="50800" cy="1016000"/>
          </a:xfrm>
          <a:prstGeom prst="rect">
            <a:avLst/>
          </a:prstGeom>
          <a:solidFill>
            <a:srgbClr val="C4A265"/>
          </a:solidFill>
          <a:ln/>
        </p:spPr>
      </p:sp>
      <p:sp>
        <p:nvSpPr>
          <p:cNvPr id="15" name="Text 13"/>
          <p:cNvSpPr/>
          <p:nvPr/>
        </p:nvSpPr>
        <p:spPr>
          <a:xfrm>
            <a:off x="1016000" y="6159500"/>
            <a:ext cx="14224000" cy="1016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Graded retry prevents capacity avalanche. Background tasks failing under load don't amplify the crisis. Self-healing at connection level reduces unnecessary retries. 529 escalation to model fallback is graceful degradation, not panic.</a:t>
            </a:r>
            <a:endParaRPr lang="en-US" sz="1800" dirty="0"/>
          </a:p>
        </p:txBody>
      </p:sp>
      <p:sp>
        <p:nvSpPr>
          <p:cNvPr id="16" name="Shape 14"/>
          <p:cNvSpPr/>
          <p:nvPr/>
        </p:nvSpPr>
        <p:spPr>
          <a:xfrm>
            <a:off x="762000" y="8636000"/>
            <a:ext cx="14732000" cy="12700"/>
          </a:xfrm>
          <a:prstGeom prst="rect">
            <a:avLst/>
          </a:prstGeom>
          <a:solidFill>
            <a:srgbClr val="3A3A3E"/>
          </a:solidFill>
          <a:ln/>
        </p:spPr>
      </p:sp>
      <p:sp>
        <p:nvSpPr>
          <p:cNvPr id="17" name="Text 15"/>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src/services/api/withRetry.ts:57-89, 212-220, 316-350</a:t>
            </a:r>
            <a:endParaRPr lang="en-US" sz="1300" dirty="0"/>
          </a:p>
        </p:txBody>
      </p:sp>
    </p:spTree>
  </p:cSld>
  <p:clrMapOvr>
    <a:masterClrMapping/>
  </p:clrMapOvr>
  <p:transition>
    <p:fade/>
    <p:spd val="med"/>
  </p:transition>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09 RELIABILITY ENGINEERING</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max_output_tokens Recovery: Hide Error First</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Withholding strategy: stream encounters error →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don't yield first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let loop try recovery → only surface if recovery fails.</a:t>
            </a:r>
            <a:endParaRPr lang="en-US" sz="1800" dirty="0"/>
          </a:p>
        </p:txBody>
      </p:sp>
      <p:sp>
        <p:nvSpPr>
          <p:cNvPr id="6" name="Text 4"/>
          <p:cNvSpPr/>
          <p:nvPr/>
        </p:nvSpPr>
        <p:spPr>
          <a:xfrm>
            <a:off x="762000" y="2159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Two-Stage Recovery</a:t>
            </a:r>
            <a:endParaRPr lang="en-US" sz="2200" dirty="0"/>
          </a:p>
        </p:txBody>
      </p:sp>
      <p:sp>
        <p:nvSpPr>
          <p:cNvPr id="7" name="Shape 5"/>
          <p:cNvSpPr/>
          <p:nvPr/>
        </p:nvSpPr>
        <p:spPr>
          <a:xfrm>
            <a:off x="762000" y="2641600"/>
            <a:ext cx="7112000" cy="1397000"/>
          </a:xfrm>
          <a:prstGeom prst="roundRect">
            <a:avLst>
              <a:gd name="adj" fmla="val 4000"/>
            </a:avLst>
          </a:prstGeom>
          <a:solidFill>
            <a:srgbClr val="161618"/>
          </a:solidFill>
          <a:ln/>
        </p:spPr>
      </p:sp>
      <p:sp>
        <p:nvSpPr>
          <p:cNvPr id="8" name="Text 6"/>
          <p:cNvSpPr/>
          <p:nvPr/>
        </p:nvSpPr>
        <p:spPr>
          <a:xfrm>
            <a:off x="1016000" y="2743200"/>
            <a:ext cx="1270000" cy="2794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STAGE 1</a:t>
            </a:r>
            <a:endParaRPr lang="en-US" sz="1600" dirty="0"/>
          </a:p>
        </p:txBody>
      </p:sp>
      <p:sp>
        <p:nvSpPr>
          <p:cNvPr id="9" name="Text 7"/>
          <p:cNvSpPr/>
          <p:nvPr/>
        </p:nvSpPr>
        <p:spPr>
          <a:xfrm>
            <a:off x="1016000" y="3073400"/>
            <a:ext cx="6604000" cy="8128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If current is default capped max output tokens:</a:t>
            </a:r>
            <a:endParaRPr lang="en-US" sz="1800" dirty="0"/>
          </a:p>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Directly raise limit and retry</a:t>
            </a:r>
            <a:endParaRPr lang="en-US" sz="1800" dirty="0"/>
          </a:p>
        </p:txBody>
      </p:sp>
      <p:sp>
        <p:nvSpPr>
          <p:cNvPr id="10" name="Shape 8"/>
          <p:cNvSpPr/>
          <p:nvPr/>
        </p:nvSpPr>
        <p:spPr>
          <a:xfrm>
            <a:off x="8382000" y="2641600"/>
            <a:ext cx="7112000" cy="1397000"/>
          </a:xfrm>
          <a:prstGeom prst="roundRect">
            <a:avLst>
              <a:gd name="adj" fmla="val 4000"/>
            </a:avLst>
          </a:prstGeom>
          <a:solidFill>
            <a:srgbClr val="161618"/>
          </a:solidFill>
          <a:ln/>
        </p:spPr>
      </p:sp>
      <p:sp>
        <p:nvSpPr>
          <p:cNvPr id="11" name="Text 9"/>
          <p:cNvSpPr/>
          <p:nvPr/>
        </p:nvSpPr>
        <p:spPr>
          <a:xfrm>
            <a:off x="8636000" y="2743200"/>
            <a:ext cx="1270000" cy="2794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STAGE 2</a:t>
            </a:r>
            <a:endParaRPr lang="en-US" sz="1600" dirty="0"/>
          </a:p>
        </p:txBody>
      </p:sp>
      <p:sp>
        <p:nvSpPr>
          <p:cNvPr id="12" name="Text 10"/>
          <p:cNvSpPr/>
          <p:nvPr/>
        </p:nvSpPr>
        <p:spPr>
          <a:xfrm>
            <a:off x="8636000" y="3073400"/>
            <a:ext cx="6604000" cy="812800"/>
          </a:xfrm>
          <a:prstGeom prst="rect">
            <a:avLst/>
          </a:prstGeom>
          <a:noFill/>
          <a:ln/>
        </p:spPr>
        <p:txBody>
          <a:bodyPr wrap="square" lIns="0" tIns="0" rIns="0" bIns="0" rtlCol="0" anchor="t"/>
          <a:lstStyle/>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If still truncated:</a:t>
            </a:r>
            <a:endParaRPr lang="en-US" sz="1800" dirty="0"/>
          </a:p>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Insert meta user message</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 "continue directly, don't apologize, don't recap"</a:t>
            </a:r>
            <a:endParaRPr lang="en-US" sz="1800" dirty="0"/>
          </a:p>
        </p:txBody>
      </p:sp>
      <p:sp>
        <p:nvSpPr>
          <p:cNvPr id="13" name="Shape 11"/>
          <p:cNvSpPr/>
          <p:nvPr/>
        </p:nvSpPr>
        <p:spPr>
          <a:xfrm>
            <a:off x="762000" y="4318000"/>
            <a:ext cx="14732000" cy="762000"/>
          </a:xfrm>
          <a:prstGeom prst="roundRect">
            <a:avLst>
              <a:gd name="adj" fmla="val 4000"/>
            </a:avLst>
          </a:prstGeom>
          <a:solidFill>
            <a:srgbClr val="161618"/>
          </a:solidFill>
          <a:ln/>
        </p:spPr>
      </p:sp>
      <p:sp>
        <p:nvSpPr>
          <p:cNvPr id="14" name="Text 12"/>
          <p:cNvSpPr/>
          <p:nvPr/>
        </p:nvSpPr>
        <p:spPr>
          <a:xfrm>
            <a:off x="1016000" y="4419600"/>
            <a:ext cx="14224000" cy="558800"/>
          </a:xfrm>
          <a:prstGeom prst="rect">
            <a:avLst/>
          </a:prstGeom>
          <a:noFill/>
          <a:ln/>
        </p:spPr>
        <p:txBody>
          <a:bodyPr wrap="square" lIns="0" tIns="0" rIns="0" bIns="0" rtlCol="0" anchor="ctr"/>
          <a:lstStyle/>
          <a:p>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Recovery Limit: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MAX_OUTPUT_TOKENS_RECOVERY_LIMIT = 3 — prevents infinite recovery loops</a:t>
            </a:r>
            <a:endParaRPr lang="en-US" sz="1800" dirty="0"/>
          </a:p>
        </p:txBody>
      </p:sp>
      <p:sp>
        <p:nvSpPr>
          <p:cNvPr id="15" name="Text 13"/>
          <p:cNvSpPr/>
          <p:nvPr/>
        </p:nvSpPr>
        <p:spPr>
          <a:xfrm>
            <a:off x="762000" y="53975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Design Philosophy</a:t>
            </a:r>
            <a:endParaRPr lang="en-US" sz="2200" dirty="0"/>
          </a:p>
        </p:txBody>
      </p:sp>
      <p:sp>
        <p:nvSpPr>
          <p:cNvPr id="16" name="Shape 14"/>
          <p:cNvSpPr/>
          <p:nvPr/>
        </p:nvSpPr>
        <p:spPr>
          <a:xfrm>
            <a:off x="762000" y="5880100"/>
            <a:ext cx="50800" cy="1016000"/>
          </a:xfrm>
          <a:prstGeom prst="rect">
            <a:avLst/>
          </a:prstGeom>
          <a:solidFill>
            <a:srgbClr val="C4A265"/>
          </a:solidFill>
          <a:ln/>
        </p:spPr>
      </p:sp>
      <p:sp>
        <p:nvSpPr>
          <p:cNvPr id="17" name="Text 15"/>
          <p:cNvSpPr/>
          <p:nvPr/>
        </p:nvSpPr>
        <p:spPr>
          <a:xfrm>
            <a:off x="1016000" y="5880100"/>
            <a:ext cx="14224000" cy="1016000"/>
          </a:xfrm>
          <a:prstGeom prst="rect">
            <a:avLst/>
          </a:prstGeom>
          <a:noFill/>
          <a:ln/>
        </p:spPr>
        <p:txBody>
          <a:bodyPr wrap="square" lIns="0" tIns="0" rIns="0" bIns="0" rtlCol="0" anchor="ctr"/>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Output truncation is treated as a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recoverable continuous generation problem</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not an ordinary error. The model doesn't need to know it hit a limit — it just needs to continue. This transforms a hard failure into a seamless continuation.</a:t>
            </a:r>
            <a:endParaRPr lang="en-US" sz="1800" dirty="0"/>
          </a:p>
        </p:txBody>
      </p:sp>
      <p:sp>
        <p:nvSpPr>
          <p:cNvPr id="18" name="Shape 16"/>
          <p:cNvSpPr/>
          <p:nvPr/>
        </p:nvSpPr>
        <p:spPr>
          <a:xfrm>
            <a:off x="762000" y="8636000"/>
            <a:ext cx="14732000" cy="12700"/>
          </a:xfrm>
          <a:prstGeom prst="rect">
            <a:avLst/>
          </a:prstGeom>
          <a:solidFill>
            <a:srgbClr val="3A3A3E"/>
          </a:solidFill>
          <a:ln/>
        </p:spPr>
      </p:sp>
      <p:sp>
        <p:nvSpPr>
          <p:cNvPr id="19" name="Text 17"/>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src/query.ts:788-823, src/query.ts:1188-1251</a:t>
            </a:r>
            <a:endParaRPr lang="en-US" sz="1300" dirty="0"/>
          </a:p>
        </p:txBody>
      </p:sp>
    </p:spTree>
  </p:cSld>
  <p:clrMapOvr>
    <a:masterClrMapping/>
  </p:clrMapOvr>
  <p:transition>
    <p:fade/>
    <p:spd val="med"/>
  </p:transition>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09 RELIABILITY ENGINEERING</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Overflow Recovery Chain: Collapse → Compact → Surface</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When </a:t>
            </a:r>
            <a:pPr>
              <a:lnSpc>
                <a:spcPct val="160000"/>
              </a:lnSpc>
            </a:pPr>
            <a:r>
              <a:rPr lang="en-US" sz="1700" dirty="0">
                <a:solidFill>
                  <a:srgbClr val="C4A265"/>
                </a:solidFill>
                <a:latin typeface="QuattrocentoSans" pitchFamily="34" charset="0"/>
                <a:ea typeface="QuattrocentoSans" pitchFamily="34" charset="-122"/>
                <a:cs typeface="QuattrocentoSans" pitchFamily="34" charset="-120"/>
              </a:rPr>
              <a:t>prompt-too-long</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appears in stream (withheld), a three-step recovery chain executes:</a:t>
            </a:r>
            <a:endParaRPr lang="en-US" sz="1800" dirty="0"/>
          </a:p>
        </p:txBody>
      </p:sp>
      <p:sp>
        <p:nvSpPr>
          <p:cNvPr id="6" name="Shape 4"/>
          <p:cNvSpPr/>
          <p:nvPr/>
        </p:nvSpPr>
        <p:spPr>
          <a:xfrm>
            <a:off x="762000" y="2159000"/>
            <a:ext cx="4699000" cy="2032000"/>
          </a:xfrm>
          <a:prstGeom prst="roundRect">
            <a:avLst>
              <a:gd name="adj" fmla="val 4000"/>
            </a:avLst>
          </a:prstGeom>
          <a:solidFill>
            <a:srgbClr val="161618"/>
          </a:solidFill>
          <a:ln/>
        </p:spPr>
      </p:sp>
      <p:sp>
        <p:nvSpPr>
          <p:cNvPr id="7" name="Text 5"/>
          <p:cNvSpPr/>
          <p:nvPr/>
        </p:nvSpPr>
        <p:spPr>
          <a:xfrm>
            <a:off x="1016000" y="2260600"/>
            <a:ext cx="1524000" cy="3048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STEP 1</a:t>
            </a:r>
            <a:endParaRPr lang="en-US" sz="1600" dirty="0"/>
          </a:p>
        </p:txBody>
      </p:sp>
      <p:sp>
        <p:nvSpPr>
          <p:cNvPr id="8" name="Text 6"/>
          <p:cNvSpPr/>
          <p:nvPr/>
        </p:nvSpPr>
        <p:spPr>
          <a:xfrm>
            <a:off x="1016000" y="2590800"/>
            <a:ext cx="4191000" cy="279400"/>
          </a:xfrm>
          <a:prstGeom prst="rect">
            <a:avLst/>
          </a:prstGeom>
          <a:noFill/>
          <a:ln/>
        </p:spPr>
        <p:txBody>
          <a:bodyPr wrap="none" lIns="0" tIns="0" rIns="0" bIns="0" rtlCol="0" anchor="ctr"/>
          <a:lstStyle/>
          <a:p>
            <a:pPr>
              <a:lnSpc>
                <a:spcPct val="130000"/>
              </a:lnSpc>
            </a:pPr>
            <a:r>
              <a:rPr lang="en-US" sz="1600" b="1" dirty="0">
                <a:solidFill>
                  <a:srgbClr val="E8DCC8"/>
                </a:solidFill>
                <a:latin typeface="Liter" pitchFamily="34" charset="0"/>
                <a:ea typeface="Liter" pitchFamily="34" charset="-122"/>
                <a:cs typeface="Liter" pitchFamily="34" charset="-120"/>
              </a:rPr>
              <a:t>Context Collapse Drain</a:t>
            </a:r>
            <a:endParaRPr lang="en-US" sz="2200" dirty="0"/>
          </a:p>
        </p:txBody>
      </p:sp>
      <p:sp>
        <p:nvSpPr>
          <p:cNvPr id="9" name="Text 7"/>
          <p:cNvSpPr/>
          <p:nvPr/>
        </p:nvSpPr>
        <p:spPr>
          <a:xfrm>
            <a:off x="1016000" y="2921000"/>
            <a:ext cx="4191000" cy="1079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If contextCollapse enabled:</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recoverFromOverflow() drains staged collapse</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Cheaper, preserves finer context</a:t>
            </a:r>
            <a:endParaRPr lang="en-US" sz="1800" dirty="0"/>
          </a:p>
        </p:txBody>
      </p:sp>
      <p:sp>
        <p:nvSpPr>
          <p:cNvPr id="10" name="Shape 8"/>
          <p:cNvSpPr/>
          <p:nvPr/>
        </p:nvSpPr>
        <p:spPr>
          <a:xfrm>
            <a:off x="5588000" y="2794000"/>
            <a:ext cx="381000" cy="254000"/>
          </a:xfrm>
          <a:prstGeom prst="rightArrow">
            <a:avLst>
              <a:gd name="adj1" fmla="val 50000"/>
              <a:gd name="adj2" fmla="val 50000"/>
            </a:avLst>
          </a:prstGeom>
          <a:solidFill>
            <a:srgbClr val="C4A265"/>
          </a:solidFill>
          <a:ln/>
        </p:spPr>
      </p:sp>
      <p:sp>
        <p:nvSpPr>
          <p:cNvPr id="11" name="Shape 9"/>
          <p:cNvSpPr/>
          <p:nvPr/>
        </p:nvSpPr>
        <p:spPr>
          <a:xfrm>
            <a:off x="6159500" y="2159000"/>
            <a:ext cx="4699000" cy="2032000"/>
          </a:xfrm>
          <a:prstGeom prst="roundRect">
            <a:avLst>
              <a:gd name="adj" fmla="val 4000"/>
            </a:avLst>
          </a:prstGeom>
          <a:solidFill>
            <a:srgbClr val="161618"/>
          </a:solidFill>
          <a:ln/>
        </p:spPr>
      </p:sp>
      <p:sp>
        <p:nvSpPr>
          <p:cNvPr id="12" name="Text 10"/>
          <p:cNvSpPr/>
          <p:nvPr/>
        </p:nvSpPr>
        <p:spPr>
          <a:xfrm>
            <a:off x="6413500" y="2260600"/>
            <a:ext cx="1524000" cy="3048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STEP 2</a:t>
            </a:r>
            <a:endParaRPr lang="en-US" sz="1600" dirty="0"/>
          </a:p>
        </p:txBody>
      </p:sp>
      <p:sp>
        <p:nvSpPr>
          <p:cNvPr id="13" name="Text 11"/>
          <p:cNvSpPr/>
          <p:nvPr/>
        </p:nvSpPr>
        <p:spPr>
          <a:xfrm>
            <a:off x="6413500" y="2590800"/>
            <a:ext cx="4191000" cy="279400"/>
          </a:xfrm>
          <a:prstGeom prst="rect">
            <a:avLst/>
          </a:prstGeom>
          <a:noFill/>
          <a:ln/>
        </p:spPr>
        <p:txBody>
          <a:bodyPr wrap="none" lIns="0" tIns="0" rIns="0" bIns="0" rtlCol="0" anchor="ctr"/>
          <a:lstStyle/>
          <a:p>
            <a:pPr>
              <a:lnSpc>
                <a:spcPct val="130000"/>
              </a:lnSpc>
            </a:pPr>
            <a:r>
              <a:rPr lang="en-US" sz="1600" b="1" dirty="0">
                <a:solidFill>
                  <a:srgbClr val="E8DCC8"/>
                </a:solidFill>
                <a:latin typeface="Liter" pitchFamily="34" charset="0"/>
                <a:ea typeface="Liter" pitchFamily="34" charset="-122"/>
                <a:cs typeface="Liter" pitchFamily="34" charset="-120"/>
              </a:rPr>
              <a:t>Reactive Compact</a:t>
            </a:r>
            <a:endParaRPr lang="en-US" sz="2200" dirty="0"/>
          </a:p>
        </p:txBody>
      </p:sp>
      <p:sp>
        <p:nvSpPr>
          <p:cNvPr id="14" name="Text 12"/>
          <p:cNvSpPr/>
          <p:nvPr/>
        </p:nvSpPr>
        <p:spPr>
          <a:xfrm>
            <a:off x="6413500" y="2921000"/>
            <a:ext cx="4191000" cy="1079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If still insufficient:</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tryReactiveCompact()</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More aggressive compression</a:t>
            </a:r>
            <a:endParaRPr lang="en-US" sz="1800" dirty="0"/>
          </a:p>
        </p:txBody>
      </p:sp>
      <p:sp>
        <p:nvSpPr>
          <p:cNvPr id="15" name="Shape 13"/>
          <p:cNvSpPr/>
          <p:nvPr/>
        </p:nvSpPr>
        <p:spPr>
          <a:xfrm>
            <a:off x="10985500" y="2794000"/>
            <a:ext cx="381000" cy="254000"/>
          </a:xfrm>
          <a:prstGeom prst="rightArrow">
            <a:avLst>
              <a:gd name="adj1" fmla="val 50000"/>
              <a:gd name="adj2" fmla="val 50000"/>
            </a:avLst>
          </a:prstGeom>
          <a:solidFill>
            <a:srgbClr val="C4A265"/>
          </a:solidFill>
          <a:ln/>
        </p:spPr>
      </p:sp>
      <p:sp>
        <p:nvSpPr>
          <p:cNvPr id="16" name="Shape 14"/>
          <p:cNvSpPr/>
          <p:nvPr/>
        </p:nvSpPr>
        <p:spPr>
          <a:xfrm>
            <a:off x="11557000" y="2159000"/>
            <a:ext cx="3937000" cy="2032000"/>
          </a:xfrm>
          <a:prstGeom prst="roundRect">
            <a:avLst>
              <a:gd name="adj" fmla="val 4000"/>
            </a:avLst>
          </a:prstGeom>
          <a:solidFill>
            <a:srgbClr val="161618"/>
          </a:solidFill>
          <a:ln/>
        </p:spPr>
      </p:sp>
      <p:sp>
        <p:nvSpPr>
          <p:cNvPr id="17" name="Text 15"/>
          <p:cNvSpPr/>
          <p:nvPr/>
        </p:nvSpPr>
        <p:spPr>
          <a:xfrm>
            <a:off x="11811000" y="2260600"/>
            <a:ext cx="1524000" cy="3048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STEP 3</a:t>
            </a:r>
            <a:endParaRPr lang="en-US" sz="1600" dirty="0"/>
          </a:p>
        </p:txBody>
      </p:sp>
      <p:sp>
        <p:nvSpPr>
          <p:cNvPr id="18" name="Text 16"/>
          <p:cNvSpPr/>
          <p:nvPr/>
        </p:nvSpPr>
        <p:spPr>
          <a:xfrm>
            <a:off x="11811000" y="2590800"/>
            <a:ext cx="3429000" cy="279400"/>
          </a:xfrm>
          <a:prstGeom prst="rect">
            <a:avLst/>
          </a:prstGeom>
          <a:noFill/>
          <a:ln/>
        </p:spPr>
        <p:txBody>
          <a:bodyPr wrap="none" lIns="0" tIns="0" rIns="0" bIns="0" rtlCol="0" anchor="ctr"/>
          <a:lstStyle/>
          <a:p>
            <a:pPr>
              <a:lnSpc>
                <a:spcPct val="130000"/>
              </a:lnSpc>
            </a:pPr>
            <a:r>
              <a:rPr lang="en-US" sz="1600" b="1" dirty="0">
                <a:solidFill>
                  <a:srgbClr val="E8DCC8"/>
                </a:solidFill>
                <a:latin typeface="Liter" pitchFamily="34" charset="0"/>
                <a:ea typeface="Liter" pitchFamily="34" charset="-122"/>
                <a:cs typeface="Liter" pitchFamily="34" charset="-120"/>
              </a:rPr>
              <a:t>Surface Error</a:t>
            </a:r>
            <a:endParaRPr lang="en-US" sz="2200" dirty="0"/>
          </a:p>
        </p:txBody>
      </p:sp>
      <p:sp>
        <p:nvSpPr>
          <p:cNvPr id="19" name="Text 17"/>
          <p:cNvSpPr/>
          <p:nvPr/>
        </p:nvSpPr>
        <p:spPr>
          <a:xfrm>
            <a:off x="11811000" y="2921000"/>
            <a:ext cx="3429000" cy="10795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Still fails:</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Yield withheld error to user</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Graceful degradation</a:t>
            </a:r>
            <a:endParaRPr lang="en-US" sz="1800" dirty="0"/>
          </a:p>
        </p:txBody>
      </p:sp>
      <p:sp>
        <p:nvSpPr>
          <p:cNvPr id="20" name="Text 18"/>
          <p:cNvSpPr/>
          <p:nvPr/>
        </p:nvSpPr>
        <p:spPr>
          <a:xfrm>
            <a:off x="762000" y="43815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Death Spiral Prevention</a:t>
            </a:r>
            <a:endParaRPr lang="en-US" sz="2200" dirty="0"/>
          </a:p>
        </p:txBody>
      </p:sp>
      <p:sp>
        <p:nvSpPr>
          <p:cNvPr id="21" name="Shape 19"/>
          <p:cNvSpPr/>
          <p:nvPr/>
        </p:nvSpPr>
        <p:spPr>
          <a:xfrm>
            <a:off x="762000" y="4864100"/>
            <a:ext cx="14732000" cy="1270000"/>
          </a:xfrm>
          <a:prstGeom prst="roundRect">
            <a:avLst>
              <a:gd name="adj" fmla="val 4000"/>
            </a:avLst>
          </a:prstGeom>
          <a:solidFill>
            <a:srgbClr val="161618"/>
          </a:solidFill>
          <a:ln/>
        </p:spPr>
      </p:sp>
      <p:sp>
        <p:nvSpPr>
          <p:cNvPr id="22" name="Text 20"/>
          <p:cNvSpPr/>
          <p:nvPr/>
        </p:nvSpPr>
        <p:spPr>
          <a:xfrm>
            <a:off x="1016000" y="4965700"/>
            <a:ext cx="14224000" cy="11176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When prompt-too-long/media size error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cannot recover</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a:t>
            </a:r>
            <a:endParaRPr lang="en-US" sz="1800" dirty="0"/>
          </a:p>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a:t>
            </a:r>
            <a:pPr>
              <a:lnSpc>
                <a:spcPct val="150000"/>
              </a:lnSpc>
            </a:pPr>
            <a:r>
              <a:rPr lang="en-US" sz="1600" b="1" dirty="0">
                <a:solidFill>
                  <a:srgbClr val="E8DCC8"/>
                </a:solidFill>
                <a:latin typeface="QuattrocentoSans" pitchFamily="34" charset="0"/>
                <a:ea typeface="QuattrocentoSans" pitchFamily="34" charset="-122"/>
                <a:cs typeface="QuattrocentoSans" pitchFamily="34" charset="-120"/>
              </a:rPr>
              <a:t>Directly surface error</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only run stop failure hooks, </a:t>
            </a:r>
            <a:pPr>
              <a:lnSpc>
                <a:spcPct val="150000"/>
              </a:lnSpc>
            </a:pPr>
            <a:r>
              <a:rPr lang="en-US" sz="1600" b="1" dirty="0">
                <a:solidFill>
                  <a:srgbClr val="E8DCC8"/>
                </a:solidFill>
                <a:latin typeface="QuattrocentoSans" pitchFamily="34" charset="0"/>
                <a:ea typeface="QuattrocentoSans" pitchFamily="34" charset="-122"/>
                <a:cs typeface="QuattrocentoSans" pitchFamily="34" charset="-120"/>
              </a:rPr>
              <a:t>no longer enter normal stop hooks</a:t>
            </a:r>
            <a:endParaRPr lang="en-US" sz="1800" dirty="0"/>
          </a:p>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Reason: stop hooks may inject extra tokens → error → hook blocking → retry → error → infinite loop</a:t>
            </a:r>
            <a:endParaRPr lang="en-US" sz="1800" dirty="0"/>
          </a:p>
        </p:txBody>
      </p:sp>
      <p:sp>
        <p:nvSpPr>
          <p:cNvPr id="23" name="Shape 21"/>
          <p:cNvSpPr/>
          <p:nvPr/>
        </p:nvSpPr>
        <p:spPr>
          <a:xfrm>
            <a:off x="762000" y="6477000"/>
            <a:ext cx="50800" cy="889000"/>
          </a:xfrm>
          <a:prstGeom prst="rect">
            <a:avLst/>
          </a:prstGeom>
          <a:solidFill>
            <a:srgbClr val="C4A265"/>
          </a:solidFill>
          <a:ln/>
        </p:spPr>
      </p:sp>
      <p:sp>
        <p:nvSpPr>
          <p:cNvPr id="24" name="Text 22"/>
          <p:cNvSpPr/>
          <p:nvPr/>
        </p:nvSpPr>
        <p:spPr>
          <a:xfrm>
            <a:off x="1016000" y="6477000"/>
            <a:ext cx="14224000" cy="889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recovery chain prioritizes cheaper options first (collapse drain) before aggressive compaction. Death spiral prevention is a circuit breaker — when recovery is impossible, the system stops trying rather than making things worse. This is fail-safe design.</a:t>
            </a:r>
            <a:endParaRPr lang="en-US" sz="1800" dirty="0"/>
          </a:p>
        </p:txBody>
      </p:sp>
      <p:sp>
        <p:nvSpPr>
          <p:cNvPr id="25" name="Shape 23"/>
          <p:cNvSpPr/>
          <p:nvPr/>
        </p:nvSpPr>
        <p:spPr>
          <a:xfrm>
            <a:off x="762000" y="8636000"/>
            <a:ext cx="14732000" cy="12700"/>
          </a:xfrm>
          <a:prstGeom prst="rect">
            <a:avLst/>
          </a:prstGeom>
          <a:solidFill>
            <a:srgbClr val="3A3A3E"/>
          </a:solidFill>
          <a:ln/>
        </p:spPr>
      </p:sp>
      <p:sp>
        <p:nvSpPr>
          <p:cNvPr id="26" name="Text 24"/>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src/query.ts:1065-1182, src/query.ts:1168-1175</a:t>
            </a:r>
            <a:endParaRPr lang="en-US" sz="1300" dirty="0"/>
          </a:p>
        </p:txBody>
      </p:sp>
    </p:spTree>
  </p:cSld>
  <p:clrMapOvr>
    <a:masterClrMapping/>
  </p:clrMapOvr>
  <p:transition>
    <p:fade/>
    <p:spd val="med"/>
  </p:transition>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09 RELIABILITY ENGINEERING</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Transcript Persistence: Final Value Consistency</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QueryEngine distinguishes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fire-and-forget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vs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synchronous write</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transcript persistence is crash-resilient by design.</a:t>
            </a:r>
            <a:endParaRPr lang="en-US" sz="1800" dirty="0"/>
          </a:p>
        </p:txBody>
      </p:sp>
      <p:sp>
        <p:nvSpPr>
          <p:cNvPr id="6" name="Text 4"/>
          <p:cNvSpPr/>
          <p:nvPr/>
        </p:nvSpPr>
        <p:spPr>
          <a:xfrm>
            <a:off x="762000" y="2159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Write Type Strategy</a:t>
            </a:r>
            <a:endParaRPr lang="en-US" sz="2200" dirty="0"/>
          </a:p>
        </p:txBody>
      </p:sp>
      <p:sp>
        <p:nvSpPr>
          <p:cNvPr id="7" name="Shape 5"/>
          <p:cNvSpPr/>
          <p:nvPr/>
        </p:nvSpPr>
        <p:spPr>
          <a:xfrm>
            <a:off x="762000" y="2641600"/>
            <a:ext cx="7112000" cy="1333500"/>
          </a:xfrm>
          <a:prstGeom prst="roundRect">
            <a:avLst>
              <a:gd name="adj" fmla="val 4000"/>
            </a:avLst>
          </a:prstGeom>
          <a:solidFill>
            <a:srgbClr val="161618"/>
          </a:solidFill>
          <a:ln/>
        </p:spPr>
      </p:sp>
      <p:sp>
        <p:nvSpPr>
          <p:cNvPr id="8" name="Text 6"/>
          <p:cNvSpPr/>
          <p:nvPr/>
        </p:nvSpPr>
        <p:spPr>
          <a:xfrm>
            <a:off x="1016000" y="2743200"/>
            <a:ext cx="6604000" cy="11430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Sans" pitchFamily="34" charset="0"/>
                <a:ea typeface="QuattrocentoSans" pitchFamily="34" charset="-122"/>
                <a:cs typeface="QuattrocentoSans" pitchFamily="34" charset="-120"/>
              </a:rPr>
              <a:t>Fire-and-Forget</a:t>
            </a:r>
            <a:endParaRPr lang="en-US" sz="1800" dirty="0"/>
          </a:p>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Assistant messages — message_delta writes final stop_reason/usage</a:t>
            </a:r>
            <a:endParaRPr lang="en-US" sz="1800" dirty="0"/>
          </a:p>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Lazy flush writes to disk</a:t>
            </a:r>
            <a:endParaRPr lang="en-US" sz="1800" dirty="0"/>
          </a:p>
        </p:txBody>
      </p:sp>
      <p:sp>
        <p:nvSpPr>
          <p:cNvPr id="9" name="Shape 7"/>
          <p:cNvSpPr/>
          <p:nvPr/>
        </p:nvSpPr>
        <p:spPr>
          <a:xfrm>
            <a:off x="8382000" y="2641600"/>
            <a:ext cx="7112000" cy="1270000"/>
          </a:xfrm>
          <a:prstGeom prst="roundRect">
            <a:avLst>
              <a:gd name="adj" fmla="val 4000"/>
            </a:avLst>
          </a:prstGeom>
          <a:solidFill>
            <a:srgbClr val="161618"/>
          </a:solidFill>
          <a:ln/>
        </p:spPr>
      </p:sp>
      <p:sp>
        <p:nvSpPr>
          <p:cNvPr id="10" name="Text 8"/>
          <p:cNvSpPr/>
          <p:nvPr/>
        </p:nvSpPr>
        <p:spPr>
          <a:xfrm>
            <a:off x="8636000" y="2743200"/>
            <a:ext cx="6604000" cy="1117600"/>
          </a:xfrm>
          <a:prstGeom prst="rect">
            <a:avLst/>
          </a:prstGeom>
          <a:noFill/>
          <a:ln/>
        </p:spPr>
        <p:txBody>
          <a:bodyPr wrap="square" lIns="0" tIns="0" rIns="0" bIns="0" rtlCol="0" anchor="t"/>
          <a:lstStyle/>
          <a:p>
            <a:pPr>
              <a:lnSpc>
                <a:spcPct val="150000"/>
              </a:lnSpc>
            </a:pPr>
            <a:r>
              <a:rPr lang="en-US" sz="1500" b="1" dirty="0">
                <a:solidFill>
                  <a:srgbClr val="C4A265"/>
                </a:solidFill>
                <a:latin typeface="QuattrocentoSans" pitchFamily="34" charset="0"/>
                <a:ea typeface="QuattrocentoSans" pitchFamily="34" charset="-122"/>
                <a:cs typeface="QuattrocentoSans" pitchFamily="34" charset="-120"/>
              </a:rPr>
              <a:t>Synchronous Write</a:t>
            </a:r>
            <a:endParaRPr lang="en-US" sz="1800" dirty="0"/>
          </a:p>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User messages, compact boundaries, key state markers</a:t>
            </a:r>
            <a:endParaRPr lang="en-US" sz="1800" dirty="0"/>
          </a:p>
          <a:p>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Must survive process crash between turns</a:t>
            </a:r>
            <a:endParaRPr lang="en-US" sz="1800" dirty="0"/>
          </a:p>
        </p:txBody>
      </p:sp>
      <p:sp>
        <p:nvSpPr>
          <p:cNvPr id="11" name="Text 9"/>
          <p:cNvSpPr/>
          <p:nvPr/>
        </p:nvSpPr>
        <p:spPr>
          <a:xfrm>
            <a:off x="762000" y="4064000"/>
            <a:ext cx="762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Compact Boundary: Write Order Matters</a:t>
            </a:r>
            <a:endParaRPr lang="en-US" sz="2200" dirty="0"/>
          </a:p>
        </p:txBody>
      </p:sp>
      <p:sp>
        <p:nvSpPr>
          <p:cNvPr id="12" name="Shape 10"/>
          <p:cNvSpPr/>
          <p:nvPr/>
        </p:nvSpPr>
        <p:spPr>
          <a:xfrm>
            <a:off x="762000" y="4546600"/>
            <a:ext cx="14732000" cy="1333500"/>
          </a:xfrm>
          <a:prstGeom prst="roundRect">
            <a:avLst>
              <a:gd name="adj" fmla="val 4000"/>
            </a:avLst>
          </a:prstGeom>
          <a:solidFill>
            <a:srgbClr val="161618"/>
          </a:solidFill>
          <a:ln/>
        </p:spPr>
      </p:sp>
      <p:sp>
        <p:nvSpPr>
          <p:cNvPr id="13" name="Text 11"/>
          <p:cNvSpPr/>
          <p:nvPr/>
        </p:nvSpPr>
        <p:spPr>
          <a:xfrm>
            <a:off x="1016000" y="4648200"/>
            <a:ext cx="14224000" cy="11938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1.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Force-write preserved tail</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related messages to disk</a:t>
            </a:r>
            <a:endParaRPr lang="en-US" sz="1800" dirty="0"/>
          </a:p>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2.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THEN record compact boundary</a:t>
            </a:r>
            <a:endParaRPr lang="en-US" sz="1800" dirty="0"/>
          </a:p>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3.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Immediately release old messages</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 mutableMessages truncated to boundary, local messages同步裁剪</a:t>
            </a:r>
            <a:endParaRPr lang="en-US" sz="1800" dirty="0"/>
          </a:p>
        </p:txBody>
      </p:sp>
      <p:sp>
        <p:nvSpPr>
          <p:cNvPr id="14" name="Text 12"/>
          <p:cNvSpPr/>
          <p:nvPr/>
        </p:nvSpPr>
        <p:spPr>
          <a:xfrm>
            <a:off x="762000" y="6223000"/>
            <a:ext cx="14732000" cy="533400"/>
          </a:xfrm>
          <a:prstGeom prst="rect">
            <a:avLst/>
          </a:prstGeom>
          <a:noFill/>
          <a:ln/>
        </p:spPr>
        <p:txBody>
          <a:bodyPr wrap="square" lIns="0" tIns="0" rIns="0" bIns="0" rtlCol="0" anchor="t"/>
          <a:lstStyle/>
          <a:p>
            <a:pPr>
              <a:lnSpc>
                <a:spcPct val="150000"/>
              </a:lnSpc>
            </a:pPr>
            <a:r>
              <a:rPr lang="en-US" sz="1600" b="1" dirty="0">
                <a:solidFill>
                  <a:srgbClr val="E8DCC8"/>
                </a:solidFill>
                <a:latin typeface="QuattrocentoSans" pitchFamily="34" charset="0"/>
                <a:ea typeface="QuattrocentoSans" pitchFamily="34" charset="-122"/>
                <a:cs typeface="QuattrocentoSans" pitchFamily="34" charset="-120"/>
              </a:rPr>
              <a:t>Why this order?</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If SDK subprocess restarts between turns, recovery flow must find preserved tail → otherwise compact后 message chain rebuilds incorrectly.</a:t>
            </a:r>
            <a:endParaRPr lang="en-US" sz="1800" dirty="0"/>
          </a:p>
        </p:txBody>
      </p:sp>
      <p:sp>
        <p:nvSpPr>
          <p:cNvPr id="15" name="Shape 13"/>
          <p:cNvSpPr/>
          <p:nvPr/>
        </p:nvSpPr>
        <p:spPr>
          <a:xfrm>
            <a:off x="762000" y="6985000"/>
            <a:ext cx="50800" cy="762000"/>
          </a:xfrm>
          <a:prstGeom prst="rect">
            <a:avLst/>
          </a:prstGeom>
          <a:solidFill>
            <a:srgbClr val="C4A265"/>
          </a:solidFill>
          <a:ln/>
        </p:spPr>
      </p:sp>
      <p:sp>
        <p:nvSpPr>
          <p:cNvPr id="16" name="Text 14"/>
          <p:cNvSpPr/>
          <p:nvPr/>
        </p:nvSpPr>
        <p:spPr>
          <a:xfrm>
            <a:off x="1016000" y="6985000"/>
            <a:ext cx="14224000" cy="762000"/>
          </a:xfrm>
          <a:prstGeom prst="rect">
            <a:avLst/>
          </a:prstGeom>
          <a:noFill/>
          <a:ln/>
        </p:spPr>
        <p:txBody>
          <a:bodyPr wrap="square" lIns="0" tIns="0" rIns="0" bIns="0" rtlCol="0" anchor="ctr"/>
          <a:lstStyle/>
          <a:p>
            <a:pPr>
              <a:lnSpc>
                <a:spcPct val="160000"/>
              </a:lnSpc>
            </a:pPr>
            <a:r>
              <a:rPr lang="en-US" sz="16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600" dirty="0">
                <a:solidFill>
                  <a:srgbClr val="E8DCC8"/>
                </a:solidFill>
                <a:latin typeface="QuattrocentoSans" pitchFamily="34" charset="0"/>
                <a:ea typeface="QuattrocentoSans" pitchFamily="34" charset="-122"/>
                <a:cs typeface="QuattrocentoSans" pitchFamily="34" charset="-120"/>
              </a:rPr>
              <a:t> Headless/SDK scenarios care more about long-session memory control than REPL's scroll history. The write order ensures crash recovery always produces a consistent message chain.</a:t>
            </a:r>
            <a:endParaRPr lang="en-US" sz="1800" dirty="0"/>
          </a:p>
        </p:txBody>
      </p:sp>
      <p:sp>
        <p:nvSpPr>
          <p:cNvPr id="17" name="Shape 15"/>
          <p:cNvSpPr/>
          <p:nvPr/>
        </p:nvSpPr>
        <p:spPr>
          <a:xfrm>
            <a:off x="762000" y="8636000"/>
            <a:ext cx="14732000" cy="12700"/>
          </a:xfrm>
          <a:prstGeom prst="rect">
            <a:avLst/>
          </a:prstGeom>
          <a:solidFill>
            <a:srgbClr val="3A3A3E"/>
          </a:solidFill>
          <a:ln/>
        </p:spPr>
      </p:sp>
      <p:sp>
        <p:nvSpPr>
          <p:cNvPr id="18" name="Text 16"/>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src/QueryEngine.ts:693-715, 716-731, 917-942</a:t>
            </a:r>
            <a:endParaRPr lang="en-US" sz="1300" dirty="0"/>
          </a:p>
        </p:txBody>
      </p:sp>
    </p:spTree>
  </p:cSld>
  <p:clrMapOvr>
    <a:masterClrMapping/>
  </p:clrMapOvr>
  <p:transition>
    <p:fade/>
    <p:spd val="med"/>
  </p:transition>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10</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TEN</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016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Subagent Coordination</a:t>
            </a:r>
            <a:endParaRPr lang="en-US" sz="3800" dirty="0"/>
          </a:p>
        </p:txBody>
      </p:sp>
      <p:sp>
        <p:nvSpPr>
          <p:cNvPr id="6" name="Text 4"/>
          <p:cNvSpPr/>
          <p:nvPr/>
        </p:nvSpPr>
        <p:spPr>
          <a:xfrm>
            <a:off x="762000" y="4699000"/>
            <a:ext cx="1143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AgentTool is a tool — subagents are spawned through the same tool execution harness as Bash and Edit</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10 SUBAGENT COORDINATION</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AgentTool: Subagent as a Tool</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AgentTool is a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first-class tool</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 subagents are NOT special-cased. Spawned through the same tool execution harness as Bash and Edit.</a:t>
            </a:r>
            <a:endParaRPr lang="en-US" sz="1800" dirty="0"/>
          </a:p>
        </p:txBody>
      </p:sp>
      <p:sp>
        <p:nvSpPr>
          <p:cNvPr id="6" name="Text 4"/>
          <p:cNvSpPr/>
          <p:nvPr/>
        </p:nvSpPr>
        <p:spPr>
          <a:xfrm>
            <a:off x="762000" y="2159000"/>
            <a:ext cx="508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Two Execution Modes</a:t>
            </a:r>
            <a:endParaRPr lang="en-US" sz="2200" dirty="0"/>
          </a:p>
        </p:txBody>
      </p:sp>
      <p:sp>
        <p:nvSpPr>
          <p:cNvPr id="7" name="Shape 5"/>
          <p:cNvSpPr/>
          <p:nvPr/>
        </p:nvSpPr>
        <p:spPr>
          <a:xfrm>
            <a:off x="762000" y="2641600"/>
            <a:ext cx="7112000" cy="1524000"/>
          </a:xfrm>
          <a:prstGeom prst="roundRect">
            <a:avLst>
              <a:gd name="adj" fmla="val 4000"/>
            </a:avLst>
          </a:prstGeom>
          <a:solidFill>
            <a:srgbClr val="161618"/>
          </a:solidFill>
          <a:ln/>
        </p:spPr>
      </p:sp>
      <p:sp>
        <p:nvSpPr>
          <p:cNvPr id="8" name="Text 6"/>
          <p:cNvSpPr/>
          <p:nvPr/>
        </p:nvSpPr>
        <p:spPr>
          <a:xfrm>
            <a:off x="1016000" y="2743200"/>
            <a:ext cx="1016000" cy="2794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INLINE</a:t>
            </a:r>
            <a:endParaRPr lang="en-US" sz="1600" dirty="0"/>
          </a:p>
        </p:txBody>
      </p:sp>
      <p:sp>
        <p:nvSpPr>
          <p:cNvPr id="9" name="Text 7"/>
          <p:cNvSpPr/>
          <p:nvPr/>
        </p:nvSpPr>
        <p:spPr>
          <a:xfrm>
            <a:off x="1016000" y="3073400"/>
            <a:ext cx="6604000" cy="9906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Expands skill into current session messages</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Continues in current context</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No separate process or isolation</a:t>
            </a:r>
            <a:endParaRPr lang="en-US" sz="1800" dirty="0"/>
          </a:p>
        </p:txBody>
      </p:sp>
      <p:sp>
        <p:nvSpPr>
          <p:cNvPr id="10" name="Shape 8"/>
          <p:cNvSpPr/>
          <p:nvPr/>
        </p:nvSpPr>
        <p:spPr>
          <a:xfrm>
            <a:off x="8382000" y="2641600"/>
            <a:ext cx="7112000" cy="1524000"/>
          </a:xfrm>
          <a:prstGeom prst="roundRect">
            <a:avLst>
              <a:gd name="adj" fmla="val 4000"/>
            </a:avLst>
          </a:prstGeom>
          <a:solidFill>
            <a:srgbClr val="161618"/>
          </a:solidFill>
          <a:ln/>
        </p:spPr>
      </p:sp>
      <p:sp>
        <p:nvSpPr>
          <p:cNvPr id="11" name="Text 9"/>
          <p:cNvSpPr/>
          <p:nvPr/>
        </p:nvSpPr>
        <p:spPr>
          <a:xfrm>
            <a:off x="8636000" y="2743200"/>
            <a:ext cx="889000" cy="2794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FORK</a:t>
            </a:r>
            <a:endParaRPr lang="en-US" sz="1600" dirty="0"/>
          </a:p>
        </p:txBody>
      </p:sp>
      <p:sp>
        <p:nvSpPr>
          <p:cNvPr id="12" name="Text 10"/>
          <p:cNvSpPr/>
          <p:nvPr/>
        </p:nvSpPr>
        <p:spPr>
          <a:xfrm>
            <a:off x="8636000" y="3073400"/>
            <a:ext cx="6604000" cy="990600"/>
          </a:xfrm>
          <a:prstGeom prst="rect">
            <a:avLst/>
          </a:prstGeom>
          <a:noFill/>
          <a:ln/>
        </p:spPr>
        <p:txBody>
          <a:bodyPr wrap="square" lIns="0" tIns="0" rIns="0" bIns="0" rtlCol="0" anchor="t"/>
          <a:lstStyle/>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Puts skill in subagent for independent execution</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Inherits parent context and prompt cache</a:t>
            </a:r>
            <a:endParaRPr lang="en-US" sz="1800" dirty="0"/>
          </a:p>
          <a:p>
            <a:pPr>
              <a:lnSpc>
                <a:spcPct val="150000"/>
              </a:lnSpc>
            </a:pPr>
            <a:r>
              <a:rPr lang="en-US" sz="1400" dirty="0">
                <a:solidFill>
                  <a:srgbClr val="E8DCC8"/>
                </a:solidFill>
                <a:latin typeface="QuattrocentoSans" pitchFamily="34" charset="0"/>
                <a:ea typeface="QuattrocentoSans" pitchFamily="34" charset="-122"/>
                <a:cs typeface="QuattrocentoSans" pitchFamily="34" charset="-120"/>
              </a:rPr>
              <a:t>Restricted tool permissions via createAutoMemCanUseTool</a:t>
            </a:r>
            <a:endParaRPr lang="en-US" sz="1800" dirty="0"/>
          </a:p>
        </p:txBody>
      </p:sp>
      <p:sp>
        <p:nvSpPr>
          <p:cNvPr id="13" name="Text 11"/>
          <p:cNvSpPr/>
          <p:nvPr/>
        </p:nvSpPr>
        <p:spPr>
          <a:xfrm>
            <a:off x="762000" y="4445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runAgent() Lifecycle</a:t>
            </a:r>
            <a:endParaRPr lang="en-US" sz="2200" dirty="0"/>
          </a:p>
        </p:txBody>
      </p:sp>
      <p:sp>
        <p:nvSpPr>
          <p:cNvPr id="14" name="Shape 12"/>
          <p:cNvSpPr/>
          <p:nvPr/>
        </p:nvSpPr>
        <p:spPr>
          <a:xfrm>
            <a:off x="762000" y="4927600"/>
            <a:ext cx="14732000" cy="1270000"/>
          </a:xfrm>
          <a:prstGeom prst="roundRect">
            <a:avLst>
              <a:gd name="adj" fmla="val 4000"/>
            </a:avLst>
          </a:prstGeom>
          <a:solidFill>
            <a:srgbClr val="161618"/>
          </a:solidFill>
          <a:ln/>
        </p:spPr>
      </p:sp>
      <p:sp>
        <p:nvSpPr>
          <p:cNvPr id="15" name="Text 13"/>
          <p:cNvSpPr/>
          <p:nvPr/>
        </p:nvSpPr>
        <p:spPr>
          <a:xfrm>
            <a:off x="1016000" y="5029200"/>
            <a:ext cx="14224000" cy="11176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1. Inherit parent context + prompt cache</a:t>
            </a:r>
            <a:endParaRPr lang="en-US" sz="1800" dirty="0"/>
          </a:p>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2. Run with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restricted tool permissions</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 can only read memory/transcripts, grep/glob, read-only shell</a:t>
            </a:r>
            <a:endParaRPr lang="en-US" sz="1800" dirty="0"/>
          </a:p>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3. Produce results back to parent via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message flow</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(tool_result)</a:t>
            </a:r>
            <a:endParaRPr lang="en-US" sz="1800" dirty="0"/>
          </a:p>
        </p:txBody>
      </p:sp>
      <p:sp>
        <p:nvSpPr>
          <p:cNvPr id="16" name="Shape 14"/>
          <p:cNvSpPr/>
          <p:nvPr/>
        </p:nvSpPr>
        <p:spPr>
          <a:xfrm>
            <a:off x="762000" y="6477000"/>
            <a:ext cx="50800" cy="889000"/>
          </a:xfrm>
          <a:prstGeom prst="rect">
            <a:avLst/>
          </a:prstGeom>
          <a:solidFill>
            <a:srgbClr val="C4A265"/>
          </a:solidFill>
          <a:ln/>
        </p:spPr>
      </p:sp>
      <p:sp>
        <p:nvSpPr>
          <p:cNvPr id="17" name="Text 15"/>
          <p:cNvSpPr/>
          <p:nvPr/>
        </p:nvSpPr>
        <p:spPr>
          <a:xfrm>
            <a:off x="1016000" y="6477000"/>
            <a:ext cx="14224000" cy="889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Treating subagents as tools rather than a separate subsystem means they inherit all harness benefits: permission governance, error handling, streaming, and retry logic. No duplicate code, no inconsistent behavior.</a:t>
            </a:r>
            <a:endParaRPr lang="en-US" sz="1800" dirty="0"/>
          </a:p>
        </p:txBody>
      </p:sp>
      <p:sp>
        <p:nvSpPr>
          <p:cNvPr id="18" name="Shape 16"/>
          <p:cNvSpPr/>
          <p:nvPr/>
        </p:nvSpPr>
        <p:spPr>
          <a:xfrm>
            <a:off x="762000" y="8636000"/>
            <a:ext cx="14732000" cy="12700"/>
          </a:xfrm>
          <a:prstGeom prst="rect">
            <a:avLst/>
          </a:prstGeom>
          <a:solidFill>
            <a:srgbClr val="3A3A3E"/>
          </a:solidFill>
          <a:ln/>
        </p:spPr>
      </p:sp>
      <p:sp>
        <p:nvSpPr>
          <p:cNvPr id="19" name="Text 17"/>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src/tools/AgentTool/AgentTool.ts, src/query.ts</a:t>
            </a:r>
            <a:endParaRPr lang="en-US" sz="1300" dirty="0"/>
          </a:p>
        </p:txBody>
      </p:sp>
    </p:spTree>
  </p:cSld>
  <p:clrMapOvr>
    <a:masterClrMapping/>
  </p:clrMapOvr>
  <p:transition>
    <p:fade/>
    <p:spd val="med"/>
  </p:transition>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10 SUBAGENT COORDINATION</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Coordinator Mode &amp; Mailbox Communication</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14732000" cy="508000"/>
          </a:xfrm>
          <a:prstGeom prst="rect">
            <a:avLst/>
          </a:prstGeom>
          <a:noFill/>
          <a:ln/>
        </p:spPr>
        <p:txBody>
          <a:bodyPr wrap="square" lIns="0" tIns="0" rIns="0" bIns="0" rtlCol="0" anchor="t"/>
          <a:lstStyle/>
          <a:p>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Coordinator mode: </a:t>
            </a:r>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one leader + multiple workers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Communication via mailbox pattern with atomic claim resolution.</a:t>
            </a:r>
            <a:endParaRPr lang="en-US" sz="1800" dirty="0"/>
          </a:p>
        </p:txBody>
      </p:sp>
      <p:sp>
        <p:nvSpPr>
          <p:cNvPr id="6" name="Text 4"/>
          <p:cNvSpPr/>
          <p:nvPr/>
        </p:nvSpPr>
        <p:spPr>
          <a:xfrm>
            <a:off x="762000" y="2159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Worker Approval Flow</a:t>
            </a:r>
            <a:endParaRPr lang="en-US" sz="2200" dirty="0"/>
          </a:p>
        </p:txBody>
      </p:sp>
      <p:sp>
        <p:nvSpPr>
          <p:cNvPr id="7" name="Shape 5"/>
          <p:cNvSpPr/>
          <p:nvPr/>
        </p:nvSpPr>
        <p:spPr>
          <a:xfrm>
            <a:off x="762000" y="2641600"/>
            <a:ext cx="14732000" cy="1651000"/>
          </a:xfrm>
          <a:prstGeom prst="roundRect">
            <a:avLst>
              <a:gd name="adj" fmla="val 4000"/>
            </a:avLst>
          </a:prstGeom>
          <a:solidFill>
            <a:srgbClr val="161618"/>
          </a:solidFill>
          <a:ln/>
        </p:spPr>
      </p:sp>
      <p:sp>
        <p:nvSpPr>
          <p:cNvPr id="8" name="Text 6"/>
          <p:cNvSpPr/>
          <p:nvPr/>
        </p:nvSpPr>
        <p:spPr>
          <a:xfrm>
            <a:off x="1016000" y="2743200"/>
            <a:ext cx="14224000" cy="1447800"/>
          </a:xfrm>
          <a:prstGeom prst="rect">
            <a:avLst/>
          </a:prstGeom>
          <a:noFill/>
          <a:ln/>
        </p:spPr>
        <p:txBody>
          <a:bodyPr wrap="square" lIns="0" tIns="0" rIns="0" bIns="0" rtlCol="0" anchor="t"/>
          <a:lstStyle/>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1.</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handleSwarmWorkerPermission() tries classifier auto-approval</a:t>
            </a:r>
            <a:endParaRPr lang="en-US" sz="1800" dirty="0"/>
          </a:p>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2.</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Failure → creates permission request → sends via </a:t>
            </a:r>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mailbox</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to leader</a:t>
            </a:r>
            <a:endParaRPr lang="en-US" sz="1800" dirty="0"/>
          </a:p>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3.</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Leader → useInboxPoller() → puts into ToolUseConfirmQueue</a:t>
            </a:r>
            <a:endParaRPr lang="en-US" sz="1800" dirty="0"/>
          </a:p>
          <a:p>
            <a:pPr>
              <a:lnSpc>
                <a:spcPct val="150000"/>
              </a:lnSpc>
            </a:pPr>
            <a:r>
              <a:rPr lang="en-US" sz="1500" dirty="0">
                <a:solidFill>
                  <a:srgbClr val="C4A265"/>
                </a:solidFill>
                <a:latin typeface="QuattrocentoSans" pitchFamily="34" charset="0"/>
                <a:ea typeface="QuattrocentoSans" pitchFamily="34" charset="-122"/>
                <a:cs typeface="QuattrocentoSans" pitchFamily="34" charset="-120"/>
              </a:rPr>
              <a:t>4.</a:t>
            </a:r>
            <a:pPr>
              <a:lnSpc>
                <a:spcPct val="150000"/>
              </a:lnSpc>
            </a:pPr>
            <a:r>
              <a:rPr lang="en-US" sz="1500" dirty="0">
                <a:solidFill>
                  <a:srgbClr val="E8DCC8"/>
                </a:solidFill>
                <a:latin typeface="QuattrocentoSans" pitchFamily="34" charset="0"/>
                <a:ea typeface="QuattrocentoSans" pitchFamily="34" charset="-122"/>
                <a:cs typeface="QuattrocentoSans" pitchFamily="34" charset="-120"/>
              </a:rPr>
              <a:t> Same approval UI as local → sends result back to worker</a:t>
            </a:r>
            <a:endParaRPr lang="en-US" sz="1800" dirty="0"/>
          </a:p>
        </p:txBody>
      </p:sp>
      <p:sp>
        <p:nvSpPr>
          <p:cNvPr id="9" name="Text 7"/>
          <p:cNvSpPr/>
          <p:nvPr/>
        </p:nvSpPr>
        <p:spPr>
          <a:xfrm>
            <a:off x="762000" y="4572000"/>
            <a:ext cx="6350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Atomic Claim: Competitive Resolution</a:t>
            </a:r>
            <a:endParaRPr lang="en-US" sz="2200" dirty="0"/>
          </a:p>
        </p:txBody>
      </p:sp>
      <p:sp>
        <p:nvSpPr>
          <p:cNvPr id="10" name="Shape 8"/>
          <p:cNvSpPr/>
          <p:nvPr/>
        </p:nvSpPr>
        <p:spPr>
          <a:xfrm>
            <a:off x="762000" y="5054600"/>
            <a:ext cx="14732000" cy="1371600"/>
          </a:xfrm>
          <a:prstGeom prst="roundRect">
            <a:avLst>
              <a:gd name="adj" fmla="val 4000"/>
            </a:avLst>
          </a:prstGeom>
          <a:solidFill>
            <a:srgbClr val="161618"/>
          </a:solidFill>
          <a:ln/>
        </p:spPr>
      </p:sp>
      <p:sp>
        <p:nvSpPr>
          <p:cNvPr id="11" name="Text 9"/>
          <p:cNvSpPr/>
          <p:nvPr/>
        </p:nvSpPr>
        <p:spPr>
          <a:xfrm>
            <a:off x="1016000" y="5156200"/>
            <a:ext cx="14224000" cy="1219200"/>
          </a:xfrm>
          <a:prstGeom prst="rect">
            <a:avLst/>
          </a:prstGeom>
          <a:noFill/>
          <a:ln/>
        </p:spPr>
        <p:txBody>
          <a:bodyPr wrap="square" lIns="0" tIns="0" rIns="0" bIns="0" rtlCol="0" anchor="t"/>
          <a:lstStyle/>
          <a:p>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createResolveOnce()</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provides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claim()</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 "atomically check-and-mark as resolved"</a:t>
            </a:r>
            <a:endParaRPr lang="en-US" sz="1800" dirty="0"/>
          </a:p>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Worker mailbox callback executes claim() at onAllow/onReject/abort</a:t>
            </a:r>
            <a:endParaRPr lang="en-US" sz="1800" dirty="0"/>
          </a:p>
          <a:p>
            <a:pPr>
              <a:lnSpc>
                <a:spcPct val="150000"/>
              </a:lnSpc>
            </a:pPr>
            <a:r>
              <a:rPr lang="en-US" sz="1600" b="1" dirty="0">
                <a:solidFill>
                  <a:srgbClr val="E8DCC8"/>
                </a:solidFill>
                <a:latin typeface="QuattrocentoSans" pitchFamily="34" charset="0"/>
                <a:ea typeface="QuattrocentoSans" pitchFamily="34" charset="-122"/>
                <a:cs typeface="QuattrocentoSans" pitchFamily="34" charset="-120"/>
              </a:rPr>
              <a:t>First resolver wins</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 local UI, coordinator, worker mailbox, channel relay, classifier all participate, but claim() converges to single result</a:t>
            </a:r>
            <a:endParaRPr lang="en-US" sz="1800" dirty="0"/>
          </a:p>
        </p:txBody>
      </p:sp>
      <p:sp>
        <p:nvSpPr>
          <p:cNvPr id="12" name="Shape 10"/>
          <p:cNvSpPr/>
          <p:nvPr/>
        </p:nvSpPr>
        <p:spPr>
          <a:xfrm>
            <a:off x="762000" y="6794500"/>
            <a:ext cx="50800" cy="889000"/>
          </a:xfrm>
          <a:prstGeom prst="rect">
            <a:avLst/>
          </a:prstGeom>
          <a:solidFill>
            <a:srgbClr val="C4A265"/>
          </a:solidFill>
          <a:ln/>
        </p:spPr>
      </p:sp>
      <p:sp>
        <p:nvSpPr>
          <p:cNvPr id="13" name="Text 11"/>
          <p:cNvSpPr/>
          <p:nvPr/>
        </p:nvSpPr>
        <p:spPr>
          <a:xfrm>
            <a:off x="1016000" y="6794500"/>
            <a:ext cx="14224000" cy="889000"/>
          </a:xfrm>
          <a:prstGeom prst="rect">
            <a:avLst/>
          </a:prstGeom>
          <a:noFill/>
          <a:ln/>
        </p:spPr>
        <p:txBody>
          <a:bodyPr wrap="square" lIns="0" tIns="0" rIns="0" bIns="0" rtlCol="0" anchor="ctr"/>
          <a:lstStyle/>
          <a:p>
            <a:pPr>
              <a:lnSpc>
                <a:spcPct val="160000"/>
              </a:lnSpc>
            </a:pPr>
            <a:r>
              <a:rPr lang="en-US" sz="1700" b="1" dirty="0">
                <a:solidFill>
                  <a:srgbClr val="E8DCC8"/>
                </a:solidFill>
                <a:latin typeface="QuattrocentoSans" pitchFamily="34" charset="0"/>
                <a:ea typeface="QuattrocentoSans" pitchFamily="34" charset="-122"/>
                <a:cs typeface="QuattrocentoSans" pitchFamily="34" charset="-120"/>
              </a:rPr>
              <a:t>Design Insight:</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mailbox pattern decouples worker execution from leader approval. Atomic claim prevents race conditions in parallel multi-agent execution. This is a competitive resolution system — many can propose, but only one resolves.</a:t>
            </a:r>
            <a:endParaRPr lang="en-US" sz="1800" dirty="0"/>
          </a:p>
        </p:txBody>
      </p:sp>
      <p:sp>
        <p:nvSpPr>
          <p:cNvPr id="14" name="Shape 12"/>
          <p:cNvSpPr/>
          <p:nvPr/>
        </p:nvSpPr>
        <p:spPr>
          <a:xfrm>
            <a:off x="762000" y="8636000"/>
            <a:ext cx="14732000" cy="12700"/>
          </a:xfrm>
          <a:prstGeom prst="rect">
            <a:avLst/>
          </a:prstGeom>
          <a:solidFill>
            <a:srgbClr val="3A3A3E"/>
          </a:solidFill>
          <a:ln/>
        </p:spPr>
      </p:sp>
      <p:sp>
        <p:nvSpPr>
          <p:cNvPr id="15" name="Text 13"/>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src/hooks/toolPermission/handlers/swarmWorkerHandler.ts, src/utils/swarm/permissionSync.ts</a:t>
            </a:r>
            <a:endParaRPr lang="en-US" sz="1300" dirty="0"/>
          </a:p>
        </p:txBody>
      </p:sp>
    </p:spTree>
  </p:cSld>
  <p:clrMapOvr>
    <a:masterClrMapping/>
  </p:clrMapOvr>
  <p:transition>
    <p:fade/>
    <p:spd val="med"/>
  </p:transition>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1016000"/>
            <a:ext cx="5080000" cy="1778000"/>
          </a:xfrm>
          <a:prstGeom prst="rect">
            <a:avLst/>
          </a:prstGeom>
          <a:noFill/>
          <a:ln/>
        </p:spPr>
        <p:txBody>
          <a:bodyPr wrap="none" lIns="0" tIns="0" rIns="0" bIns="0" rtlCol="0" anchor="t"/>
          <a:lstStyle/>
          <a:p>
            <a:pPr>
              <a:lnSpc>
                <a:spcPct val="100000"/>
              </a:lnSpc>
            </a:pPr>
            <a:r>
              <a:rPr lang="en-US" sz="12000" dirty="0">
                <a:solidFill>
                  <a:srgbClr val="C4A265">
                    <a:alpha val="12549"/>
                  </a:srgbClr>
                </a:solidFill>
                <a:latin typeface="Liter" pitchFamily="34" charset="0"/>
                <a:ea typeface="Liter" pitchFamily="34" charset="-122"/>
                <a:cs typeface="Liter" pitchFamily="34" charset="-120"/>
              </a:rPr>
              <a:t>11</a:t>
            </a:r>
            <a:endParaRPr lang="en-US" sz="12000" dirty="0"/>
          </a:p>
        </p:txBody>
      </p:sp>
      <p:sp>
        <p:nvSpPr>
          <p:cNvPr id="3" name="Text 1"/>
          <p:cNvSpPr/>
          <p:nvPr/>
        </p:nvSpPr>
        <p:spPr>
          <a:xfrm>
            <a:off x="762000" y="3048000"/>
            <a:ext cx="3810000" cy="254000"/>
          </a:xfrm>
          <a:prstGeom prst="rect">
            <a:avLst/>
          </a:prstGeom>
          <a:noFill/>
          <a:ln/>
        </p:spPr>
        <p:txBody>
          <a:bodyPr wrap="none" lIns="0" tIns="0" rIns="0" bIns="0" rtlCol="0" anchor="ctr"/>
          <a:lstStyle/>
          <a:p>
            <a:pPr>
              <a:lnSpc>
                <a:spcPct val="130000"/>
              </a:lnSpc>
            </a:pPr>
            <a:r>
              <a:rPr lang="en-US" sz="1200" spc="300" kern="0" dirty="0">
                <a:solidFill>
                  <a:srgbClr val="9A9590"/>
                </a:solidFill>
                <a:latin typeface="Liter" pitchFamily="34" charset="0"/>
                <a:ea typeface="Liter" pitchFamily="34" charset="-122"/>
                <a:cs typeface="Liter" pitchFamily="34" charset="-120"/>
              </a:rPr>
              <a:t>CHAPTER ELEVEN</a:t>
            </a:r>
            <a:endParaRPr lang="en-US" sz="1200" dirty="0"/>
          </a:p>
        </p:txBody>
      </p:sp>
      <p:sp>
        <p:nvSpPr>
          <p:cNvPr id="4" name="Shape 2"/>
          <p:cNvSpPr/>
          <p:nvPr/>
        </p:nvSpPr>
        <p:spPr>
          <a:xfrm>
            <a:off x="762000" y="3492500"/>
            <a:ext cx="1016000" cy="38100"/>
          </a:xfrm>
          <a:prstGeom prst="rect">
            <a:avLst/>
          </a:prstGeom>
          <a:solidFill>
            <a:srgbClr val="C4A265"/>
          </a:solidFill>
          <a:ln/>
        </p:spPr>
      </p:sp>
      <p:sp>
        <p:nvSpPr>
          <p:cNvPr id="5" name="Text 3"/>
          <p:cNvSpPr/>
          <p:nvPr/>
        </p:nvSpPr>
        <p:spPr>
          <a:xfrm>
            <a:off x="762000" y="3810000"/>
            <a:ext cx="11430000" cy="635000"/>
          </a:xfrm>
          <a:prstGeom prst="rect">
            <a:avLst/>
          </a:prstGeom>
          <a:noFill/>
          <a:ln/>
        </p:spPr>
        <p:txBody>
          <a:bodyPr wrap="none" lIns="0" tIns="0" rIns="0" bIns="0" rtlCol="0" anchor="ctr"/>
          <a:lstStyle/>
          <a:p>
            <a:pPr>
              <a:lnSpc>
                <a:spcPct val="120000"/>
              </a:lnSpc>
            </a:pPr>
            <a:r>
              <a:rPr lang="en-US" sz="3800" b="1" dirty="0">
                <a:solidFill>
                  <a:srgbClr val="E8DCC8"/>
                </a:solidFill>
                <a:latin typeface="Liter" pitchFamily="34" charset="0"/>
                <a:ea typeface="Liter" pitchFamily="34" charset="-122"/>
                <a:cs typeface="Liter" pitchFamily="34" charset="-120"/>
              </a:rPr>
              <a:t>Design Philosophy &amp; Takeaways</a:t>
            </a:r>
            <a:endParaRPr lang="en-US" sz="3800" dirty="0"/>
          </a:p>
        </p:txBody>
      </p:sp>
      <p:sp>
        <p:nvSpPr>
          <p:cNvPr id="6" name="Text 4"/>
          <p:cNvSpPr/>
          <p:nvPr/>
        </p:nvSpPr>
        <p:spPr>
          <a:xfrm>
            <a:off x="762000" y="4699000"/>
            <a:ext cx="11430000" cy="1016000"/>
          </a:xfrm>
          <a:prstGeom prst="rect">
            <a:avLst/>
          </a:prstGeom>
          <a:noFill/>
          <a:ln/>
        </p:spPr>
        <p:txBody>
          <a:bodyPr wrap="square" lIns="0" tIns="0" rIns="0" bIns="0" rtlCol="0" anchor="t"/>
          <a:lstStyle/>
          <a:p>
            <a:pPr>
              <a:lnSpc>
                <a:spcPct val="140000"/>
              </a:lnSpc>
            </a:pPr>
            <a:r>
              <a:rPr lang="en-US" sz="2200" dirty="0">
                <a:solidFill>
                  <a:srgbClr val="9A9590"/>
                </a:solidFill>
                <a:latin typeface="QuattrocentoSans" pitchFamily="34" charset="0"/>
                <a:ea typeface="QuattrocentoSans" pitchFamily="34" charset="-122"/>
                <a:cs typeface="QuattrocentoSans" pitchFamily="34" charset="-120"/>
              </a:rPr>
              <a:t>Three design principles worth migrating to any agent system</a:t>
            </a:r>
            <a:endParaRPr lang="en-US" sz="22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11 DESIGN PHILOSOPHY</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Three Principles Worth Migrating</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Shape 3"/>
          <p:cNvSpPr/>
          <p:nvPr/>
        </p:nvSpPr>
        <p:spPr>
          <a:xfrm>
            <a:off x="762000" y="1524000"/>
            <a:ext cx="14732000" cy="2032000"/>
          </a:xfrm>
          <a:prstGeom prst="roundRect">
            <a:avLst>
              <a:gd name="adj" fmla="val 4000"/>
            </a:avLst>
          </a:prstGeom>
          <a:solidFill>
            <a:srgbClr val="161618"/>
          </a:solidFill>
          <a:ln/>
        </p:spPr>
      </p:sp>
      <p:sp>
        <p:nvSpPr>
          <p:cNvPr id="6" name="Text 4"/>
          <p:cNvSpPr/>
          <p:nvPr/>
        </p:nvSpPr>
        <p:spPr>
          <a:xfrm>
            <a:off x="1016000" y="1625600"/>
            <a:ext cx="1524000" cy="3556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PRINCIPLE 1</a:t>
            </a:r>
            <a:endParaRPr lang="en-US" sz="1600" dirty="0"/>
          </a:p>
        </p:txBody>
      </p:sp>
      <p:sp>
        <p:nvSpPr>
          <p:cNvPr id="7" name="Text 5"/>
          <p:cNvSpPr/>
          <p:nvPr/>
        </p:nvSpPr>
        <p:spPr>
          <a:xfrm>
            <a:off x="1016000" y="2006600"/>
            <a:ext cx="14224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Make recovery a state machine migration, not a temporary patch</a:t>
            </a:r>
            <a:endParaRPr lang="en-US" sz="2200" dirty="0"/>
          </a:p>
        </p:txBody>
      </p:sp>
      <p:sp>
        <p:nvSpPr>
          <p:cNvPr id="8" name="Text 6"/>
          <p:cNvSpPr/>
          <p:nvPr/>
        </p:nvSpPr>
        <p:spPr>
          <a:xfrm>
            <a:off x="1016000" y="2413000"/>
            <a:ext cx="14224000" cy="9652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Fallback, compact, abort, tool failure are not bypass logic — they are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parts of the main loop</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Every recovery path has clear entry/exit conditions and state cleanup guarantees. The state machine doesn't "recover and forget" — it recovers and continues with full context.</a:t>
            </a:r>
            <a:endParaRPr lang="en-US" sz="1800" dirty="0"/>
          </a:p>
        </p:txBody>
      </p:sp>
      <p:sp>
        <p:nvSpPr>
          <p:cNvPr id="9" name="Shape 7"/>
          <p:cNvSpPr/>
          <p:nvPr/>
        </p:nvSpPr>
        <p:spPr>
          <a:xfrm>
            <a:off x="762000" y="3784600"/>
            <a:ext cx="14732000" cy="2032000"/>
          </a:xfrm>
          <a:prstGeom prst="roundRect">
            <a:avLst>
              <a:gd name="adj" fmla="val 4000"/>
            </a:avLst>
          </a:prstGeom>
          <a:solidFill>
            <a:srgbClr val="161618"/>
          </a:solidFill>
          <a:ln/>
        </p:spPr>
      </p:sp>
      <p:sp>
        <p:nvSpPr>
          <p:cNvPr id="10" name="Text 8"/>
          <p:cNvSpPr/>
          <p:nvPr/>
        </p:nvSpPr>
        <p:spPr>
          <a:xfrm>
            <a:off x="1016000" y="3886200"/>
            <a:ext cx="1524000" cy="3556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PRINCIPLE 2</a:t>
            </a:r>
            <a:endParaRPr lang="en-US" sz="1600" dirty="0"/>
          </a:p>
        </p:txBody>
      </p:sp>
      <p:sp>
        <p:nvSpPr>
          <p:cNvPr id="11" name="Text 9"/>
          <p:cNvSpPr/>
          <p:nvPr/>
        </p:nvSpPr>
        <p:spPr>
          <a:xfrm>
            <a:off x="1016000" y="4267200"/>
            <a:ext cx="14224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Encode errors as part of message flow</a:t>
            </a:r>
            <a:endParaRPr lang="en-US" sz="2200" dirty="0"/>
          </a:p>
        </p:txBody>
      </p:sp>
      <p:sp>
        <p:nvSpPr>
          <p:cNvPr id="12" name="Text 10"/>
          <p:cNvSpPr/>
          <p:nvPr/>
        </p:nvSpPr>
        <p:spPr>
          <a:xfrm>
            <a:off x="1016000" y="4673600"/>
            <a:ext cx="14224000" cy="9652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tool_result(is_error), withheld API error, api_retry system message, compact boundary — all are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structured events</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that both model and SDK can understand. Errors become observable results, not termination signals. The trajectory remains coherent even when things go wrong.</a:t>
            </a:r>
            <a:endParaRPr lang="en-US" sz="1800" dirty="0"/>
          </a:p>
        </p:txBody>
      </p:sp>
      <p:sp>
        <p:nvSpPr>
          <p:cNvPr id="13" name="Shape 11"/>
          <p:cNvSpPr/>
          <p:nvPr/>
        </p:nvSpPr>
        <p:spPr>
          <a:xfrm>
            <a:off x="762000" y="6045200"/>
            <a:ext cx="14732000" cy="2032000"/>
          </a:xfrm>
          <a:prstGeom prst="roundRect">
            <a:avLst>
              <a:gd name="adj" fmla="val 4000"/>
            </a:avLst>
          </a:prstGeom>
          <a:solidFill>
            <a:srgbClr val="161618"/>
          </a:solidFill>
          <a:ln/>
        </p:spPr>
      </p:sp>
      <p:sp>
        <p:nvSpPr>
          <p:cNvPr id="14" name="Text 12"/>
          <p:cNvSpPr/>
          <p:nvPr/>
        </p:nvSpPr>
        <p:spPr>
          <a:xfrm>
            <a:off x="1016000" y="6146800"/>
            <a:ext cx="1524000" cy="355600"/>
          </a:xfrm>
          <a:prstGeom prst="rect">
            <a:avLst/>
          </a:prstGeom>
          <a:noFill/>
          <a:ln/>
        </p:spPr>
        <p:txBody>
          <a:bodyPr wrap="none" lIns="0" tIns="0" rIns="0" bIns="0" rtlCol="0" anchor="ctr"/>
          <a:lstStyle/>
          <a:p>
            <a:pPr>
              <a:lnSpc>
                <a:spcPct val="100000"/>
              </a:lnSpc>
            </a:pPr>
            <a:r>
              <a:rPr lang="en-US" sz="1400" b="1" dirty="0">
                <a:solidFill>
                  <a:srgbClr val="C4A265"/>
                </a:solidFill>
                <a:latin typeface="Liter" pitchFamily="34" charset="0"/>
                <a:ea typeface="Liter" pitchFamily="34" charset="-122"/>
                <a:cs typeface="Liter" pitchFamily="34" charset="-120"/>
              </a:rPr>
              <a:t>PRINCIPLE 3</a:t>
            </a:r>
            <a:endParaRPr lang="en-US" sz="1600" dirty="0"/>
          </a:p>
        </p:txBody>
      </p:sp>
      <p:sp>
        <p:nvSpPr>
          <p:cNvPr id="15" name="Text 13"/>
          <p:cNvSpPr/>
          <p:nvPr/>
        </p:nvSpPr>
        <p:spPr>
          <a:xfrm>
            <a:off x="1016000" y="6527800"/>
            <a:ext cx="14224000" cy="355600"/>
          </a:xfrm>
          <a:prstGeom prst="rect">
            <a:avLst/>
          </a:prstGeom>
          <a:noFill/>
          <a:ln/>
        </p:spPr>
        <p:txBody>
          <a:bodyPr wrap="none" lIns="0" tIns="0" rIns="0" bIns="0" rtlCol="0" anchor="ctr"/>
          <a:lstStyle/>
          <a:p>
            <a:pPr>
              <a:lnSpc>
                <a:spcPct val="130000"/>
              </a:lnSpc>
            </a:pPr>
            <a:r>
              <a:rPr lang="en-US" sz="2000" b="1" dirty="0">
                <a:solidFill>
                  <a:srgbClr val="E8DCC8"/>
                </a:solidFill>
                <a:latin typeface="Liter" pitchFamily="34" charset="0"/>
                <a:ea typeface="Liter" pitchFamily="34" charset="-122"/>
                <a:cs typeface="Liter" pitchFamily="34" charset="-120"/>
              </a:rPr>
              <a:t>Trajectory self-consistency over local optimum</a:t>
            </a:r>
            <a:endParaRPr lang="en-US" sz="2200" dirty="0"/>
          </a:p>
        </p:txBody>
      </p:sp>
      <p:sp>
        <p:nvSpPr>
          <p:cNvPr id="16" name="Text 14"/>
          <p:cNvSpPr/>
          <p:nvPr/>
        </p:nvSpPr>
        <p:spPr>
          <a:xfrm>
            <a:off x="1016000" y="6934200"/>
            <a:ext cx="14224000" cy="965200"/>
          </a:xfrm>
          <a:prstGeom prst="rect">
            <a:avLst/>
          </a:prstGeom>
          <a:noFill/>
          <a:ln/>
        </p:spPr>
        <p:txBody>
          <a:bodyPr wrap="square" lIns="0" tIns="0" rIns="0" bIns="0" rtlCol="0" anchor="t"/>
          <a:lstStyle/>
          <a:p>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No orphan tool_use, no out-of-order contextModifier, no broken message chains after compact, no inconsistency between transcript disk write and final stop_reason. The system </a:t>
            </a:r>
            <a:pPr>
              <a:lnSpc>
                <a:spcPct val="150000"/>
              </a:lnSpc>
            </a:pPr>
            <a:r>
              <a:rPr lang="en-US" sz="1600" dirty="0">
                <a:solidFill>
                  <a:srgbClr val="C4A265"/>
                </a:solidFill>
                <a:latin typeface="QuattrocentoSans" pitchFamily="34" charset="0"/>
                <a:ea typeface="QuattrocentoSans" pitchFamily="34" charset="-122"/>
                <a:cs typeface="QuattrocentoSans" pitchFamily="34" charset="-120"/>
              </a:rPr>
              <a:t>prioritizes maintaining a coherent agent trajectory</a:t>
            </a:r>
            <a:pPr>
              <a:lnSpc>
                <a:spcPct val="150000"/>
              </a:lnSpc>
            </a:pPr>
            <a:r>
              <a:rPr lang="en-US" sz="1600" dirty="0">
                <a:solidFill>
                  <a:srgbClr val="E8DCC8"/>
                </a:solidFill>
                <a:latin typeface="QuattrocentoSans" pitchFamily="34" charset="0"/>
                <a:ea typeface="QuattrocentoSans" pitchFamily="34" charset="-122"/>
                <a:cs typeface="QuattrocentoSans" pitchFamily="34" charset="-120"/>
              </a:rPr>
              <a:t> over any single optimization.</a:t>
            </a:r>
            <a:endParaRPr lang="en-US" sz="1800" dirty="0"/>
          </a:p>
        </p:txBody>
      </p:sp>
      <p:sp>
        <p:nvSpPr>
          <p:cNvPr id="17" name="Shape 15"/>
          <p:cNvSpPr/>
          <p:nvPr/>
        </p:nvSpPr>
        <p:spPr>
          <a:xfrm>
            <a:off x="762000" y="8636000"/>
            <a:ext cx="14732000" cy="12700"/>
          </a:xfrm>
          <a:prstGeom prst="rect">
            <a:avLst/>
          </a:prstGeom>
          <a:solidFill>
            <a:srgbClr val="3A3A3E"/>
          </a:solidFill>
          <a:ln/>
        </p:spPr>
      </p:sp>
      <p:sp>
        <p:nvSpPr>
          <p:cNvPr id="18" name="Text 16"/>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Entire codebase analysis</a:t>
            </a:r>
            <a:endParaRPr lang="en-US" sz="1300" dirty="0"/>
          </a:p>
        </p:txBody>
      </p:sp>
    </p:spTree>
  </p:cSld>
  <p:clrMapOvr>
    <a:masterClrMapping/>
  </p:clrMapOvr>
  <p:transition>
    <p:fade/>
    <p:spd val="med"/>
  </p:transition>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D0D0F"/>
        </a:solidFill>
      </p:bgPr>
    </p:bg>
    <p:spTree>
      <p:nvGrpSpPr>
        <p:cNvPr id="1" name=""/>
        <p:cNvGrpSpPr/>
        <p:nvPr/>
      </p:nvGrpSpPr>
      <p:grpSpPr>
        <a:xfrm>
          <a:off x="0" y="0"/>
          <a:ext cx="0" cy="0"/>
          <a:chOff x="0" y="0"/>
          <a:chExt cx="0" cy="0"/>
        </a:xfrm>
      </p:grpSpPr>
      <p:sp>
        <p:nvSpPr>
          <p:cNvPr id="2" name="Text 0"/>
          <p:cNvSpPr/>
          <p:nvPr/>
        </p:nvSpPr>
        <p:spPr>
          <a:xfrm>
            <a:off x="762000" y="381000"/>
            <a:ext cx="5080000" cy="228600"/>
          </a:xfrm>
          <a:prstGeom prst="rect">
            <a:avLst/>
          </a:prstGeom>
          <a:noFill/>
          <a:ln/>
        </p:spPr>
        <p:txBody>
          <a:bodyPr wrap="none" lIns="0" tIns="0" rIns="0" bIns="0" rtlCol="0" anchor="ctr"/>
          <a:lstStyle/>
          <a:p>
            <a:pPr>
              <a:lnSpc>
                <a:spcPct val="130000"/>
              </a:lnSpc>
            </a:pPr>
            <a:r>
              <a:rPr lang="en-US" sz="1200" spc="100" kern="0" dirty="0">
                <a:solidFill>
                  <a:srgbClr val="9A9590"/>
                </a:solidFill>
                <a:latin typeface="Liter" pitchFamily="34" charset="0"/>
                <a:ea typeface="Liter" pitchFamily="34" charset="-122"/>
                <a:cs typeface="Liter" pitchFamily="34" charset="-120"/>
              </a:rPr>
              <a:t>11 DESIGN PHILOSOPHY</a:t>
            </a:r>
            <a:endParaRPr lang="en-US" sz="1200" dirty="0"/>
          </a:p>
        </p:txBody>
      </p:sp>
      <p:sp>
        <p:nvSpPr>
          <p:cNvPr id="3" name="Text 1"/>
          <p:cNvSpPr/>
          <p:nvPr/>
        </p:nvSpPr>
        <p:spPr>
          <a:xfrm>
            <a:off x="762000" y="698500"/>
            <a:ext cx="11430000" cy="482600"/>
          </a:xfrm>
          <a:prstGeom prst="rect">
            <a:avLst/>
          </a:prstGeom>
          <a:noFill/>
          <a:ln/>
        </p:spPr>
        <p:txBody>
          <a:bodyPr wrap="none" lIns="0" tIns="0" rIns="0" bIns="0" rtlCol="0" anchor="ctr"/>
          <a:lstStyle/>
          <a:p>
            <a:pPr>
              <a:lnSpc>
                <a:spcPct val="130000"/>
              </a:lnSpc>
            </a:pPr>
            <a:r>
              <a:rPr lang="en-US" sz="2800" b="1" dirty="0">
                <a:solidFill>
                  <a:srgbClr val="E8DCC8"/>
                </a:solidFill>
                <a:latin typeface="Liter" pitchFamily="34" charset="0"/>
                <a:ea typeface="Liter" pitchFamily="34" charset="-122"/>
                <a:cs typeface="Liter" pitchFamily="34" charset="-120"/>
              </a:rPr>
              <a:t>Architecture Trade-offs: Gains and Losses</a:t>
            </a:r>
            <a:endParaRPr lang="en-US" sz="2800" dirty="0"/>
          </a:p>
        </p:txBody>
      </p:sp>
      <p:sp>
        <p:nvSpPr>
          <p:cNvPr id="4" name="Shape 2"/>
          <p:cNvSpPr/>
          <p:nvPr/>
        </p:nvSpPr>
        <p:spPr>
          <a:xfrm>
            <a:off x="762000" y="1270000"/>
            <a:ext cx="14732000" cy="12700"/>
          </a:xfrm>
          <a:prstGeom prst="rect">
            <a:avLst/>
          </a:prstGeom>
          <a:solidFill>
            <a:srgbClr val="3A3A3E"/>
          </a:solidFill>
          <a:ln/>
        </p:spPr>
      </p:sp>
      <p:sp>
        <p:nvSpPr>
          <p:cNvPr id="5" name="Text 3"/>
          <p:cNvSpPr/>
          <p:nvPr/>
        </p:nvSpPr>
        <p:spPr>
          <a:xfrm>
            <a:off x="762000" y="1460500"/>
            <a:ext cx="5080000" cy="355600"/>
          </a:xfrm>
          <a:prstGeom prst="rect">
            <a:avLst/>
          </a:prstGeom>
          <a:noFill/>
          <a:ln/>
        </p:spPr>
        <p:txBody>
          <a:bodyPr wrap="none" lIns="0" tIns="0" rIns="0" bIns="0" rtlCol="0" anchor="ctr"/>
          <a:lstStyle/>
          <a:p>
            <a:pPr>
              <a:lnSpc>
                <a:spcPct val="130000"/>
              </a:lnSpc>
            </a:pPr>
            <a:r>
              <a:rPr lang="en-US" sz="2000" b="1" dirty="0">
                <a:solidFill>
                  <a:srgbClr val="8FBC8F"/>
                </a:solidFill>
                <a:latin typeface="Liter" pitchFamily="34" charset="0"/>
                <a:ea typeface="Liter" pitchFamily="34" charset="-122"/>
                <a:cs typeface="Liter" pitchFamily="34" charset="-120"/>
              </a:rPr>
              <a:t>What We Gain</a:t>
            </a:r>
            <a:endParaRPr lang="en-US" sz="2200" dirty="0"/>
          </a:p>
        </p:txBody>
      </p:sp>
      <p:sp>
        <p:nvSpPr>
          <p:cNvPr id="6" name="Shape 4"/>
          <p:cNvSpPr/>
          <p:nvPr/>
        </p:nvSpPr>
        <p:spPr>
          <a:xfrm>
            <a:off x="762000" y="1905000"/>
            <a:ext cx="7112000" cy="3937000"/>
          </a:xfrm>
          <a:prstGeom prst="roundRect">
            <a:avLst>
              <a:gd name="adj" fmla="val 4000"/>
            </a:avLst>
          </a:prstGeom>
          <a:solidFill>
            <a:srgbClr val="161618"/>
          </a:solidFill>
          <a:ln/>
        </p:spPr>
      </p:sp>
      <p:sp>
        <p:nvSpPr>
          <p:cNvPr id="7" name="Text 5"/>
          <p:cNvSpPr/>
          <p:nvPr/>
        </p:nvSpPr>
        <p:spPr>
          <a:xfrm>
            <a:off x="1016000" y="2032000"/>
            <a:ext cx="6604000" cy="3683000"/>
          </a:xfrm>
          <a:prstGeom prst="rect">
            <a:avLst/>
          </a:prstGeom>
          <a:noFill/>
          <a:ln/>
        </p:spPr>
        <p:txBody>
          <a:bodyPr wrap="square" lIns="0" tIns="0" rIns="0" bIns="0" rtlCol="0" anchor="t"/>
          <a:lstStyle/>
          <a:p>
            <a:pPr>
              <a:lnSpc>
                <a:spcPct val="160000"/>
              </a:lnSpc>
            </a:pPr>
            <a:r>
              <a:rPr lang="en-US" sz="1500" b="1" dirty="0">
                <a:solidFill>
                  <a:srgbClr val="8FBC8F"/>
                </a:solidFill>
                <a:latin typeface="QuattrocentoSans" pitchFamily="34" charset="0"/>
                <a:ea typeface="QuattrocentoSans" pitchFamily="34" charset="-122"/>
                <a:cs typeface="QuattrocentoSans" pitchFamily="34" charset="-120"/>
              </a:rPr>
              <a:t>1. Extreme Resilience</a:t>
            </a:r>
            <a:pPr>
              <a:lnSpc>
                <a:spcPct val="160000"/>
              </a:lnSpc>
            </a:pPr>
            <a:r>
              <a:rPr lang="en-US" sz="1500" dirty="0">
                <a:solidFill>
                  <a:srgbClr val="E8DCC8"/>
                </a:solidFill>
                <a:latin typeface="QuattrocentoSans" pitchFamily="34" charset="0"/>
                <a:ea typeface="QuattrocentoSans" pitchFamily="34" charset="-122"/>
                <a:cs typeface="QuattrocentoSans" pitchFamily="34" charset="-120"/>
              </a:rPr>
              <a:t> — State machine absorbs failures into message flow</a:t>
            </a:r>
            <a:endParaRPr lang="en-US" sz="1800" dirty="0"/>
          </a:p>
          <a:p>
            <a:pPr>
              <a:lnSpc>
                <a:spcPct val="160000"/>
              </a:lnSpc>
            </a:pPr>
            <a:r>
              <a:rPr lang="en-US" sz="1500" b="1" dirty="0">
                <a:solidFill>
                  <a:srgbClr val="8FBC8F"/>
                </a:solidFill>
                <a:latin typeface="QuattrocentoSans" pitchFamily="34" charset="0"/>
                <a:ea typeface="QuattrocentoSans" pitchFamily="34" charset="-122"/>
                <a:cs typeface="QuattrocentoSans" pitchFamily="34" charset="-120"/>
              </a:rPr>
              <a:t>2. Clean Separation</a:t>
            </a:r>
            <a:pPr>
              <a:lnSpc>
                <a:spcPct val="160000"/>
              </a:lnSpc>
            </a:pPr>
            <a:r>
              <a:rPr lang="en-US" sz="1500" dirty="0">
                <a:solidFill>
                  <a:srgbClr val="E8DCC8"/>
                </a:solidFill>
                <a:latin typeface="QuattrocentoSans" pitchFamily="34" charset="0"/>
                <a:ea typeface="QuattrocentoSans" pitchFamily="34" charset="-122"/>
                <a:cs typeface="QuattrocentoSans" pitchFamily="34" charset="-120"/>
              </a:rPr>
              <a:t> — Each layer has single responsibility</a:t>
            </a:r>
            <a:endParaRPr lang="en-US" sz="1800" dirty="0"/>
          </a:p>
          <a:p>
            <a:pPr>
              <a:lnSpc>
                <a:spcPct val="160000"/>
              </a:lnSpc>
            </a:pPr>
            <a:r>
              <a:rPr lang="en-US" sz="1500" b="1" dirty="0">
                <a:solidFill>
                  <a:srgbClr val="8FBC8F"/>
                </a:solidFill>
                <a:latin typeface="QuattrocentoSans" pitchFamily="34" charset="0"/>
                <a:ea typeface="QuattrocentoSans" pitchFamily="34" charset="-122"/>
                <a:cs typeface="QuattrocentoSans" pitchFamily="34" charset="-120"/>
              </a:rPr>
              <a:t>3. Testability</a:t>
            </a:r>
            <a:pPr>
              <a:lnSpc>
                <a:spcPct val="160000"/>
              </a:lnSpc>
            </a:pPr>
            <a:r>
              <a:rPr lang="en-US" sz="1500" dirty="0">
                <a:solidFill>
                  <a:srgbClr val="E8DCC8"/>
                </a:solidFill>
                <a:latin typeface="QuattrocentoSans" pitchFamily="34" charset="0"/>
                <a:ea typeface="QuattrocentoSans" pitchFamily="34" charset="-122"/>
                <a:cs typeface="QuattrocentoSans" pitchFamily="34" charset="-120"/>
              </a:rPr>
              <a:t> — Dependency injection at every layer</a:t>
            </a:r>
            <a:endParaRPr lang="en-US" sz="1800" dirty="0"/>
          </a:p>
          <a:p>
            <a:pPr>
              <a:lnSpc>
                <a:spcPct val="160000"/>
              </a:lnSpc>
            </a:pPr>
            <a:r>
              <a:rPr lang="en-US" sz="1500" b="1" dirty="0">
                <a:solidFill>
                  <a:srgbClr val="8FBC8F"/>
                </a:solidFill>
                <a:latin typeface="QuattrocentoSans" pitchFamily="34" charset="0"/>
                <a:ea typeface="QuattrocentoSans" pitchFamily="34" charset="-122"/>
                <a:cs typeface="QuattrocentoSans" pitchFamily="34" charset="-120"/>
              </a:rPr>
              <a:t>4. Extensibility</a:t>
            </a:r>
            <a:pPr>
              <a:lnSpc>
                <a:spcPct val="160000"/>
              </a:lnSpc>
            </a:pPr>
            <a:r>
              <a:rPr lang="en-US" sz="1500" dirty="0">
                <a:solidFill>
                  <a:srgbClr val="E8DCC8"/>
                </a:solidFill>
                <a:latin typeface="QuattrocentoSans" pitchFamily="34" charset="0"/>
                <a:ea typeface="QuattrocentoSans" pitchFamily="34" charset="-122"/>
                <a:cs typeface="QuattrocentoSans" pitchFamily="34" charset="-120"/>
              </a:rPr>
              <a:t> — MCP, plugins, skills plug into same harness</a:t>
            </a:r>
            <a:endParaRPr lang="en-US" sz="1800" dirty="0"/>
          </a:p>
        </p:txBody>
      </p:sp>
      <p:sp>
        <p:nvSpPr>
          <p:cNvPr id="8" name="Text 6"/>
          <p:cNvSpPr/>
          <p:nvPr/>
        </p:nvSpPr>
        <p:spPr>
          <a:xfrm>
            <a:off x="8382000" y="1460500"/>
            <a:ext cx="5080000" cy="355600"/>
          </a:xfrm>
          <a:prstGeom prst="rect">
            <a:avLst/>
          </a:prstGeom>
          <a:noFill/>
          <a:ln/>
        </p:spPr>
        <p:txBody>
          <a:bodyPr wrap="none" lIns="0" tIns="0" rIns="0" bIns="0" rtlCol="0" anchor="ctr"/>
          <a:lstStyle/>
          <a:p>
            <a:pPr>
              <a:lnSpc>
                <a:spcPct val="130000"/>
              </a:lnSpc>
            </a:pPr>
            <a:r>
              <a:rPr lang="en-US" sz="2000" b="1" dirty="0">
                <a:solidFill>
                  <a:srgbClr val="CD5C5C"/>
                </a:solidFill>
                <a:latin typeface="Liter" pitchFamily="34" charset="0"/>
                <a:ea typeface="Liter" pitchFamily="34" charset="-122"/>
                <a:cs typeface="Liter" pitchFamily="34" charset="-120"/>
              </a:rPr>
              <a:t>What We Lose</a:t>
            </a:r>
            <a:endParaRPr lang="en-US" sz="2200" dirty="0"/>
          </a:p>
        </p:txBody>
      </p:sp>
      <p:sp>
        <p:nvSpPr>
          <p:cNvPr id="9" name="Shape 7"/>
          <p:cNvSpPr/>
          <p:nvPr/>
        </p:nvSpPr>
        <p:spPr>
          <a:xfrm>
            <a:off x="8382000" y="1905000"/>
            <a:ext cx="7112000" cy="3937000"/>
          </a:xfrm>
          <a:prstGeom prst="roundRect">
            <a:avLst>
              <a:gd name="adj" fmla="val 4000"/>
            </a:avLst>
          </a:prstGeom>
          <a:solidFill>
            <a:srgbClr val="161618"/>
          </a:solidFill>
          <a:ln/>
        </p:spPr>
      </p:sp>
      <p:sp>
        <p:nvSpPr>
          <p:cNvPr id="10" name="Text 8"/>
          <p:cNvSpPr/>
          <p:nvPr/>
        </p:nvSpPr>
        <p:spPr>
          <a:xfrm>
            <a:off x="8636000" y="2032000"/>
            <a:ext cx="6604000" cy="3683000"/>
          </a:xfrm>
          <a:prstGeom prst="rect">
            <a:avLst/>
          </a:prstGeom>
          <a:noFill/>
          <a:ln/>
        </p:spPr>
        <p:txBody>
          <a:bodyPr wrap="square" lIns="0" tIns="0" rIns="0" bIns="0" rtlCol="0" anchor="t"/>
          <a:lstStyle/>
          <a:p>
            <a:pPr>
              <a:lnSpc>
                <a:spcPct val="160000"/>
              </a:lnSpc>
            </a:pPr>
            <a:r>
              <a:rPr lang="en-US" sz="1500" b="1" dirty="0">
                <a:solidFill>
                  <a:srgbClr val="CD5C5C"/>
                </a:solidFill>
                <a:latin typeface="QuattrocentoSans" pitchFamily="34" charset="0"/>
                <a:ea typeface="QuattrocentoSans" pitchFamily="34" charset="-122"/>
                <a:cs typeface="QuattrocentoSans" pitchFamily="34" charset="-120"/>
              </a:rPr>
              <a:t>1. Complexity</a:t>
            </a:r>
            <a:pPr>
              <a:lnSpc>
                <a:spcPct val="160000"/>
              </a:lnSpc>
            </a:pPr>
            <a:r>
              <a:rPr lang="en-US" sz="1500" dirty="0">
                <a:solidFill>
                  <a:srgbClr val="E8DCC8"/>
                </a:solidFill>
                <a:latin typeface="QuattrocentoSans" pitchFamily="34" charset="0"/>
                <a:ea typeface="QuattrocentoSans" pitchFamily="34" charset="-122"/>
                <a:cs typeface="QuattrocentoSans" pitchFamily="34" charset="-120"/>
              </a:rPr>
              <a:t> — main.tsx, REPL.tsx, claude.ts are very large</a:t>
            </a:r>
            <a:endParaRPr lang="en-US" sz="1800" dirty="0"/>
          </a:p>
          <a:p>
            <a:pPr>
              <a:lnSpc>
                <a:spcPct val="160000"/>
              </a:lnSpc>
            </a:pPr>
            <a:r>
              <a:rPr lang="en-US" sz="1500" b="1" dirty="0">
                <a:solidFill>
                  <a:srgbClr val="CD5C5C"/>
                </a:solidFill>
                <a:latin typeface="QuattrocentoSans" pitchFamily="34" charset="0"/>
                <a:ea typeface="QuattrocentoSans" pitchFamily="34" charset="-122"/>
                <a:cs typeface="QuattrocentoSans" pitchFamily="34" charset="-120"/>
              </a:rPr>
              <a:t>2. Branch Complexity</a:t>
            </a:r>
            <a:pPr>
              <a:lnSpc>
                <a:spcPct val="160000"/>
              </a:lnSpc>
            </a:pPr>
            <a:r>
              <a:rPr lang="en-US" sz="1500" dirty="0">
                <a:solidFill>
                  <a:srgbClr val="E8DCC8"/>
                </a:solidFill>
                <a:latin typeface="QuattrocentoSans" pitchFamily="34" charset="0"/>
                <a:ea typeface="QuattrocentoSans" pitchFamily="34" charset="-122"/>
                <a:cs typeface="QuattrocentoSans" pitchFamily="34" charset="-120"/>
              </a:rPr>
              <a:t> — Feature flags + env + user-type + remote-mode</a:t>
            </a:r>
            <a:endParaRPr lang="en-US" sz="1800" dirty="0"/>
          </a:p>
          <a:p>
            <a:pPr>
              <a:lnSpc>
                <a:spcPct val="160000"/>
              </a:lnSpc>
            </a:pPr>
            <a:r>
              <a:rPr lang="en-US" sz="1500" b="1" dirty="0">
                <a:solidFill>
                  <a:srgbClr val="CD5C5C"/>
                </a:solidFill>
                <a:latin typeface="QuattrocentoSans" pitchFamily="34" charset="0"/>
                <a:ea typeface="QuattrocentoSans" pitchFamily="34" charset="-122"/>
                <a:cs typeface="QuattrocentoSans" pitchFamily="34" charset="-120"/>
              </a:rPr>
              <a:t>3. Global State Scope</a:t>
            </a:r>
            <a:pPr>
              <a:lnSpc>
                <a:spcPct val="160000"/>
              </a:lnSpc>
            </a:pPr>
            <a:r>
              <a:rPr lang="en-US" sz="1500" dirty="0">
                <a:solidFill>
                  <a:srgbClr val="E8DCC8"/>
                </a:solidFill>
                <a:latin typeface="QuattrocentoSans" pitchFamily="34" charset="0"/>
                <a:ea typeface="QuattrocentoSans" pitchFamily="34" charset="-122"/>
                <a:cs typeface="QuattrocentoSans" pitchFamily="34" charset="-120"/>
              </a:rPr>
              <a:t> — bootstrap/state.ts scope is very broad</a:t>
            </a:r>
            <a:endParaRPr lang="en-US" sz="1800" dirty="0"/>
          </a:p>
          <a:p>
            <a:pPr>
              <a:lnSpc>
                <a:spcPct val="160000"/>
              </a:lnSpc>
            </a:pPr>
            <a:r>
              <a:rPr lang="en-US" sz="1500" b="1" dirty="0">
                <a:solidFill>
                  <a:srgbClr val="CD5C5C"/>
                </a:solidFill>
                <a:latin typeface="QuattrocentoSans" pitchFamily="34" charset="0"/>
                <a:ea typeface="QuattrocentoSans" pitchFamily="34" charset="-122"/>
                <a:cs typeface="QuattrocentoSans" pitchFamily="34" charset="-120"/>
              </a:rPr>
              <a:t>4. Understanding Cost</a:t>
            </a:r>
            <a:pPr>
              <a:lnSpc>
                <a:spcPct val="160000"/>
              </a:lnSpc>
            </a:pPr>
            <a:r>
              <a:rPr lang="en-US" sz="1500" dirty="0">
                <a:solidFill>
                  <a:srgbClr val="E8DCC8"/>
                </a:solidFill>
                <a:latin typeface="QuattrocentoSans" pitchFamily="34" charset="0"/>
                <a:ea typeface="QuattrocentoSans" pitchFamily="34" charset="-122"/>
                <a:cs typeface="QuattrocentoSans" pitchFamily="34" charset="-120"/>
              </a:rPr>
              <a:t> — Three-layer state交叉 has high learning curve</a:t>
            </a:r>
            <a:endParaRPr lang="en-US" sz="1800" dirty="0"/>
          </a:p>
        </p:txBody>
      </p:sp>
      <p:sp>
        <p:nvSpPr>
          <p:cNvPr id="11" name="Shape 9"/>
          <p:cNvSpPr/>
          <p:nvPr/>
        </p:nvSpPr>
        <p:spPr>
          <a:xfrm>
            <a:off x="762000" y="6159500"/>
            <a:ext cx="14732000" cy="1016000"/>
          </a:xfrm>
          <a:prstGeom prst="roundRect">
            <a:avLst>
              <a:gd name="adj" fmla="val 4000"/>
            </a:avLst>
          </a:prstGeom>
          <a:solidFill>
            <a:srgbClr val="C4A265">
              <a:alpha val="12549"/>
            </a:srgbClr>
          </a:solidFill>
          <a:ln/>
        </p:spPr>
      </p:sp>
      <p:sp>
        <p:nvSpPr>
          <p:cNvPr id="12" name="Text 10"/>
          <p:cNvSpPr/>
          <p:nvPr/>
        </p:nvSpPr>
        <p:spPr>
          <a:xfrm>
            <a:off x="1016000" y="6261100"/>
            <a:ext cx="14224000" cy="812800"/>
          </a:xfrm>
          <a:prstGeom prst="rect">
            <a:avLst/>
          </a:prstGeom>
          <a:noFill/>
          <a:ln/>
        </p:spPr>
        <p:txBody>
          <a:bodyPr wrap="square" lIns="0" tIns="0" rIns="0" bIns="0" rtlCol="0" anchor="ctr"/>
          <a:lstStyle/>
          <a:p>
            <a:pPr>
              <a:lnSpc>
                <a:spcPct val="160000"/>
              </a:lnSpc>
            </a:pPr>
            <a:r>
              <a:rPr lang="en-US" sz="1700" b="1" dirty="0">
                <a:solidFill>
                  <a:srgbClr val="C4A265"/>
                </a:solidFill>
                <a:latin typeface="QuattrocentoSans" pitchFamily="34" charset="0"/>
                <a:ea typeface="QuattrocentoSans" pitchFamily="34" charset="-122"/>
                <a:cs typeface="QuattrocentoSans" pitchFamily="34" charset="-120"/>
              </a:rPr>
              <a:t>For teams building agent systems:</a:t>
            </a:r>
            <a:pPr>
              <a:lnSpc>
                <a:spcPct val="160000"/>
              </a:lnSpc>
            </a:pPr>
            <a:r>
              <a:rPr lang="en-US" sz="1700" dirty="0">
                <a:solidFill>
                  <a:srgbClr val="E8DCC8"/>
                </a:solidFill>
                <a:latin typeface="QuattrocentoSans" pitchFamily="34" charset="0"/>
                <a:ea typeface="QuattrocentoSans" pitchFamily="34" charset="-122"/>
                <a:cs typeface="QuattrocentoSans" pitchFamily="34" charset="-120"/>
              </a:rPr>
              <a:t> The harness philosophy is more important than specific implementation — adapt the principles, don't copy the code. The five-layer decomposition, state machine recovery, and message-flow error encoding are universally applicable.</a:t>
            </a:r>
            <a:endParaRPr lang="en-US" sz="1800" dirty="0"/>
          </a:p>
        </p:txBody>
      </p:sp>
      <p:sp>
        <p:nvSpPr>
          <p:cNvPr id="13" name="Shape 11"/>
          <p:cNvSpPr/>
          <p:nvPr/>
        </p:nvSpPr>
        <p:spPr>
          <a:xfrm>
            <a:off x="762000" y="8636000"/>
            <a:ext cx="14732000" cy="12700"/>
          </a:xfrm>
          <a:prstGeom prst="rect">
            <a:avLst/>
          </a:prstGeom>
          <a:solidFill>
            <a:srgbClr val="3A3A3E"/>
          </a:solidFill>
          <a:ln/>
        </p:spPr>
      </p:sp>
      <p:sp>
        <p:nvSpPr>
          <p:cNvPr id="14" name="Text 12"/>
          <p:cNvSpPr/>
          <p:nvPr/>
        </p:nvSpPr>
        <p:spPr>
          <a:xfrm>
            <a:off x="762000" y="8763000"/>
            <a:ext cx="10160000" cy="254000"/>
          </a:xfrm>
          <a:prstGeom prst="rect">
            <a:avLst/>
          </a:prstGeom>
          <a:noFill/>
          <a:ln/>
        </p:spPr>
        <p:txBody>
          <a:bodyPr wrap="none" lIns="0" tIns="0" rIns="0" bIns="0" rtlCol="0" anchor="ctr"/>
          <a:lstStyle/>
          <a:p>
            <a:pPr>
              <a:lnSpc>
                <a:spcPct val="140000"/>
              </a:lnSpc>
            </a:pPr>
            <a:r>
              <a:rPr lang="en-US" sz="1300" dirty="0">
                <a:solidFill>
                  <a:srgbClr val="9A9590"/>
                </a:solidFill>
                <a:latin typeface="QuattrocentoSans" pitchFamily="34" charset="0"/>
                <a:ea typeface="QuattrocentoSans" pitchFamily="34" charset="-122"/>
                <a:cs typeface="QuattrocentoSans" pitchFamily="34" charset="-120"/>
              </a:rPr>
              <a:t>Source: Architecture analysis</a:t>
            </a:r>
            <a:endParaRPr lang="en-US" sz="1300" dirty="0"/>
          </a:p>
        </p:txBody>
      </p:sp>
    </p:spTree>
  </p:cSld>
  <p:clrMapOvr>
    <a:masterClrMapping/>
  </p:clrMapOvr>
  <p:transition>
    <p:fade/>
    <p:spd val="med"/>
  </p:transition>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D0D0F"/>
        </a:solidFill>
      </p:bgPr>
    </p:bg>
    <p:spTree>
      <p:nvGrpSpPr>
        <p:cNvPr id="1" name=""/>
        <p:cNvGrpSpPr/>
        <p:nvPr/>
      </p:nvGrpSpPr>
      <p:grpSpPr>
        <a:xfrm>
          <a:off x="0" y="0"/>
          <a:ext cx="0" cy="0"/>
          <a:chOff x="0" y="0"/>
          <a:chExt cx="0" cy="0"/>
        </a:xfrm>
      </p:grpSpPr>
      <p:sp>
        <p:nvSpPr>
          <p:cNvPr id="2" name="Shape 0"/>
          <p:cNvSpPr/>
          <p:nvPr/>
        </p:nvSpPr>
        <p:spPr>
          <a:xfrm>
            <a:off x="6858000" y="2286000"/>
            <a:ext cx="2540000" cy="38100"/>
          </a:xfrm>
          <a:prstGeom prst="rect">
            <a:avLst/>
          </a:prstGeom>
          <a:solidFill>
            <a:srgbClr val="C4A265"/>
          </a:solidFill>
          <a:ln/>
        </p:spPr>
      </p:sp>
      <p:sp>
        <p:nvSpPr>
          <p:cNvPr id="3" name="Text 1"/>
          <p:cNvSpPr/>
          <p:nvPr/>
        </p:nvSpPr>
        <p:spPr>
          <a:xfrm>
            <a:off x="2540000" y="2667000"/>
            <a:ext cx="11176000" cy="889000"/>
          </a:xfrm>
          <a:prstGeom prst="rect">
            <a:avLst/>
          </a:prstGeom>
          <a:noFill/>
          <a:ln/>
        </p:spPr>
        <p:txBody>
          <a:bodyPr wrap="none" lIns="0" tIns="0" rIns="0" bIns="0" rtlCol="0" anchor="ctr"/>
          <a:lstStyle/>
          <a:p>
            <a:pPr algn="ctr">
              <a:lnSpc>
                <a:spcPct val="120000"/>
              </a:lnSpc>
            </a:pPr>
            <a:r>
              <a:rPr lang="en-US" sz="4200" b="1" dirty="0">
                <a:solidFill>
                  <a:srgbClr val="E8DCC8"/>
                </a:solidFill>
                <a:latin typeface="Liter" pitchFamily="34" charset="0"/>
                <a:ea typeface="Liter" pitchFamily="34" charset="-122"/>
                <a:cs typeface="Liter" pitchFamily="34" charset="-120"/>
              </a:rPr>
              <a:t>Thank You</a:t>
            </a:r>
            <a:endParaRPr lang="en-US" sz="4200" dirty="0"/>
          </a:p>
        </p:txBody>
      </p:sp>
      <p:sp>
        <p:nvSpPr>
          <p:cNvPr id="4" name="Shape 2"/>
          <p:cNvSpPr/>
          <p:nvPr/>
        </p:nvSpPr>
        <p:spPr>
          <a:xfrm>
            <a:off x="6858000" y="3810000"/>
            <a:ext cx="2540000" cy="38100"/>
          </a:xfrm>
          <a:prstGeom prst="rect">
            <a:avLst/>
          </a:prstGeom>
          <a:solidFill>
            <a:srgbClr val="C4A265"/>
          </a:solidFill>
          <a:ln/>
        </p:spPr>
      </p:sp>
      <p:sp>
        <p:nvSpPr>
          <p:cNvPr id="5" name="Text 3"/>
          <p:cNvSpPr/>
          <p:nvPr/>
        </p:nvSpPr>
        <p:spPr>
          <a:xfrm>
            <a:off x="1778000" y="3937000"/>
            <a:ext cx="12700000" cy="2413000"/>
          </a:xfrm>
          <a:prstGeom prst="rect">
            <a:avLst/>
          </a:prstGeom>
          <a:noFill/>
          <a:ln/>
        </p:spPr>
        <p:txBody>
          <a:bodyPr wrap="square" lIns="0" tIns="0" rIns="0" bIns="0" rtlCol="0" anchor="ctr"/>
          <a:lstStyle/>
          <a:p>
            <a:pPr algn="ctr">
              <a:lnSpc>
                <a:spcPct val="160000"/>
              </a:lnSpc>
            </a:pPr>
            <a:r>
              <a:rPr lang="en-US" sz="1800" i="1" dirty="0">
                <a:solidFill>
                  <a:srgbClr val="9A9590"/>
                </a:solidFill>
                <a:latin typeface="QuattrocentoSans" pitchFamily="34" charset="0"/>
                <a:ea typeface="QuattrocentoSans" pitchFamily="34" charset="-122"/>
                <a:cs typeface="QuattrocentoSans" pitchFamily="34" charset="-120"/>
              </a:rPr>
              <a:t>"Claude Code does not bet on the model 'not doing bad things' —</a:t>
            </a:r>
            <a:endParaRPr lang="en-US" sz="2200" dirty="0"/>
          </a:p>
          <a:p>
            <a:pPr algn="ctr">
              <a:lnSpc>
                <a:spcPct val="160000"/>
              </a:lnSpc>
            </a:pPr>
            <a:r>
              <a:rPr lang="en-US" sz="1800" i="1" dirty="0">
                <a:solidFill>
                  <a:srgbClr val="9A9590"/>
                </a:solidFill>
                <a:latin typeface="QuattrocentoSans" pitchFamily="34" charset="0"/>
                <a:ea typeface="QuattrocentoSans" pitchFamily="34" charset="-122"/>
                <a:cs typeface="QuattrocentoSans" pitchFamily="34" charset="-120"/>
              </a:rPr>
              <a:t>it splits execution into 'understand first, judge second, isolate last':</a:t>
            </a:r>
            <a:endParaRPr lang="en-US" sz="2200" dirty="0"/>
          </a:p>
          <a:p>
            <a:pPr algn="ctr">
              <a:lnSpc>
                <a:spcPct val="160000"/>
              </a:lnSpc>
            </a:pPr>
            <a:r>
              <a:rPr lang="en-US" sz="1800" i="1" dirty="0">
                <a:solidFill>
                  <a:srgbClr val="9A9590"/>
                </a:solidFill>
                <a:latin typeface="QuattrocentoSans" pitchFamily="34" charset="0"/>
                <a:ea typeface="QuattrocentoSans" pitchFamily="34" charset="-122"/>
                <a:cs typeface="QuattrocentoSans" pitchFamily="34" charset="-120"/>
              </a:rPr>
              <a:t>AST analysis for fail-closed understanding,</a:t>
            </a:r>
            <a:endParaRPr lang="en-US" sz="2200" dirty="0"/>
          </a:p>
          <a:p>
            <a:pPr algn="ctr">
              <a:lnSpc>
                <a:spcPct val="160000"/>
              </a:lnSpc>
            </a:pPr>
            <a:r>
              <a:rPr lang="en-US" sz="1800" i="1" dirty="0">
                <a:solidFill>
                  <a:srgbClr val="9A9590"/>
                </a:solidFill>
                <a:latin typeface="QuattrocentoSans" pitchFamily="34" charset="0"/>
                <a:ea typeface="QuattrocentoSans" pitchFamily="34" charset="-122"/>
                <a:cs typeface="QuattrocentoSans" pitchFamily="34" charset="-120"/>
              </a:rPr>
              <a:t>permission system for context-aware policy decisions,</a:t>
            </a:r>
            <a:endParaRPr lang="en-US" sz="2200" dirty="0"/>
          </a:p>
          <a:p>
            <a:pPr algn="ctr">
              <a:lnSpc>
                <a:spcPct val="160000"/>
              </a:lnSpc>
            </a:pPr>
            <a:r>
              <a:rPr lang="en-US" sz="1800" i="1" dirty="0">
                <a:solidFill>
                  <a:srgbClr val="9A9590"/>
                </a:solidFill>
                <a:latin typeface="QuattrocentoSans" pitchFamily="34" charset="0"/>
                <a:ea typeface="QuattrocentoSans" pitchFamily="34" charset="-122"/>
                <a:cs typeface="QuattrocentoSans" pitchFamily="34" charset="-120"/>
              </a:rPr>
              <a:t>sandbox-runtime for final physical isolation."</a:t>
            </a:r>
            <a:endParaRPr lang="en-US" sz="2200" dirty="0"/>
          </a:p>
        </p:txBody>
      </p:sp>
      <p:sp>
        <p:nvSpPr>
          <p:cNvPr id="6" name="Text 4"/>
          <p:cNvSpPr/>
          <p:nvPr/>
        </p:nvSpPr>
        <p:spPr>
          <a:xfrm>
            <a:off x="5080000" y="6477000"/>
            <a:ext cx="6096000" cy="508000"/>
          </a:xfrm>
          <a:prstGeom prst="rect">
            <a:avLst/>
          </a:prstGeom>
          <a:noFill/>
          <a:ln/>
        </p:spPr>
        <p:txBody>
          <a:bodyPr wrap="none" lIns="0" tIns="0" rIns="0" bIns="0" rtlCol="0" anchor="ctr"/>
          <a:lstStyle/>
          <a:p>
            <a:pPr algn="ctr">
              <a:lnSpc>
                <a:spcPct val="130000"/>
              </a:lnSpc>
            </a:pPr>
            <a:r>
              <a:rPr lang="en-US" sz="2400" b="1" dirty="0">
                <a:solidFill>
                  <a:srgbClr val="C4A265"/>
                </a:solidFill>
                <a:latin typeface="Liter" pitchFamily="34" charset="0"/>
                <a:ea typeface="Liter" pitchFamily="34" charset="-122"/>
                <a:cs typeface="Liter" pitchFamily="34" charset="-120"/>
              </a:rPr>
              <a:t>Questions &amp; Discussion</a:t>
            </a:r>
            <a:endParaRPr lang="en-US" sz="2800" dirty="0"/>
          </a:p>
        </p:txBody>
      </p:sp>
      <p:sp>
        <p:nvSpPr>
          <p:cNvPr id="7" name="Shape 5"/>
          <p:cNvSpPr/>
          <p:nvPr/>
        </p:nvSpPr>
        <p:spPr>
          <a:xfrm>
            <a:off x="762000" y="8636000"/>
            <a:ext cx="14732000" cy="12700"/>
          </a:xfrm>
          <a:prstGeom prst="rect">
            <a:avLst/>
          </a:prstGeom>
          <a:solidFill>
            <a:srgbClr val="3A3A3E"/>
          </a:solidFill>
          <a:ln/>
        </p:spPr>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Harness Design Philosophy</dc:title>
  <dc:subject>Claude Code Harness Design Philosophy</dc:subject>
  <dc:creator>Kimi</dc:creator>
  <cp:lastModifiedBy>Kimi</cp:lastModifiedBy>
  <cp:revision>1</cp:revision>
  <dcterms:created xsi:type="dcterms:W3CDTF">2026-04-23T05:50:24Z</dcterms:created>
  <dcterms:modified xsi:type="dcterms:W3CDTF">2026-04-23T05:50:24Z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{"Label":"Claude Code Harness Design Philosophy","ContentProducer":"001191110108MACG2KBH8F10000","ProduceID":"19db8d9b-1982-85c2-8000-00009b33f048","ReservedCode1":"","ContentPropagator":"001191110108MACG2KBH8F20000","PropagateID":"19db8d9b-1982-85c2-8000-00009b33f048","ReservedCode2":""}</vt:lpwstr>
  </property>
</Properties>
</file>