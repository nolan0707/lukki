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notesMasterIdLst>
    <p:notesMasterId r:id="rId64"/>
  </p:notesMasterIdLst>
  <p:sldSz cx="16256000" cy="9144000"/>
  <p:notesSz cx="9144000" cy="16256000"/>
  <p:embeddedFontLst>
    <p:embeddedFont>
      <p:font typeface="Liter" charset="-122" pitchFamily="34"/>
      <p:regular r:id="rId6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notesMaster" Target="notesMasters/notesMaster1.xml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Relationship Id="rId6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2032000"/>
            <a:ext cx="76200" cy="4826000"/>
          </a:xfrm>
          <a:prstGeom prst="rect">
            <a:avLst/>
          </a:prstGeom>
          <a:solidFill>
            <a:srgbClr val="D94F1E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2286000"/>
            <a:ext cx="1143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4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从架构视角深入源码</a:t>
            </a:r>
            <a:endParaRPr lang="en-US" sz="4200" dirty="0"/>
          </a:p>
          <a:p>
            <a:pPr>
              <a:lnSpc>
                <a:spcPct val="130000"/>
              </a:lnSpc>
            </a:pPr>
            <a:r>
              <a:rPr lang="en-US" sz="4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Claude Code 的 Harness 设计哲学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270000" y="43180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逐层拆解 · 源码为证 · 设计取舍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270000" y="5334000"/>
            <a:ext cx="2540000" cy="254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Text 5"/>
          <p:cNvSpPr/>
          <p:nvPr/>
        </p:nvSpPr>
        <p:spPr>
          <a:xfrm>
            <a:off x="1270000" y="5715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面向深度架构与技术背景的极客和专家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演讲时长：4 小时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solidFill>
            <a:srgbClr val="1A1A2E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SPEAKER 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演讲地图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1270000"/>
            <a:ext cx="139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 个章节，覆盖 Claude Code 核心模块。每个技术点遵循"解决了什么问题 → 为何这么解决 → 优势与代价"三段式分析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1905000"/>
            <a:ext cx="4572000" cy="1016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2006600"/>
            <a:ext cx="4191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项目总览与架构定位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 OS 判断 · 十层架构 · 四大抽象边界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588000" y="1905000"/>
            <a:ext cx="4572000" cy="1016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9" name="Text 7"/>
          <p:cNvSpPr/>
          <p:nvPr/>
        </p:nvSpPr>
        <p:spPr>
          <a:xfrm>
            <a:off x="5778500" y="2006600"/>
            <a:ext cx="4191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对话执行内核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QueryEngine · query.ts · claude.ts 四层流水线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414000" y="1905000"/>
            <a:ext cx="4572000" cy="1016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1" name="Text 9"/>
          <p:cNvSpPr/>
          <p:nvPr/>
        </p:nvSpPr>
        <p:spPr>
          <a:xfrm>
            <a:off x="10604500" y="2006600"/>
            <a:ext cx="4191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命令与工具架构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双入口设计 · Tool协议 · 执行管线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3175000"/>
            <a:ext cx="4572000" cy="1016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3276600"/>
            <a:ext cx="4191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MCP 架构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外部能力接入控制平面 · 配置治理 · 状态机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88000" y="3175000"/>
            <a:ext cx="4572000" cy="1016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5" name="Text 13"/>
          <p:cNvSpPr/>
          <p:nvPr/>
        </p:nvSpPr>
        <p:spPr>
          <a:xfrm>
            <a:off x="5778500" y="3276600"/>
            <a:ext cx="4191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插件与 Skills 架构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Skill=说明书 · Plugin=扩展包 · 统一中间表示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414000" y="3175000"/>
            <a:ext cx="4572000" cy="1016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604500" y="3276600"/>
            <a:ext cx="4191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权限架构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决策系统 · 三层控制点 · Hooks中间层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4445000"/>
            <a:ext cx="4572000" cy="1016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" y="4546600"/>
            <a:ext cx="4191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上下文治理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可发送性编译 · 消息域分离 · 压缩策略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588000" y="4445000"/>
            <a:ext cx="4572000" cy="1016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1" name="Text 19"/>
          <p:cNvSpPr/>
          <p:nvPr/>
        </p:nvSpPr>
        <p:spPr>
          <a:xfrm>
            <a:off x="5778500" y="4546600"/>
            <a:ext cx="4191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远程与分布式架构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三种远程模式 · 端云协同演进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414000" y="4445000"/>
            <a:ext cx="4572000" cy="1016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3" name="Text 21"/>
          <p:cNvSpPr/>
          <p:nvPr/>
        </p:nvSpPr>
        <p:spPr>
          <a:xfrm>
            <a:off x="10604500" y="4546600"/>
            <a:ext cx="4191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观测与实验架构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运行时能力 · GrowthBook · 可靠投递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5715000"/>
            <a:ext cx="4572000" cy="1016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5" name="Text 23"/>
          <p:cNvSpPr/>
          <p:nvPr/>
        </p:nvSpPr>
        <p:spPr>
          <a:xfrm>
            <a:off x="952500" y="5816600"/>
            <a:ext cx="4191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端云协同优化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跨端调用开销治理 · 四层优化模型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588000" y="5715000"/>
            <a:ext cx="4572000" cy="1016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7" name="Text 25"/>
          <p:cNvSpPr/>
          <p:nvPr/>
        </p:nvSpPr>
        <p:spPr>
          <a:xfrm>
            <a:off x="5778500" y="5816600"/>
            <a:ext cx="4191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设计哲学总结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八条原则 · 关键红线 · 代价与权衡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2000" y="7239000"/>
            <a:ext cx="1397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演讲节奏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：每个技术模块采用"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重锤页（慢讲）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轻页（快讲）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"节奏。重锤页聚焦核心设计表达，轻页提供证据举证（代码路径、数据结构、目录位置）。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D94F1E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2540000"/>
            <a:ext cx="381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38100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项目总览与架构定位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16000" y="48260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Claude Code 不是 CLI，而是 Agent OS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16000" y="5715000"/>
            <a:ext cx="5080000" cy="25400"/>
          </a:xfrm>
          <a:prstGeom prst="rect">
            <a:avLst/>
          </a:prstGeom>
          <a:solidFill>
            <a:srgbClr val="E5E7EB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 架构总览 · 重锤页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核心判断：Claude Code 是 Agent OS，不是 CLI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4732000" cy="6985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97000"/>
            <a:ext cx="50800" cy="698500"/>
          </a:xfrm>
          <a:prstGeom prst="rect">
            <a:avLst/>
          </a:prstGeom>
          <a:solidFill>
            <a:srgbClr val="D94F1E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4986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核心判断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：Claude Code 不是"带 AI 的终端"，而是一个完整的 Agent Runtime——有状态管理、工具注册、权限控制、插件扩展。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349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解决了什么问题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2000" y="2730500"/>
            <a:ext cx="71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传统 CLI 是"用户输入 → 程序执行 → 输出结果"的单向流程。但 AI Agent 需要持续对话、状态维护、工具调用、错误恢复——这需要操作系统级的抽象。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82000" y="2349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为何这么设计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382000" y="2730500"/>
            <a:ext cx="71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 需要长时间运行、管理复杂状态、与外部系统交互。OS 抽象（进程、状态、权限、插件）是经过验证的解决方案。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2000" y="3937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优势与代价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62000" y="43180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b="1" dirty="0">
                <a:solidFill>
                  <a:srgbClr val="2D7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优势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：状态可恢复、工具可扩展、权限可控制、插件可热插拔。 </a:t>
            </a:r>
            <a:pPr>
              <a:lnSpc>
                <a:spcPct val="160000"/>
              </a:lnSpc>
            </a:pPr>
            <a:r>
              <a:rPr lang="en-US" sz="1300" b="1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代价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：架构复杂度高、启动时间增加、理解成本高。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 架构总览 · 轻页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代码目录与模块规模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97000"/>
          <a:ext cx="14732000" cy="4902200"/>
        </p:xfrm>
        <a:graphic>
          <a:graphicData uri="http://schemas.openxmlformats.org/drawingml/2006/table">
            <a:tbl>
              <a:tblPr/>
              <a:tblGrid>
                <a:gridCol w="4419600"/>
                <a:gridCol w="5156200"/>
                <a:gridCol w="5156200"/>
              </a:tblGrid>
              <a:tr h="408517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目录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职责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关键文件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0851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src/commands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命令注册与分发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commandRegistry.ts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51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src/services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核心服务层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QueryEngine.ts, query.ts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0851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src/services/tools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工具注册与执行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toolRegistry.ts, toolExecution.ts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51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src/services/mcp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MCP 控制平面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client.ts, config.ts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0851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src/skills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Skill 加载与解析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loadSkillsDir.ts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51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src/services/plugin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插件生命周期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pluginManager.ts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0851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src/utils/permissions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权限决策引擎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permissions.ts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51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src/services/compact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上下文压缩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autoCompact.ts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0851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src/remote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远程会话管理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RemoteSessionManager.ts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51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src/services/analytics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观测与实验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growthbook.ts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08517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src/types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全局类型定义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command.ts, tool.ts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 项目总览与架构定位 · 重锤页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十层模块化架构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5080000" cy="533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889000" y="1447800"/>
            <a:ext cx="4826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入口与装配层 entrypoints/* + init.ts + setup.ts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006600"/>
            <a:ext cx="5080000" cy="533400"/>
          </a:xfrm>
          <a:prstGeom prst="rect">
            <a:avLst/>
          </a:prstGeom>
          <a:solidFill>
            <a:srgbClr val="2D2D44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2057400"/>
            <a:ext cx="4826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运行壳层 REPL/UI + AppState + bootstrap/state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616200"/>
            <a:ext cx="5080000" cy="533400"/>
          </a:xfrm>
          <a:prstGeom prst="rect">
            <a:avLst/>
          </a:prstGeom>
          <a:solidFill>
            <a:srgbClr val="D94F1E"/>
          </a:solidFill>
          <a:ln/>
        </p:spPr>
      </p:sp>
      <p:sp>
        <p:nvSpPr>
          <p:cNvPr id="10" name="Text 8"/>
          <p:cNvSpPr/>
          <p:nvPr/>
        </p:nvSpPr>
        <p:spPr>
          <a:xfrm>
            <a:off x="889000" y="2667000"/>
            <a:ext cx="4826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执行内核层 QueryEngine + query.ts + api/*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3225800"/>
            <a:ext cx="5080000" cy="533400"/>
          </a:xfrm>
          <a:prstGeom prst="rect">
            <a:avLst/>
          </a:prstGeom>
          <a:solidFill>
            <a:srgbClr val="4A4A6A"/>
          </a:solidFill>
          <a:ln/>
        </p:spPr>
      </p:sp>
      <p:sp>
        <p:nvSpPr>
          <p:cNvPr id="12" name="Text 10"/>
          <p:cNvSpPr/>
          <p:nvPr/>
        </p:nvSpPr>
        <p:spPr>
          <a:xfrm>
            <a:off x="889000" y="3276600"/>
            <a:ext cx="4826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能力注册层 commands.ts + tools.ts + Tool.ts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3835400"/>
            <a:ext cx="5080000" cy="53340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4" name="Text 12"/>
          <p:cNvSpPr/>
          <p:nvPr/>
        </p:nvSpPr>
        <p:spPr>
          <a:xfrm>
            <a:off x="889000" y="3886200"/>
            <a:ext cx="4826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 扩展生态层 MCP + plugins + skills + agents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4445000"/>
            <a:ext cx="5080000" cy="533400"/>
          </a:xfrm>
          <a:prstGeom prst="rect">
            <a:avLst/>
          </a:prstGeom>
          <a:solidFill>
            <a:srgbClr val="8B8DA3"/>
          </a:solidFill>
          <a:ln/>
        </p:spPr>
      </p:sp>
      <p:sp>
        <p:nvSpPr>
          <p:cNvPr id="16" name="Text 14"/>
          <p:cNvSpPr/>
          <p:nvPr/>
        </p:nvSpPr>
        <p:spPr>
          <a:xfrm>
            <a:off x="889000" y="4495800"/>
            <a:ext cx="4826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6. 权限治理层 permissions + sandbox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054600"/>
            <a:ext cx="5080000" cy="53340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18" name="Text 16"/>
          <p:cNvSpPr/>
          <p:nvPr/>
        </p:nvSpPr>
        <p:spPr>
          <a:xfrm>
            <a:off x="889000" y="5105400"/>
            <a:ext cx="4826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7. 上下文治理层 compact + memdir + SessionMemory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5664200"/>
            <a:ext cx="5080000" cy="533400"/>
          </a:xfrm>
          <a:prstGeom prst="rect">
            <a:avLst/>
          </a:prstGeom>
          <a:solidFill>
            <a:srgbClr val="B4B6C8"/>
          </a:solidFill>
          <a:ln/>
        </p:spPr>
      </p:sp>
      <p:sp>
        <p:nvSpPr>
          <p:cNvPr id="20" name="Text 18"/>
          <p:cNvSpPr/>
          <p:nvPr/>
        </p:nvSpPr>
        <p:spPr>
          <a:xfrm>
            <a:off x="889000" y="5715000"/>
            <a:ext cx="4826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8. 远程分布式层 remote/* + bridge/* + server/*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6273800"/>
            <a:ext cx="5080000" cy="533400"/>
          </a:xfrm>
          <a:prstGeom prst="rect">
            <a:avLst/>
          </a:prstGeom>
          <a:solidFill>
            <a:srgbClr val="D1D2DC"/>
          </a:solidFill>
          <a:ln/>
        </p:spPr>
      </p:sp>
      <p:sp>
        <p:nvSpPr>
          <p:cNvPr id="22" name="Text 20"/>
          <p:cNvSpPr/>
          <p:nvPr/>
        </p:nvSpPr>
        <p:spPr>
          <a:xfrm>
            <a:off x="889000" y="6324600"/>
            <a:ext cx="4826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9. 观测实验层 analytics + telemetry + profiler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6883400"/>
            <a:ext cx="5080000" cy="5334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4" name="Text 22"/>
          <p:cNvSpPr/>
          <p:nvPr/>
        </p:nvSpPr>
        <p:spPr>
          <a:xfrm>
            <a:off x="889000" y="6934200"/>
            <a:ext cx="4826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10. 基础设施层 utils/* + oauth + config + fs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096000" y="1651000"/>
            <a:ext cx="0" cy="0"/>
          </a:xfrm>
          <a:prstGeom prst="straightConnector1">
            <a:avLst/>
          </a:prstGeom>
          <a:noFill/>
          <a:ln w="12700">
            <a:solidFill>
              <a:srgbClr val="E5E7EB"/>
            </a:solidFill>
            <a:prstDash val="solid"/>
            <a:headEnd type="none"/>
            <a:tailEnd type="arrow"/>
          </a:ln>
        </p:spPr>
      </p:sp>
      <p:sp>
        <p:nvSpPr>
          <p:cNvPr id="26" name="Text 24"/>
          <p:cNvSpPr/>
          <p:nvPr/>
        </p:nvSpPr>
        <p:spPr>
          <a:xfrm>
            <a:off x="6350000" y="1397000"/>
            <a:ext cx="9144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依赖方向控制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入口层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运行壳层 → 执行内核层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能力注册层 → 扩展生态层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关键设计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入口模块只装配，不长期持有业务状态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启动路径大量使用动态 import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初始化顺序：safe env → trust → telemetry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模块边界判断标准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是否有稳定的输入输出接口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是否承担相对独立的职责闭包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是否有明显的状态归属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是否存在清晰的依赖方向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 架构总览 · 轻页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四大稳定抽象边界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97000"/>
          <a:ext cx="14732000" cy="3556000"/>
        </p:xfrm>
        <a:graphic>
          <a:graphicData uri="http://schemas.openxmlformats.org/drawingml/2006/table">
            <a:tbl>
              <a:tblPr/>
              <a:tblGrid>
                <a:gridCol w="3241040"/>
                <a:gridCol w="4124960"/>
                <a:gridCol w="7366000"/>
              </a:tblGrid>
              <a:tr h="5969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抽象边界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核心文件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设计意图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736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Command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src/commands/*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用户交互入口，/ 前缀触发，面向人类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6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Tool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src/Tool.ts, src/services/tools/*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模型能力暴露，模型调用，面向 LLM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36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Message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src/types/message.ts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所有能力映射为消息变换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3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AppState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src/bootstrap/state.ts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全局状态管理，三层状态分离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D94F1E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2540000"/>
            <a:ext cx="381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38100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对话执行内核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16000" y="4826000"/>
            <a:ext cx="1143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QueryEngine → query.ts → claude.ts 的四层流水线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16000" y="5715000"/>
            <a:ext cx="5080000" cy="25400"/>
          </a:xfrm>
          <a:prstGeom prst="rect">
            <a:avLst/>
          </a:prstGeom>
          <a:solidFill>
            <a:srgbClr val="E5E7EB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 对话执行内核 · 重锤页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四层执行流水线：从输入到 API 调用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4732000" cy="6985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97000"/>
            <a:ext cx="50800" cy="698500"/>
          </a:xfrm>
          <a:prstGeom prst="rect">
            <a:avLst/>
          </a:prstGeom>
          <a:solidFill>
            <a:srgbClr val="D94F1E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4986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核心判断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：对话执行不是单函数调用，而是四层流水线。每层职责单一、边界清晰、可独立替换。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349500"/>
            <a:ext cx="3302000" cy="635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2349500"/>
            <a:ext cx="330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processUserInput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27500" y="2565400"/>
            <a:ext cx="381000" cy="20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4F1E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2349500"/>
            <a:ext cx="3302000" cy="635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349500"/>
            <a:ext cx="330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QueryEngine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7500" y="2565400"/>
            <a:ext cx="381000" cy="20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4F1E"/>
          </a:solidFill>
          <a:ln/>
        </p:spPr>
      </p:sp>
      <p:sp>
        <p:nvSpPr>
          <p:cNvPr id="14" name="Shape 12"/>
          <p:cNvSpPr/>
          <p:nvPr/>
        </p:nvSpPr>
        <p:spPr>
          <a:xfrm>
            <a:off x="8382000" y="2349500"/>
            <a:ext cx="3302000" cy="635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5" name="Text 13"/>
          <p:cNvSpPr/>
          <p:nvPr/>
        </p:nvSpPr>
        <p:spPr>
          <a:xfrm>
            <a:off x="8382000" y="2349500"/>
            <a:ext cx="330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query.ts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747500" y="2565400"/>
            <a:ext cx="381000" cy="20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4F1E"/>
          </a:solidFill>
          <a:ln/>
        </p:spPr>
      </p:sp>
      <p:sp>
        <p:nvSpPr>
          <p:cNvPr id="17" name="Shape 15"/>
          <p:cNvSpPr/>
          <p:nvPr/>
        </p:nvSpPr>
        <p:spPr>
          <a:xfrm>
            <a:off x="12192000" y="2349500"/>
            <a:ext cx="3302000" cy="635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12192000" y="2349500"/>
            <a:ext cx="330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claude.ts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3302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解决了什么问题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62000" y="3683000"/>
            <a:ext cx="71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 调用需要经过输入处理、会话编排、Turn 级状态管理、API 协议编译四个阶段。混为一谈会导致代码难以维护和扩展。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82000" y="3302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为何这么设计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382000" y="3683000"/>
            <a:ext cx="71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分层让每层可独立替换。QueryEngine 可换不同编排策略，query.ts 可换不同状态机，claude.ts 可换不同模型——互不影响。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62000" y="4889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优势与代价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62000" y="52705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b="1" dirty="0">
                <a:solidFill>
                  <a:srgbClr val="2D7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优势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：职责清晰，每层可独立测试和替换；错误处理分层，不会级联崩溃。 </a:t>
            </a:r>
            <a:pPr>
              <a:lnSpc>
                <a:spcPct val="160000"/>
              </a:lnSpc>
            </a:pPr>
            <a:r>
              <a:rPr lang="en-US" sz="1300" b="1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代价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：数据在层间传递有序列化开销；调试需要追踪跨层调用链。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62000" y="6286500"/>
            <a:ext cx="14732000" cy="6985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6" name="Shape 24"/>
          <p:cNvSpPr/>
          <p:nvPr/>
        </p:nvSpPr>
        <p:spPr>
          <a:xfrm>
            <a:off x="762000" y="6286500"/>
            <a:ext cx="50800" cy="698500"/>
          </a:xfrm>
          <a:prstGeom prst="rect">
            <a:avLst/>
          </a:prstGeom>
          <a:solidFill>
            <a:srgbClr val="D94F1E"/>
          </a:solidFill>
          <a:ln/>
        </p:spPr>
      </p:sp>
      <p:sp>
        <p:nvSpPr>
          <p:cNvPr id="27" name="Text 25"/>
          <p:cNvSpPr/>
          <p:nvPr/>
        </p:nvSpPr>
        <p:spPr>
          <a:xfrm>
            <a:off x="1016000" y="63881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类比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：processUserInput 像 shell 的 readline，QueryEngine 像进程调度器，query.ts 像 CPU 指令循环，claude.ts 像编译器后端。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 对话执行内核 · 轻页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核心代码位置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97000"/>
          <a:ext cx="14732000" cy="4572000"/>
        </p:xfrm>
        <a:graphic>
          <a:graphicData uri="http://schemas.openxmlformats.org/drawingml/2006/table">
            <a:tbl>
              <a:tblPr/>
              <a:tblGrid>
                <a:gridCol w="5892800"/>
                <a:gridCol w="4419600"/>
                <a:gridCol w="44196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文件路径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职责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关键内容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src/services/QueryEngine.ts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会话编排器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状态管理 + 持久化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src/services/query.ts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Turn 状态机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循环执行 + 恢复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src/services/api/claude.ts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API 编译器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消息域编译 + 流式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src/Tool.ts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工具协议定义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八组接口 + 安全默认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src/services/mcp/client.ts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MCP 协议中心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五状态机 + 连接管理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src/utils/permissions/permissions.ts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权限决策引擎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三层控制点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src/services/compact/autoCompact.ts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上下文压缩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阈值治理 + circuit breaker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src/remote/RemoteSessionManager.ts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远程会话管理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WS + HTTP 双通道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src/services/analytics/growthbook.ts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实验控制面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Feature flag + 三类读取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 对话执行内核 · 重锤页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QueryEngine：会话级编排器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4732000" cy="6985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97000"/>
            <a:ext cx="50800" cy="698500"/>
          </a:xfrm>
          <a:prstGeom prst="rect">
            <a:avLst/>
          </a:prstGeom>
          <a:solidFill>
            <a:srgbClr val="D94F1E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4986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核心判断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：QueryEngine 不是"调用 LLM 的函数"，而是管理整个对话生命周期的编排器——立即持久化、状态恢复、工具循环。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349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解决了什么问题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2000" y="2730500"/>
            <a:ext cx="71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对话需要状态管理（历史消息、工具结果、用户偏好），但 Node.js 进程可能崩溃。QueryEngine 通过</a:t>
            </a:r>
            <a:pPr>
              <a:lnSpc>
                <a:spcPct val="160000"/>
              </a:lnSpc>
            </a:pPr>
            <a:r>
              <a:rPr lang="en-US" sz="13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立即持久化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保证状态不丢失。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82000" y="2349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为何这么设计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382000" y="2730500"/>
            <a:ext cx="71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会话级状态与 Turn 级状态分离。QueryEngine 管理"整个对话"，query.ts 管理"一轮交互"。分离让恢复粒度更灵活。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2000" y="3937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优势与代价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62000" y="43180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b="1" dirty="0">
                <a:solidFill>
                  <a:srgbClr val="2D7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优势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：立即持久化保证崩溃恢复；会话级编排支持复杂交互模式。 </a:t>
            </a:r>
            <a:pPr>
              <a:lnSpc>
                <a:spcPct val="160000"/>
              </a:lnSpc>
            </a:pPr>
            <a:r>
              <a:rPr lang="en-US" sz="1300" b="1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代价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：每次状态变更都写磁盘增加 I/O；持久化格式变更需迁移逻辑。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2000" y="5270500"/>
            <a:ext cx="1473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src/services/QueryEngine.ts — 核心职责：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1. 会话状态管理（history / context / preferences）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2. 立即持久化（每次状态变更写磁盘）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3. 状态恢复（进程重启后从磁盘恢复）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4. 工具调用循环编排（协调多轮工具调用）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 对话执行内核 · 轻页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ToolUseContext 拆解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4699000" cy="1270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97000"/>
            <a:ext cx="50800" cy="1270000"/>
          </a:xfrm>
          <a:prstGeom prst="rect">
            <a:avLst/>
          </a:prstGeom>
          <a:solidFill>
            <a:srgbClr val="D94F1E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14605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输入参数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5200" y="1778000"/>
            <a:ext cx="431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FFFFF">
                    <a:alpha val="9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 name, arguments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FFFFF">
                    <a:alpha val="9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 message ID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0" y="1397000"/>
            <a:ext cx="4699000" cy="1270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715000" y="1397000"/>
            <a:ext cx="50800" cy="1270000"/>
          </a:xfrm>
          <a:prstGeom prst="rect">
            <a:avLst/>
          </a:prstGeom>
          <a:solidFill>
            <a:srgbClr val="D94F1E"/>
          </a:solidFill>
          <a:ln/>
        </p:spPr>
      </p:sp>
      <p:sp>
        <p:nvSpPr>
          <p:cNvPr id="11" name="Text 9"/>
          <p:cNvSpPr/>
          <p:nvPr/>
        </p:nvSpPr>
        <p:spPr>
          <a:xfrm>
            <a:off x="5918200" y="14605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运行时上下文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18200" y="1778000"/>
            <a:ext cx="431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FFFFF">
                    <a:alpha val="9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conversation history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FFFFF">
                    <a:alpha val="9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working directory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668000" y="1397000"/>
            <a:ext cx="4826000" cy="1270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68000" y="1397000"/>
            <a:ext cx="50800" cy="1270000"/>
          </a:xfrm>
          <a:prstGeom prst="rect">
            <a:avLst/>
          </a:prstGeom>
          <a:solidFill>
            <a:srgbClr val="D94F1E"/>
          </a:solidFill>
          <a:ln/>
        </p:spPr>
      </p:sp>
      <p:sp>
        <p:nvSpPr>
          <p:cNvPr id="15" name="Text 13"/>
          <p:cNvSpPr/>
          <p:nvPr/>
        </p:nvSpPr>
        <p:spPr>
          <a:xfrm>
            <a:off x="10871200" y="1460500"/>
            <a:ext cx="444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执行环境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871200" y="1778000"/>
            <a:ext cx="4445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FFFFF">
                    <a:alpha val="9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permission context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FFFFF">
                    <a:alpha val="9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environment variables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2857500"/>
            <a:ext cx="4699000" cy="1270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762000" y="2857500"/>
            <a:ext cx="50800" cy="1270000"/>
          </a:xfrm>
          <a:prstGeom prst="rect">
            <a:avLst/>
          </a:prstGeom>
          <a:solidFill>
            <a:srgbClr val="D94F1E"/>
          </a:solidFill>
          <a:ln/>
        </p:spPr>
      </p:sp>
      <p:sp>
        <p:nvSpPr>
          <p:cNvPr id="19" name="Text 17"/>
          <p:cNvSpPr/>
          <p:nvPr/>
        </p:nvSpPr>
        <p:spPr>
          <a:xfrm>
            <a:off x="965200" y="29210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结果通道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5200" y="3238500"/>
            <a:ext cx="431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FFFFF">
                    <a:alpha val="9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result, newMessages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FFFFF">
                    <a:alpha val="9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contextModifier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15000" y="2857500"/>
            <a:ext cx="4699000" cy="1270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5715000" y="2857500"/>
            <a:ext cx="50800" cy="1270000"/>
          </a:xfrm>
          <a:prstGeom prst="rect">
            <a:avLst/>
          </a:prstGeom>
          <a:solidFill>
            <a:srgbClr val="D94F1E"/>
          </a:solidFill>
          <a:ln/>
        </p:spPr>
      </p:sp>
      <p:sp>
        <p:nvSpPr>
          <p:cNvPr id="23" name="Text 21"/>
          <p:cNvSpPr/>
          <p:nvPr/>
        </p:nvSpPr>
        <p:spPr>
          <a:xfrm>
            <a:off x="5918200" y="29210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UI 通道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18200" y="3238500"/>
            <a:ext cx="431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FFFFF">
                    <a:alpha val="9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progress messages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FFFFF">
                    <a:alpha val="9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attachments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668000" y="2857500"/>
            <a:ext cx="4826000" cy="1270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6" name="Shape 24"/>
          <p:cNvSpPr/>
          <p:nvPr/>
        </p:nvSpPr>
        <p:spPr>
          <a:xfrm>
            <a:off x="10668000" y="2857500"/>
            <a:ext cx="50800" cy="1270000"/>
          </a:xfrm>
          <a:prstGeom prst="rect">
            <a:avLst/>
          </a:prstGeom>
          <a:solidFill>
            <a:srgbClr val="D94F1E"/>
          </a:solidFill>
          <a:ln/>
        </p:spPr>
      </p:sp>
      <p:sp>
        <p:nvSpPr>
          <p:cNvPr id="27" name="Text 25"/>
          <p:cNvSpPr/>
          <p:nvPr/>
        </p:nvSpPr>
        <p:spPr>
          <a:xfrm>
            <a:off x="10871200" y="2921000"/>
            <a:ext cx="444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能力对象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871200" y="3238500"/>
            <a:ext cx="4445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FFFFF">
                    <a:alpha val="9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不是参数包，而是 capability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FFFFF">
                    <a:alpha val="9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对象——工具可修改它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2000" y="4445000"/>
            <a:ext cx="147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src/services/QueryEngine.ts — ToolUseContext 传递路径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QueryEngine → query.ts → toolExecution.ts → tool.call(context)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关键：context 是 capability 对象，不是只读参数包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 对话执行内核 · 重锤页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query.ts：Turn 级状态机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4732000" cy="6985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97000"/>
            <a:ext cx="50800" cy="698500"/>
          </a:xfrm>
          <a:prstGeom prst="rect">
            <a:avLst/>
          </a:prstGeom>
          <a:solidFill>
            <a:srgbClr val="D94F1E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4986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核心判断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：query.ts 不是简单调用 LLM，而是带治理环节的循环执行——每轮都经过上下文压缩、工具调用、结果处理。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3495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状态机核心循环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2000" y="2730500"/>
            <a:ext cx="7366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src/services/query.ts</a:t>
            </a:r>
            <a:endParaRPr lang="en-US" sz="1400" dirty="0"/>
          </a:p>
          <a:p>
            <a:pPr>
              <a:lnSpc>
                <a:spcPct val="145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while (!done) {</a:t>
            </a:r>
            <a:endParaRPr lang="en-US" sz="1400" dirty="0"/>
          </a:p>
          <a:p>
            <a:pPr>
              <a:lnSpc>
                <a:spcPct val="145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compactContext() // 上下文压缩</a:t>
            </a:r>
            <a:endParaRPr lang="en-US" sz="1400" dirty="0"/>
          </a:p>
          <a:p>
            <a:pPr>
              <a:lnSpc>
                <a:spcPct val="145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callClaude() // LLM 调用</a:t>
            </a:r>
            <a:endParaRPr lang="en-US" sz="1400" dirty="0"/>
          </a:p>
          <a:p>
            <a:pPr>
              <a:lnSpc>
                <a:spcPct val="145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parseToolCalls() // 工具调用解析</a:t>
            </a:r>
            <a:endParaRPr lang="en-US" sz="1400" dirty="0"/>
          </a:p>
          <a:p>
            <a:pPr>
              <a:lnSpc>
                <a:spcPct val="145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executeTools() // 工具执行</a:t>
            </a:r>
            <a:endParaRPr lang="en-US" sz="1400" dirty="0"/>
          </a:p>
          <a:p>
            <a:pPr>
              <a:lnSpc>
                <a:spcPct val="145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 processResults() // 结果处理</a:t>
            </a:r>
            <a:endParaRPr lang="en-US" sz="1400" dirty="0"/>
          </a:p>
          <a:p>
            <a:pPr>
              <a:lnSpc>
                <a:spcPct val="145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6. checkDone() // 完成检查</a:t>
            </a:r>
            <a:endParaRPr lang="en-US" sz="1400" dirty="0"/>
          </a:p>
          <a:p>
            <a:pPr>
              <a:lnSpc>
                <a:spcPct val="145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382000" y="23495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解决了什么问题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382000" y="2730500"/>
            <a:ext cx="71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单轮交互可能涉及多步工具调用和上下文管理。状态机模式让每轮交互有明确的阶段和转换条件，便于调试和扩展。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2000" y="5461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优势与代价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62000" y="58420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b="1" dirty="0">
                <a:solidFill>
                  <a:srgbClr val="2D7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优势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：每轮有明确阶段，便于调试；循环可自然扩展新阶段。 </a:t>
            </a:r>
            <a:pPr>
              <a:lnSpc>
                <a:spcPct val="160000"/>
              </a:lnSpc>
            </a:pPr>
            <a:r>
              <a:rPr lang="en-US" sz="1300" b="1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代价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：循环增加单次交互延迟；状态机复杂度随阶段增加。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 对话执行内核 · 轻页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状态机与恢复链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1397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恢复链设计：从磁盘重建状态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2000" y="1778000"/>
            <a:ext cx="711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进程崩溃后恢复流程：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从磁盘读取持久化状态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重建 QueryEngine 实例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恢复对话上下文和历史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继续未完成的工具调用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0" y="1397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状态转换流程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382000" y="1778000"/>
            <a:ext cx="711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Idle → Processing → ToolCalling →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Processing → Complete/Error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每个状态转换都有验证和回滚机制。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3683000"/>
            <a:ext cx="1473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src/services/query.ts — 状态恢复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1. readPersistedState()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2. reconstructQueryEngine()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3. resumePendingToolCalls()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 对话执行内核 · 重锤页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claude.ts：LLM Sampling Request Compiler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4732000" cy="6985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97000"/>
            <a:ext cx="50800" cy="698500"/>
          </a:xfrm>
          <a:prstGeom prst="rect">
            <a:avLst/>
          </a:prstGeom>
          <a:solidFill>
            <a:srgbClr val="D94F1E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4986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核心判断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：claude.ts 不是"调用 API 的函数"，而是将内部消息域编译为模型协议域的编译器后端。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349500"/>
            <a:ext cx="711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编译器职责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2000" y="2730500"/>
            <a:ext cx="711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3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消息域转换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：UI message → transcript → API protocol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3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上下文压缩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：超长上下文自动压缩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3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工具描述生成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：Tool 协议 → 模型可用工具描述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3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错误处理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：API 错误分类和恢复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82000" y="2349500"/>
            <a:ext cx="711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关键编译步骤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382000" y="2730500"/>
            <a:ext cx="711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normalizeMessagesForAPI() — 五类消息变换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ensureToolResultPairing() — 工具引用配对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buildToolDescriptions() — 工具描述生成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compileRequest() — 最终请求组装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2000" y="45085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normalizeMessagesForAPI() 的五类变换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62000" y="48895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附件上浮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：附件从消息体提取到顶层　|　</a:t>
            </a:r>
            <a:pPr>
              <a:lnSpc>
                <a:spcPct val="160000"/>
              </a:lnSpc>
            </a:pPr>
            <a:r>
              <a:rPr lang="en-US" sz="13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消息剔除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：UI 虚拟消息不发送给模型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3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Synthetic API error 剔除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：内部错误过滤　|　</a:t>
            </a:r>
            <a:pPr>
              <a:lnSpc>
                <a:spcPct val="160000"/>
              </a:lnSpc>
            </a:pPr>
            <a:r>
              <a:rPr lang="en-US" sz="13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连续 user 消息合并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：符合 API 协议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3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工具引用剥离或修正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：确保 tool_use/tool_result 配对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 对话执行内核 · 轻页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流式回退与 Usage 治理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1397000"/>
            <a:ext cx="711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Streaming 失败的三层回退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2000" y="1778000"/>
            <a:ext cx="711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</a:t>
            </a:r>
            <a:pPr>
              <a:lnSpc>
                <a:spcPct val="160000"/>
              </a:lnSpc>
            </a:pPr>
            <a:r>
              <a:rPr lang="en-US" sz="13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Streaming 模式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：实时流式输出（首选）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</a:t>
            </a:r>
            <a:pPr>
              <a:lnSpc>
                <a:spcPct val="160000"/>
              </a:lnSpc>
            </a:pPr>
            <a:r>
              <a:rPr lang="en-US" sz="13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非流式模式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：streaming 失败时降级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</a:t>
            </a:r>
            <a:pPr>
              <a:lnSpc>
                <a:spcPct val="160000"/>
              </a:lnSpc>
            </a:pPr>
            <a:r>
              <a:rPr lang="en-US" sz="13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缓存模式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：完全离线时使用缓存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每层回退都有明确的触发条件和恢复逻辑。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0" y="1397000"/>
            <a:ext cx="711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Usage 治理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382000" y="1778000"/>
            <a:ext cx="711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3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token 计数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：每轮精确统计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3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预算检查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：超出预算时告警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3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成本追踪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：会话级成本累积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3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 执行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：硬限制时停止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3365500"/>
            <a:ext cx="1473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src/services/api/claude.ts — Streaming 回退逻辑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1. tryStreaming()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2. if fail → tryNonStreaming()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3. if fail → useCache()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Usage tracking: token count per turn + session budget check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D94F1E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2540000"/>
            <a:ext cx="381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38100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命令与工具架构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16000" y="4826000"/>
            <a:ext cx="1143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双入口设计：Command 面向人，Tool 面向模型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16000" y="5715000"/>
            <a:ext cx="5080000" cy="25400"/>
          </a:xfrm>
          <a:prstGeom prst="rect">
            <a:avLst/>
          </a:prstGeom>
          <a:solidFill>
            <a:srgbClr val="E5E7EB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 命令与工具架构 · 重锤页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双入口架构的正交分工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4732000" cy="6985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97000"/>
            <a:ext cx="50800" cy="698500"/>
          </a:xfrm>
          <a:prstGeom prst="rect">
            <a:avLst/>
          </a:prstGeom>
          <a:solidFill>
            <a:srgbClr val="D94F1E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4986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核心判断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：Command 不是 Tool 的别名。两者面向不同主体、解决不同问题、处于不同信任边界。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349500"/>
            <a:ext cx="469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Command：面向用户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2000" y="2730500"/>
            <a:ext cx="4699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3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可发现性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：/ 前缀触发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3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交互意图切换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：模式切换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3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用户控制面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：用户主动发起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3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信任边界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：用户侧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778500" y="2349500"/>
            <a:ext cx="469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Tool：面向模型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778500" y="2730500"/>
            <a:ext cx="4699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3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可执行能力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：模型协议暴露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3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权限审批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：自动/人工审批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3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模型执行面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：模型主动调用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3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信任边界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：模型侧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795000" y="2349500"/>
            <a:ext cx="469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PromptCommand：桥梁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795000" y="2730500"/>
            <a:ext cx="4699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用户可通过 </a:t>
            </a:r>
            <a:pPr>
              <a:lnSpc>
                <a:spcPct val="160000"/>
              </a:lnSpc>
            </a:pPr>
            <a:r>
              <a:rPr lang="en-US" sz="13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/xxx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触发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模型可通过 </a:t>
            </a:r>
            <a:pPr>
              <a:lnSpc>
                <a:spcPct val="160000"/>
              </a:lnSpc>
            </a:pPr>
            <a:r>
              <a:rPr lang="en-US" sz="13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SkillTool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调用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统一中间表示收敛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控制流与信任边界分离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2000" y="4445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解决了什么问题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62000" y="4826000"/>
            <a:ext cx="711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用户意图和模型能力需要不同的入口抽象。Command 处理"人怎么告诉系统做什么"，Tool 处理"系统怎么让模型执行"。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82000" y="4445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为何这么设计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82000" y="4826000"/>
            <a:ext cx="711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正交分离让两个维度独立演化。Command 可新增交互模式而不影响 Tool 协议；Tool 可新增执行能力而不影响用户交互。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2000" y="5778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优势与代价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62000" y="61595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b="1" dirty="0">
                <a:solidFill>
                  <a:srgbClr val="2D7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优势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：用户交互与模型执行完全解耦；权限审批只在 Tool 侧触发。 </a:t>
            </a:r>
            <a:pPr>
              <a:lnSpc>
                <a:spcPct val="160000"/>
              </a:lnSpc>
            </a:pPr>
            <a:r>
              <a:rPr lang="en-US" sz="1300" b="1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代价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：需维护两套注册系统；边界模糊时增加理解成本。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 命令与工具架构 · 轻页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Command 联合类型设计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1397000"/>
            <a:ext cx="7366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src/types/command.ts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 Command =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| PromptCommand // 文本/技能触发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| LocalCommand // 本地函数执行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| LocalJSXCommand // JSX UI 渲染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interface CommandBase {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name: string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description: string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isVisible?: boolean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isHidden?: boolean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36000" y="1397000"/>
          <a:ext cx="6858000" cy="3302000"/>
        </p:xfrm>
        <a:graphic>
          <a:graphicData uri="http://schemas.openxmlformats.org/drawingml/2006/table">
            <a:tbl>
              <a:tblPr/>
              <a:tblGrid>
                <a:gridCol w="2057400"/>
                <a:gridCol w="2400300"/>
                <a:gridCol w="2400300"/>
              </a:tblGrid>
              <a:tr h="6604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类型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执行语义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适用场景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PromptCommand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渲染 prompt 模板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Skill、/命令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LocalCommand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本地函数调用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内置命令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863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LocalJSXCommand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React 组件渲染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交互式 UI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2000" y="5969000"/>
            <a:ext cx="14732000" cy="889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Shape 5"/>
          <p:cNvSpPr/>
          <p:nvPr/>
        </p:nvSpPr>
        <p:spPr>
          <a:xfrm>
            <a:off x="762000" y="5969000"/>
            <a:ext cx="50800" cy="889000"/>
          </a:xfrm>
          <a:prstGeom prst="rect">
            <a:avLst/>
          </a:prstGeom>
          <a:solidFill>
            <a:srgbClr val="D94F1E"/>
          </a:solidFill>
          <a:ln/>
        </p:spPr>
      </p:sp>
      <p:sp>
        <p:nvSpPr>
          <p:cNvPr id="9" name="Text 6"/>
          <p:cNvSpPr/>
          <p:nvPr/>
        </p:nvSpPr>
        <p:spPr>
          <a:xfrm>
            <a:off x="1016000" y="6070600"/>
            <a:ext cx="1422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设计意图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：避免了"所有命令都实现统一 run()"导致的类型宽泛问题。三种执行语义在类型层面区分，编译期即可捕获错误。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 命令与工具架构 · 重锤页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 协议：八组接口的多面体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4732000" cy="6985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97000"/>
            <a:ext cx="50800" cy="698500"/>
          </a:xfrm>
          <a:prstGeom prst="rect">
            <a:avLst/>
          </a:prstGeom>
          <a:solidFill>
            <a:srgbClr val="D94F1E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4986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核心判断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：Tool 不是函数签名，而是运行时描述对象——一个 Tool 定义同时服务于模型、调度器、权限系统、UI 和执行引擎。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349500"/>
          <a:ext cx="14732000" cy="3441700"/>
        </p:xfrm>
        <a:graphic>
          <a:graphicData uri="http://schemas.openxmlformats.org/drawingml/2006/table">
            <a:tbl>
              <a:tblPr/>
              <a:tblGrid>
                <a:gridCol w="3241040"/>
                <a:gridCol w="4124960"/>
                <a:gridCol w="7366000"/>
              </a:tblGrid>
              <a:tr h="3683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接口组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关键字段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作用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身份与命名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name, aliases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模型调用和 telemetry 归因的唯一标识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模型描述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description, inputJSONSchema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告诉模型这个工具能做什么、需要什么参数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调度控制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isConcurrencySafe, isReadOnly, isDestructive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决定工具能否并发、是否副作用、破坏性等级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安全与权限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permissionType, requiresPermission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映射到权限决策系统的控制点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执行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call(input, context)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实际执行逻辑，接收 ToolUseContext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结果映射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toJSON, toDisplay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结构化结果 → 模型消息 / 用户可见文本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UI 呈现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userFacingName, render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终端中如何展示工具调用过程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暴露策略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isEnabled, experimental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动态决定是否向模型暴露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62000" y="5969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buildTool() 的安全默认值哲学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62000" y="63754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默认保守，局部放开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：isConcurrencySafe → false，isReadOnly → false，isDestructive → false。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每个 Tool 必须显式声明自己的安全属性，不能"默认安全"。这是工业级 Agent 系统的基本纪律。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 命令与工具架构 · 轻页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Tool.ts 核心代码结构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1397000"/>
            <a:ext cx="8128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src/Tool.ts — Tool 协议核心定义</a:t>
            </a:r>
            <a:endParaRPr lang="en-US" sz="14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interface Tool&lt;Input, Result&gt; {</a:t>
            </a:r>
            <a:endParaRPr lang="en-US" sz="14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name: string; aliases?: string[]</a:t>
            </a:r>
            <a:endParaRPr lang="en-US" sz="14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description: string</a:t>
            </a:r>
            <a:endParaRPr lang="en-US" sz="14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inputJSONSchema: object</a:t>
            </a:r>
            <a:endParaRPr lang="en-US" sz="14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isConcurrencySafe: boolean</a:t>
            </a:r>
            <a:endParaRPr lang="en-US" sz="14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isReadOnly: boolean</a:t>
            </a:r>
            <a:endParaRPr lang="en-US" sz="14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permissionType: PermissionType</a:t>
            </a:r>
            <a:endParaRPr lang="en-US" sz="14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call: (input, ctx: ToolUseContext) =&gt; Result</a:t>
            </a:r>
            <a:endParaRPr lang="en-US" sz="14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toJSON: (result) =&gt; ...</a:t>
            </a:r>
            <a:endParaRPr lang="en-US" sz="14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toDisplay: (result) =&gt; ...</a:t>
            </a:r>
            <a:endParaRPr lang="en-US" sz="1400" dirty="0"/>
          </a:p>
          <a:p>
            <a:pPr>
              <a:lnSpc>
                <a:spcPct val="145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398000" y="1397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ToolResult 的关键设计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398000" y="1778000"/>
            <a:ext cx="609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ToolResult 允许两个特殊字段：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1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newMessages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：追加消息到上下文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1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contextModifier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：修改后续运行环境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工具不只是返回值，还能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扩展上下文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5080000"/>
            <a:ext cx="14732000" cy="6985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5080000"/>
            <a:ext cx="50800" cy="698500"/>
          </a:xfrm>
          <a:prstGeom prst="rect">
            <a:avLst/>
          </a:prstGeom>
          <a:solidFill>
            <a:srgbClr val="D94F1E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51816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1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代码位置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：src/Tool.ts（协议），src/services/tools/toolRegistry.ts（注册），src/services/tools/toolExecution.ts（执行）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 命令与工具架构 · 重锤页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工具执行管线：八阶段中间件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4732000" cy="6985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97000"/>
            <a:ext cx="50800" cy="698500"/>
          </a:xfrm>
          <a:prstGeom prst="rect">
            <a:avLst/>
          </a:prstGeom>
          <a:solidFill>
            <a:srgbClr val="D94F1E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4986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核心判断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：工具调用不是一次函数调用，而是标准化中间件流水线。权限拒绝不是抛异常，而是作为 tool_result 错误消息返回模型。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349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工具解析 → Schema 校验 → 语义校验 → Pre-tool Hooks → 权限决策 → tool.call → Result 映射 → Post-tool Hooks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2000" y="3238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解决了什么问题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62000" y="3619500"/>
            <a:ext cx="71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工具执行需要统一的治理框架：schema 校验防止模型幻觉参数、语义校验防止业务逻辑错误、hooks 注入策略、权限控制执行授权。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82000" y="3238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关键设计决策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382000" y="3619500"/>
            <a:ext cx="71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权限拒绝不抛异常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——这是 Agent 架构的根本特征。拒绝作为 tool_result 错误消息返回模型，让模型有机会理解失败原因并调整策略。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2000" y="4889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优势与代价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2000" y="52705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b="1" dirty="0">
                <a:solidFill>
                  <a:srgbClr val="2D7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优势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：每阶段可独立扩展；权限决策在中间层拦截；模型可感知失败并自我修正。 </a:t>
            </a:r>
            <a:pPr>
              <a:lnSpc>
                <a:spcPct val="160000"/>
              </a:lnSpc>
            </a:pPr>
            <a:r>
              <a:rPr lang="en-US" sz="1300" b="1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代价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：流水线增加单次调用延迟。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2000" y="6223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关键源码位置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62000" y="65786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src/services/tools/toolExecution.ts — 工具执行引擎（八阶段流水线）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src/services/tools/toolOrchestration.ts — 工具编排（并发调度）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 命令与工具架构 · 轻页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工具并发与流式执行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1397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partitionToolCalls() 语义分区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2000" y="1816100"/>
            <a:ext cx="711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基于工具属性将调用列表划分为可并发批次：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只读工具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（isReadOnly=true）：可安全并发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副作用工具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（isReadOnly=false）：必须串行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破坏性工具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（isDestructive=true）：独立批次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0" y="1397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StreamingToolExecutor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382000" y="1816100"/>
            <a:ext cx="711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边流边执行，降低 end-to-end latency：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模型输出 tool_use 块时立即启动执行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不需要等完整响应到达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Bash 失败会中止兄弟工具（依赖链语义）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3683000"/>
            <a:ext cx="14732000" cy="238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src/services/tools/toolOrchestration.ts</a:t>
            </a:r>
            <a:endParaRPr lang="en-US" sz="14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分区逻辑：连续只读工具 → 并发批次</a:t>
            </a:r>
            <a:endParaRPr lang="en-US" sz="14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副作用工具 → 独立串行批次</a:t>
            </a:r>
            <a:endParaRPr lang="en-US" sz="14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src/services/tools/StreamingToolExecutor.ts</a:t>
            </a:r>
            <a:endParaRPr lang="en-US" sz="14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流式执行：tool_use delta 到达即启动</a:t>
            </a:r>
            <a:endParaRPr lang="en-US" sz="14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失败传播：Bash 失败 → 中止同批次兄弟工具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2000" y="6096000"/>
            <a:ext cx="14732000" cy="889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6096000"/>
            <a:ext cx="50800" cy="889000"/>
          </a:xfrm>
          <a:prstGeom prst="rect">
            <a:avLst/>
          </a:prstGeom>
          <a:solidFill>
            <a:srgbClr val="D94F1E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6197600"/>
            <a:ext cx="1422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设计要点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：并发控制基于工具自声明的语义属性，不是外部配置。Bash 的特殊失败传播体现了"依赖链语义"的工程意识。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9144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286000"/>
            <a:ext cx="4572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3556000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MCP 架构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318000"/>
            <a:ext cx="482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外部能力接入控制平面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12000" y="4064000"/>
            <a:ext cx="812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MCP 不是简单的协议支持模块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而是一个完整的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控制平面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 MCP 架构 · 重锤页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MCP 不是协议支持模块，而是控制平面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1397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六个工程目标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2000" y="1778000"/>
            <a:ext cx="711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</a:t>
            </a:r>
            <a:pPr>
              <a:lnSpc>
                <a:spcPct val="160000"/>
              </a:lnSpc>
            </a:pPr>
            <a:r>
              <a:rPr lang="en-US" sz="12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统一接入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：多种外部能力源统一接入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</a:t>
            </a:r>
            <a:pPr>
              <a:lnSpc>
                <a:spcPct val="160000"/>
              </a:lnSpc>
            </a:pPr>
            <a:r>
              <a:rPr lang="en-US" sz="12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协议对象内部化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：MCP 协议不泄漏到 Runtime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</a:t>
            </a:r>
            <a:pPr>
              <a:lnSpc>
                <a:spcPct val="160000"/>
              </a:lnSpc>
            </a:pPr>
            <a:r>
              <a:rPr lang="en-US" sz="12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不可信配置约束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：project 级需审批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</a:t>
            </a:r>
            <a:pPr>
              <a:lnSpc>
                <a:spcPct val="160000"/>
              </a:lnSpc>
            </a:pPr>
            <a:r>
              <a:rPr lang="en-US" sz="12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长生命周期封装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：连接/重连自治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 </a:t>
            </a:r>
            <a:pPr>
              <a:lnSpc>
                <a:spcPct val="160000"/>
              </a:lnSpc>
            </a:pPr>
            <a:r>
              <a:rPr lang="en-US" sz="12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结果上下文可治理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：MCP 结果参与上下文治理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6. </a:t>
            </a:r>
            <a:pPr>
              <a:lnSpc>
                <a:spcPct val="160000"/>
              </a:lnSpc>
            </a:pPr>
            <a:r>
              <a:rPr lang="en-US" sz="12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高扩展性下复杂度控制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：六层架构分层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0" y="1397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六层架构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382000" y="1778000"/>
            <a:ext cx="711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L6 Query/Tool 执行集成层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L5 运行期控制层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L4 能力发现与适配层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L3 认证与请求增强层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L2 连接与传输层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L1 配置与策略层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3810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解决了什么问题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62000" y="41910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外部能力需要统一接入 Agent Runtime，但不能让异构协议污染核心执行链。MCP 作为控制平面，将外部能力收敛为内部抽象。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2000" y="5143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优势与代价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2000" y="55245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200" b="1" dirty="0">
                <a:solidFill>
                  <a:srgbClr val="2D7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优势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：外部能力与核心运行时解耦；六层分层让复杂度可控。 </a:t>
            </a:r>
            <a:pPr>
              <a:lnSpc>
                <a:spcPct val="160000"/>
              </a:lnSpc>
            </a:pPr>
            <a:r>
              <a:rPr lang="en-US" sz="1200" b="1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代价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：六层架构增加理解成本；适配层需跟进协议演进。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 MCP 架构 · 轻页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MCP 核心代码位置</a:t>
            </a:r>
            <a:endParaRPr lang="en-US" sz="2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97000"/>
          <a:ext cx="14732000" cy="4318000"/>
        </p:xfrm>
        <a:graphic>
          <a:graphicData uri="http://schemas.openxmlformats.org/drawingml/2006/table">
            <a:tbl>
              <a:tblPr/>
              <a:tblGrid>
                <a:gridCol w="5156200"/>
                <a:gridCol w="3683000"/>
                <a:gridCol w="5892800"/>
              </a:tblGrid>
              <a:tr h="618661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文件路径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职责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关键内容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61866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src/services/mcp/types.ts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统一类型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MCP 协议内部化类型定义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866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src/services/mcp/config.ts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配置编排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多来源配置合并与去重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1866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src/services/mcp/client.ts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协议与执行中心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MCPServerConnection 五状态机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866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src/services/mcp/useManageMCPConnections.ts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运行期状态管理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两阶段加载、批量刷新、重连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1866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src/services/mcp/auth.ts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认证子系统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OAuth + API key 认证流程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603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src/services/mcp/mcpStringUtils.ts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命名规范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mcp__&lt;server&gt;__&lt;tool&gt; 命名空间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6096000"/>
            <a:ext cx="14732000" cy="889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Shape 4"/>
          <p:cNvSpPr/>
          <p:nvPr/>
        </p:nvSpPr>
        <p:spPr>
          <a:xfrm>
            <a:off x="762000" y="6096000"/>
            <a:ext cx="50800" cy="889000"/>
          </a:xfrm>
          <a:prstGeom prst="rect">
            <a:avLst/>
          </a:prstGeom>
          <a:solidFill>
            <a:srgbClr val="D94F1E"/>
          </a:solidFill>
          <a:ln/>
        </p:spPr>
      </p:sp>
      <p:sp>
        <p:nvSpPr>
          <p:cNvPr id="8" name="Text 5"/>
          <p:cNvSpPr/>
          <p:nvPr/>
        </p:nvSpPr>
        <p:spPr>
          <a:xfrm>
            <a:off x="1016000" y="6197600"/>
            <a:ext cx="1422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设计特点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：MCP 模块自成体系（types/config/client/auth），不依赖其他业务模块，体现了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控制平面的自包含性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。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 MCP 架构 · 重锤页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配置治理：多来源合并不是 key merge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1397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配置来源（六类）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2000" y="1778000"/>
            <a:ext cx="711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2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：~/.claude/config.json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2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：.mcp.json（需审批）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2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：本地运行时配置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2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：会话期间动态添加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2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enterprise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：企业级策略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2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plugin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：插件声明的 MCP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0" y="1397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优先级与合并策略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382000" y="1778000"/>
            <a:ext cx="711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2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优先级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：plugin &lt; user &lt; project &lt; local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enterprise 可设置为独占模式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2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内容签名去重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stdio：command + args 签名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remote：url 签名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3810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级配置审批（安全设计）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62000" y="4191000"/>
            <a:ext cx="147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项目级 .mcp.json 需要显式用户审批，三种状态：approved（已批准）、rejected（已拒绝）、pending（待审批）。这是"不可信配置下的权限约束"目标的直接实现。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2000" y="5334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优势与代价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2000" y="57150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200" b="1" dirty="0">
                <a:solidFill>
                  <a:srgbClr val="2D7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优势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：多来源配置安全合并；project 级需审批防恶意配置。 </a:t>
            </a:r>
            <a:pPr>
              <a:lnSpc>
                <a:spcPct val="160000"/>
              </a:lnSpc>
            </a:pPr>
            <a:r>
              <a:rPr lang="en-US" sz="1200" b="1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代价</a:t>
            </a:r>
            <a:pPr>
              <a:lnSpc>
                <a:spcPct val="16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：合并逻辑复杂；首次使用需手动审批增加摩擦。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 MCP 架构 · 轻页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MCPServerConnection 状态机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1397000"/>
            <a:ext cx="1473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pending ──connect()──→ connected ←──────┐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│ │ │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retry │ list_changed │ reconnect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↓ ↓ │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failed ←─auth failed─ needs-auth ──────────┘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3175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五状态说明</a:t>
            </a:r>
            <a:endParaRPr lang="en-US" sz="2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556000"/>
          <a:ext cx="14732000" cy="2286000"/>
        </p:xfrm>
        <a:graphic>
          <a:graphicData uri="http://schemas.openxmlformats.org/drawingml/2006/table">
            <a:tbl>
              <a:tblPr/>
              <a:tblGrid>
                <a:gridCol w="2651760"/>
                <a:gridCol w="5156200"/>
                <a:gridCol w="692404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状态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含义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触发条件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pending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待连接，带重连元数据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初始化后、断线后等待重连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connected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正常连接，可调用工具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connect() 成功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needs-auth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需要认证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OAuth/API key 认证失败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failed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连接失败，不再重试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超过最大重试次数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disabled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被禁用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用户手动禁用或策略禁用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 MCP 架构 · 重锤页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能力适配：把 MCP 变成统一 Tool/Command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4732000" cy="6985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97000"/>
            <a:ext cx="50800" cy="698500"/>
          </a:xfrm>
          <a:prstGeom prst="rect">
            <a:avLst/>
          </a:prstGeom>
          <a:solidFill>
            <a:srgbClr val="D94F1E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4986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核心创新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：把 MCP 异构能力收敛进已有 Agent Runtime 抽象，而不是为 MCP 创建一套并行系统。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413000"/>
            <a:ext cx="469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工具适配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2000" y="2819400"/>
            <a:ext cx="4699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fetchToolsForClient()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MCP tool → 内部 Tool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命名空间：mcp__&lt;server&gt;__&lt;tool&gt;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权限精确匹配 + telemetry 归因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778500" y="2413000"/>
            <a:ext cx="469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Prompt 适配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778500" y="2819400"/>
            <a:ext cx="4699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fetchCommandsForClient()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MCP prompt → 内部 Command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用户可通过 / 触发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模型可通过 SkillTool 调用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795000" y="2413000"/>
            <a:ext cx="469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Resource 适配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795000" y="2819400"/>
            <a:ext cx="4699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ListMcpResourcesTool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ReadMcpResourceTool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模型以统一工具方式使用资源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不暴露 MCP 协议细节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2000" y="4826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解决了什么问题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62000" y="5232400"/>
            <a:ext cx="71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MCP 协议是异构的（stdio/sse/remote 三种传输，tool/prompt/resource 三种能力），但 Agent Runtime 需要统一抽象。适配层将异构收敛为同构。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82000" y="4826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为何这么设计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82000" y="5232400"/>
            <a:ext cx="71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不复用已有抽象会导致系统分裂（两套工具注册、两套权限、两套 UI 呈现）。收敛到统一抽象让 MCP 能力享受与原生工具相同的治理。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2000" y="6540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优势与代价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62000" y="69469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2D7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优势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：MCP 能力与原生工具同构处理（同一套权限、调度、UI、telemetry）；命名空间隔离避免冲突；新增 MCP server 零代码改动。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代价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：适配层需要跟进 MCP 协议演进；命名空间增加字符长度；某些 MCP 高级特性可能无法完全映射到内部抽象。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 MCP 架构 · 轻页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运行期管理关键机制</a:t>
            </a:r>
            <a:endParaRPr lang="en-US" sz="28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97000"/>
          <a:ext cx="14732000" cy="4318000"/>
        </p:xfrm>
        <a:graphic>
          <a:graphicData uri="http://schemas.openxmlformats.org/drawingml/2006/table">
            <a:tbl>
              <a:tblPr/>
              <a:tblGrid>
                <a:gridCol w="3683000"/>
                <a:gridCol w="5892800"/>
                <a:gridCol w="5156200"/>
              </a:tblGrid>
              <a:tr h="618661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机制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描述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代码位置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61866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两阶段加载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本地配置快路径 → claude.ai 异步叠加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useManageMCPConnections.ts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866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批量状态刷新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16ms 批量刷新，避免频繁重渲染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useManageMCPConnections.ts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1866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指数退避重连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1s → 2s → 4s → ... 自动重连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client.ts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866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list_changed 刷新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服务器通知能力变化时动态刷新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client.ts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1866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Stale client 清理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热更新意识，清理过期插件客户端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useManageMCPConnections.ts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603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连接缓存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memoized connectToServer，共享连接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client.ts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6096000"/>
            <a:ext cx="14732000" cy="889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Shape 4"/>
          <p:cNvSpPr/>
          <p:nvPr/>
        </p:nvSpPr>
        <p:spPr>
          <a:xfrm>
            <a:off x="762000" y="6096000"/>
            <a:ext cx="50800" cy="889000"/>
          </a:xfrm>
          <a:prstGeom prst="rect">
            <a:avLst/>
          </a:prstGeom>
          <a:solidFill>
            <a:srgbClr val="D94F1E"/>
          </a:solidFill>
          <a:ln/>
        </p:spPr>
      </p:sp>
      <p:sp>
        <p:nvSpPr>
          <p:cNvPr id="8" name="Text 5"/>
          <p:cNvSpPr/>
          <p:nvPr/>
        </p:nvSpPr>
        <p:spPr>
          <a:xfrm>
            <a:off x="1016000" y="6197600"/>
            <a:ext cx="1422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核心设计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：运行期管理体现了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热更新意识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——插件可动态增减，连接可自动恢复，状态变化可批量通知，整个系统面向"持续运行"设计。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9144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286000"/>
            <a:ext cx="4572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3556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插件与 Skills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318000"/>
            <a:ext cx="482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Skill=任务说明书, Plugin=扩展包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12000" y="4064000"/>
            <a:ext cx="812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两个系统解决不同问题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最终收敛为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统一中间表示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 插件与 Skills · 重锤页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为何同时需要 Plugins 和 Skills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13970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Skill：擅长"描述行为"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2000" y="1816100"/>
            <a:ext cx="7112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Markdown 驱动的 prompt 程序：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70000"/>
              </a:lnSpc>
            </a:pPr>
            <a:r>
              <a:rPr lang="en-US" sz="11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frontmatter 解析</a:t>
            </a:r>
            <a:pPr>
              <a:lnSpc>
                <a:spcPct val="17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：元数据声明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70000"/>
              </a:lnSpc>
            </a:pPr>
            <a:r>
              <a:rPr lang="en-US" sz="11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参数替换</a:t>
            </a:r>
            <a:pPr>
              <a:lnSpc>
                <a:spcPct val="17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：模板变量注入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70000"/>
              </a:lnSpc>
            </a:pPr>
            <a:r>
              <a:rPr lang="en-US" sz="11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shell 注入</a:t>
            </a:r>
            <a:pPr>
              <a:lnSpc>
                <a:spcPct val="17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：动态生成 prompt 内容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70000"/>
              </a:lnSpc>
            </a:pPr>
            <a:r>
              <a:rPr lang="en-US" sz="11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allowed-tools 约束</a:t>
            </a:r>
            <a:pPr>
              <a:lnSpc>
                <a:spcPct val="17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：限定可用工具集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70000"/>
              </a:lnSpc>
            </a:pPr>
            <a:r>
              <a:rPr lang="en-US" sz="11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inline/fork 双模式</a:t>
            </a:r>
            <a:pPr>
              <a:lnSpc>
                <a:spcPct val="17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：同会话/新会话执行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0" y="13970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Plugin：擅长"分发生命周期"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382000" y="1816100"/>
            <a:ext cx="7112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plugin.json 声明扩展包内容：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70000"/>
              </a:lnSpc>
            </a:pPr>
            <a:r>
              <a:rPr lang="en-US" sz="11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commands</a:t>
            </a:r>
            <a:pPr>
              <a:lnSpc>
                <a:spcPct val="17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：自定义命令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70000"/>
              </a:lnSpc>
            </a:pPr>
            <a:r>
              <a:rPr lang="en-US" sz="11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agents</a:t>
            </a:r>
            <a:pPr>
              <a:lnSpc>
                <a:spcPct val="17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：专用 Agent 定义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70000"/>
              </a:lnSpc>
            </a:pPr>
            <a:r>
              <a:rPr lang="en-US" sz="11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skills</a:t>
            </a:r>
            <a:pPr>
              <a:lnSpc>
                <a:spcPct val="17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：打包的 Skill 文件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70000"/>
              </a:lnSpc>
            </a:pPr>
            <a:r>
              <a:rPr lang="en-US" sz="11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hooks</a:t>
            </a:r>
            <a:pPr>
              <a:lnSpc>
                <a:spcPct val="17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：工具调用钩子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70000"/>
              </a:lnSpc>
            </a:pPr>
            <a:r>
              <a:rPr lang="en-US" sz="11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mcpServers/lspServers</a:t>
            </a:r>
            <a:pPr>
              <a:lnSpc>
                <a:spcPct val="17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：外部服务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70000"/>
              </a:lnSpc>
            </a:pPr>
            <a:r>
              <a:rPr lang="en-US" sz="11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outputStyles/userConfig</a:t>
            </a:r>
            <a:pPr>
              <a:lnSpc>
                <a:spcPct val="17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：UI 和配置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4191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解决了什么问题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62000" y="45974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Skill 解决"如何描述一个可复用的任务模板"，Plugin 解决"如何打包、分发、版本、启停一个扩展"。两者正交——Skill 可被 Plugin 打包分发，Plugin 可包含 Skill 作为其能力的一部分。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2000" y="5588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为何这么设计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2000" y="59944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如果只有 Skill 系统，无法解决版本管理、市场分发、依赖管理。如果只有 Plugin 系统，无法提供轻量级的 prompt 编程能力。分离让两个维度独立演化，统一中间表示保证最终收敛。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2000" y="6985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优势与代价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2000" y="73914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000" b="1" dirty="0">
                <a:solidFill>
                  <a:srgbClr val="2D7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优势</a:t>
            </a:r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：Skill 极轻量（一个 Markdown 文件即可）；Plugin 完整生命周期管理；两者通过统一中间表示无缝协作。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000" b="1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代价</a:t>
            </a:r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：两个系统增加理解成本；Skill 加载和 Plugin 加载有交叉逻辑；去重和优先级处理复杂。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 插件与 Skills · 轻页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Skill 加载来源与代码位置</a:t>
            </a:r>
            <a:endParaRPr lang="en-US" sz="28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97000"/>
          <a:ext cx="8890000" cy="3175000"/>
        </p:xfrm>
        <a:graphic>
          <a:graphicData uri="http://schemas.openxmlformats.org/drawingml/2006/table">
            <a:tbl>
              <a:tblPr/>
              <a:tblGrid>
                <a:gridCol w="4000500"/>
                <a:gridCol w="4889500"/>
              </a:tblGrid>
              <a:tr h="396875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来源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路径/说明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用户全局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~/.claude/skills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项目级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&lt;project&gt;/.claude/skills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附加目录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additional dirs（配置指定）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Legacy commands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向后兼容的旧命令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内置 Skills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bundled skills（随应用分发）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Plugin Skills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插件打包的 skill 文件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MCP Skills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MCP server 提供的 prompt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160000" y="1397000"/>
            <a:ext cx="533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核心加载器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160000" y="1778000"/>
            <a:ext cx="533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src/skills/loadSkillsDir.ts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 目录扫描与加载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src/skills/resolveSkill.ts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 Skill 解析与验证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160000" y="3302000"/>
            <a:ext cx="533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去重策略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160000" y="3683000"/>
            <a:ext cx="533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按 </a:t>
            </a:r>
            <a:pPr>
              <a:lnSpc>
                <a:spcPct val="160000"/>
              </a:lnSpc>
            </a:pPr>
            <a:r>
              <a:rPr lang="en-US" sz="13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realpath 去重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——解决软链接 + 重叠目录导致的重复加载问题。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 插件与 Skills · 重锤页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统一中间表示：全部收敛为 Command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4732000" cy="6985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97000"/>
            <a:ext cx="50800" cy="698500"/>
          </a:xfrm>
          <a:prstGeom prst="rect">
            <a:avLst/>
          </a:prstGeom>
          <a:solidFill>
            <a:srgbClr val="D94F1E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4986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核心设计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：所有扩展最终落入四个公共接口面——Command, Tool, AppState, settings/hooks/permission context。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413000"/>
            <a:ext cx="14732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Skill ──────────┐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Plugin command ─┼──→ Command（prompt 类型）──→ SkillTool 暴露给模型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Plugin skill ───┘ ↑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Plugin agent ─────────────────────────────→ AgentDefinition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Plugin hook ──────────────────────────────→ PluginHookMatcher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MCP tool/prompt/resource ─────────────────→ Tool / Command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2000" y="4889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解决了什么问题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62000" y="52959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扩展来源多样（Skill/Plugin/MCP/Legacy），如果每种都维护独立接入逻辑，系统会快速膨胀。统一中间表示让"接入"和"执行"解耦——先协议化，再接入执行链。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2000" y="6286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平台化设计的本质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2000" y="66929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外部扩展先被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协议化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（转换为内部标准抽象），再被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接入执行链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。这是平台化设计的核心模式——不直接依赖外部形态，而是定义清晰的内部契约。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2000" y="7683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优势与代价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2000" y="80899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7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优势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：新增扩展类型只需实现适配器；执行链只需理解四种抽象。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代价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：适配层可能损失外部系统的某些原生特性。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 插件与 Skills · 轻页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插件三层加载模型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4699000" cy="1143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889000" y="1498600"/>
            <a:ext cx="44450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 1 Intent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settings 中声明插件意图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（轻量，不触发实际加载）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94000" y="2603500"/>
            <a:ext cx="381000" cy="1905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4F1E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857500"/>
            <a:ext cx="4699000" cy="1143000"/>
          </a:xfrm>
          <a:prstGeom prst="rect">
            <a:avLst/>
          </a:prstGeom>
          <a:solidFill>
            <a:srgbClr val="2A3A5A"/>
          </a:solidFill>
          <a:ln/>
        </p:spPr>
      </p:sp>
      <p:sp>
        <p:nvSpPr>
          <p:cNvPr id="9" name="Text 7"/>
          <p:cNvSpPr/>
          <p:nvPr/>
        </p:nvSpPr>
        <p:spPr>
          <a:xfrm>
            <a:off x="889000" y="2959100"/>
            <a:ext cx="44450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 2 Materialization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marketplace 物化到本地缓存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（下载/解压/验证）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94000" y="4064000"/>
            <a:ext cx="381000" cy="1905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4F1E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4318000"/>
            <a:ext cx="4699000" cy="1143000"/>
          </a:xfrm>
          <a:prstGeom prst="rect">
            <a:avLst/>
          </a:prstGeom>
          <a:solidFill>
            <a:srgbClr val="D94F1E"/>
          </a:solidFill>
          <a:ln/>
        </p:spPr>
      </p:sp>
      <p:sp>
        <p:nvSpPr>
          <p:cNvPr id="12" name="Text 10"/>
          <p:cNvSpPr/>
          <p:nvPr/>
        </p:nvSpPr>
        <p:spPr>
          <a:xfrm>
            <a:off x="889000" y="4419600"/>
            <a:ext cx="44450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 3 Active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commands/agents/hooks/MCP/LSP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刷进运行会话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6000" y="1397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双通道加载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096000" y="1816100"/>
            <a:ext cx="939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loadAllPluginsCacheOnly()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：启动快路径，只物化到缓存不激活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loadAllPlugins()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：完整加载，三层全走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启动性能优化：先让 UI 可用，再后台完成完整加载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96000" y="3238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Hook 原子替换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096000" y="3657600"/>
            <a:ext cx="939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Plugin hook 更新时采用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clear + register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原子操作：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先注册新 hook，再清除旧 hook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无空窗期——不会出现"既没有旧 hook 也没有新 hook"的状态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62000" y="59690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src/services/plugin/pluginManager.ts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loadAllPluginsCacheOnly() // 快路径：Layer 1→2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loadAllPlugins() // 完整路径：Layer 1→2→3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9144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286000"/>
            <a:ext cx="4572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3556000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权限架构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318000"/>
            <a:ext cx="482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不是 if，而是一套决策系统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12000" y="4064000"/>
            <a:ext cx="812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权限不是简单的"允许/拒绝"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而是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可解释、可追踪的决策对象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 权限架构 · 重锤页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权限：三个控制点与决策对象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1397000"/>
            <a:ext cx="469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控制点 1：工具可见性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2000" y="1803400"/>
            <a:ext cx="469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deny rules 从工具列表中直接剔除。模型根本看不到被禁止的工具，从源头避免误调用。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78500" y="1397000"/>
            <a:ext cx="469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控制点 2：语义级权限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778500" y="1803400"/>
            <a:ext cx="469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checkPermissions() 在工具调用前检查。不仅检查"能不能用"，还检查"参数是否合规"。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795000" y="1397000"/>
            <a:ext cx="469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控制点 3：统一权限决策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795000" y="1803400"/>
            <a:ext cx="469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canUseTool + hooks + classifier + UI prompt 综合决策。不是单一来源，而是多源聚合。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2000" y="3175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PermissionResult：不是布尔值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2000" y="35814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PermissionResult 是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可解释、可追踪、可被 telemetry/OTel 消费的决策对象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。包含：决策结果（allow/deny/ask）、决策来源（rule/mode/hook/classifier/workingDir/safetyCheck）、决策理由（人类可读说明）。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2000" y="4889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决策来源（六类）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2000" y="52959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：alwaysAllow/alwaysDeny/alwaysAsk 规则匹配　|　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：当前权限模式（normal/bypass 等）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hook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：PluginHook 参与决策　|　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classifier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：AI 分类器辅助判断　|　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workingDir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：工作目录约束　|　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safetyCheck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：安全检查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2000" y="660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优势与代价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62000" y="70104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2D7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优势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：三层控制点形成纵深防御；PermissionResult 可审计可追踪；多源决策避免单点失效；hooks 可扩展新决策来源。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代价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：决策链路长（六来源聚合增加延迟）；理解成本高（需要理解各来源优先级）；调试复杂（需要追踪哪个来源做了什么决策）。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 权限架构 · 轻页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权限代码位置与数据结构</a:t>
            </a:r>
            <a:endParaRPr lang="en-US" sz="28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97000"/>
          <a:ext cx="14732000" cy="2540000"/>
        </p:xfrm>
        <a:graphic>
          <a:graphicData uri="http://schemas.openxmlformats.org/drawingml/2006/table">
            <a:tbl>
              <a:tblPr/>
              <a:tblGrid>
                <a:gridCol w="5892800"/>
                <a:gridCol w="3683000"/>
                <a:gridCol w="515620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文件路径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职责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关键内容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src/types/permissions.ts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类型定义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PermissionResult / PermissionType / ToolPermissionContext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src/utils/permissions/permissions.ts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决策引擎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canUseTool / checkPermissions 核心逻辑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src/utils/permissions/rules.ts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规则解析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alwaysAllow/alwaysDeny/alwaysAsk 规则匹配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src/services/tools/toolExecution.ts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执行集成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八阶段流水线中权限决策阶段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4254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ToolPermissionContext 结构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62000" y="4673600"/>
            <a:ext cx="7112000" cy="280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interface ToolPermissionContext {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mode: PermissionMode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alwaysAllowRules: Rule[]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alwaysDenyRules: Rule[]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alwaysAskRules: Rule[]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additionalWorkingDirectories: string[]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isBypassPermissionsModeAvailable: boolean</a:t>
            </a:r>
            <a:endParaRPr lang="en-US" sz="14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382000" y="4254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内容级规则匹配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382000" y="4673600"/>
            <a:ext cx="7112000" cy="299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从"能力级控制"升级为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"调用级控制"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Bash(git *)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：只允许 git 命令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Bash(prefix:*)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：只允许特定前缀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FileRead(/safe/*)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：只允许读安全目录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规则粒度精确到工具 + 参数模式。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 权限架构 · 重锤页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Hooks：工具调用的可编程中间层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4732000" cy="6985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97000"/>
            <a:ext cx="50800" cy="698500"/>
          </a:xfrm>
          <a:prstGeom prst="rect">
            <a:avLst/>
          </a:prstGeom>
          <a:solidFill>
            <a:srgbClr val="D94F1E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4986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核心设计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：在工具执行流水线中嵌入可编排的 policy plane——不侵入具体工具实现即可注入安全策略、合规策略、诊断逻辑。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413000"/>
            <a:ext cx="469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PreToolUse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2000" y="2819400"/>
            <a:ext cx="4699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工具执行前触发：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产出 progress/attachment message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追加上下文信息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阻止继续执行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参与 permission decision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778500" y="2413000"/>
            <a:ext cx="469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PostToolUse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778500" y="2819400"/>
            <a:ext cx="4699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工具成功执行后触发：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修改 MCP tool output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追加结果处理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触发副作用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审计日志记录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795000" y="2413000"/>
            <a:ext cx="469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PostToolUseFailure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795000" y="2819400"/>
            <a:ext cx="4699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工具执行失败后触发：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错误处理/降级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触发 blocking error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重试决策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失败报告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2000" y="4826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解决了什么问题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62000" y="52324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不同组织有不同的安全策略、合规要求、审计需求。如果把这些逻辑硬编码到每个工具中，工具会变得臃肿且难以复用。Hooks 提供了一种</a:t>
            </a:r>
            <a:pPr>
              <a:lnSpc>
                <a:spcPct val="170000"/>
              </a:lnSpc>
            </a:pPr>
            <a:r>
              <a:rPr lang="en-US" sz="10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不侵入工具实现</a:t>
            </a:r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的扩展机制。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62000" y="6286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优势与代价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2000" y="66929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2D7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优势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：安全策略与工具实现解耦；组织可自定义策略不修改核心代码；三个挂接点覆盖完整工具生命周期；Plugin 可提供 Hook 实现。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代价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：Hook 执行增加工具调用延迟；Hook 顺序影响最终行为（需要明确定义优先级）；错误 Hook 可能阻塞正常工具执行。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 权限架构 · 轻页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权限架构的工业级设计</a:t>
            </a:r>
            <a:endParaRPr lang="en-US" sz="28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97000"/>
          <a:ext cx="14732000" cy="4826000"/>
        </p:xfrm>
        <a:graphic>
          <a:graphicData uri="http://schemas.openxmlformats.org/drawingml/2006/table">
            <a:tbl>
              <a:tblPr/>
              <a:tblGrid>
                <a:gridCol w="3683000"/>
                <a:gridCol w="5892800"/>
                <a:gridCol w="5156200"/>
              </a:tblGrid>
              <a:tr h="60325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设计点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描述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工程价值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Headless Agent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不直接 auto-deny，先给 hooks 介入机会，最后 fallback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自动化场景下策略仍可生效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沙箱适配器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OS 级执行约束（chroot/namespace 等）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最终执行层安全保障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权限模式状态机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权限模式是核心状态机的一部分，不是"执行前弹窗"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权限与执行生命周期绑定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Remote 跨端协同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权限审批通过 control request/response 跨端协同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远程模式下本地保有最终审批权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Telemetry 集成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PermissionResult 可被 OTel 消费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权限决策可审计可分析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Plugin 扩展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Plugin 可提供自定义 Hook 参与决策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组织级策略不修改核心代码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内容级规则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Bash(git *) / FileRead(/safe/*) 等调用级控制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精确到参数模式的细粒度控制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6604000"/>
            <a:ext cx="14732000" cy="889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Shape 4"/>
          <p:cNvSpPr/>
          <p:nvPr/>
        </p:nvSpPr>
        <p:spPr>
          <a:xfrm>
            <a:off x="762000" y="6604000"/>
            <a:ext cx="50800" cy="889000"/>
          </a:xfrm>
          <a:prstGeom prst="rect">
            <a:avLst/>
          </a:prstGeom>
          <a:solidFill>
            <a:srgbClr val="D94F1E"/>
          </a:solidFill>
          <a:ln/>
        </p:spPr>
      </p:sp>
      <p:sp>
        <p:nvSpPr>
          <p:cNvPr id="8" name="Text 5"/>
          <p:cNvSpPr/>
          <p:nvPr/>
        </p:nvSpPr>
        <p:spPr>
          <a:xfrm>
            <a:off x="1016000" y="6705600"/>
            <a:ext cx="1422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核心原则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：权限是 Agent Runtime 的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一等公民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，不是事后补丁。从工具可见性到执行约束，形成完整的纵深防御体系。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9144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286000"/>
            <a:ext cx="4572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3556000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上下文治理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318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每轮调用前的"可发送性编译"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12000" y="4064000"/>
            <a:ext cx="812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上下文管理不是"超了再补救"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而是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每轮调用前的编译管线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41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 上下文治理 · 重锤页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上下文治理：不是超了再补救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1397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aggregate tool result budget ─→ history snip ─→ microcompact ─→ context collapse ─→ autocompact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↑ 预算执行 ↑ 历史裁剪 ↑ 局部清理 ↑ 紧急压缩 ↑ 阈值治理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24130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Budget 执行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2000" y="2794000"/>
            <a:ext cx="279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工具结果总预算检查，超出部分拒绝或截断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810000" y="24130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History Snip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810000" y="2794000"/>
            <a:ext cx="279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裁剪过远的对话历史，保留近期上下文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0" y="24130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Microcompact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58000" y="2794000"/>
            <a:ext cx="279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局部清理，cached microcompact 通过 server-side cache editing 降体积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906000" y="24130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Context Collapse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906000" y="2794000"/>
            <a:ext cx="279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紧急压缩，将多轮对话折叠为摘要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954000" y="2413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 Autocompact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954000" y="2794000"/>
            <a:ext cx="254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阈值治理 + circuit breaker，防止频繁压缩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62000" y="4254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解决了什么问题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2000" y="4660900"/>
            <a:ext cx="14732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 上下文窗口有限，但 Agent 会话可能很长（数十轮工具调用）。需要一套自动化的上下文压缩系统，在保证关键信息不丢失的前提下，将上下文打磨成"可发送状态"。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2000" y="5715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为何这么设计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62000" y="6121400"/>
            <a:ext cx="14732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非常像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optimizer/compiler pipeline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的思路——不是"超了再补救"，而是"每轮调用前做一次上下文可发送性编译"。五阶段从温和到激进，尽量在信息损失最小的阶段解决问题。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62000" y="7175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优势与代价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62000" y="75819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2D7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优势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：五阶段渐进式压缩，信息损失最小化；自动化无需用户干预；circuit breaker 防止压缩风暴。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代价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：压缩本身消耗 token；过度压缩可能丢失关键上下文；调试时需要理解压缩历史。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 上下文治理 · 轻页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治理子系统代码位置</a:t>
            </a:r>
            <a:endParaRPr lang="en-US" sz="28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97000"/>
          <a:ext cx="14732000" cy="3556000"/>
        </p:xfrm>
        <a:graphic>
          <a:graphicData uri="http://schemas.openxmlformats.org/drawingml/2006/table">
            <a:tbl>
              <a:tblPr/>
              <a:tblGrid>
                <a:gridCol w="5892800"/>
                <a:gridCol w="4419600"/>
                <a:gridCol w="4419600"/>
              </a:tblGrid>
              <a:tr h="594776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文件路径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职责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关键机制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9477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src/services/compact/autoCompact.ts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阈值治理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阈值检查 + circuit breaker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77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src/services/compact/microCompact.ts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局部清理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cached microcompact + cache editing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9477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src/services/compact/contextCollapse.ts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紧急压缩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多轮对话折叠为摘要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77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src/utils/toolResultStorage.ts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大结果外置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落盘到 session 目录，消息中替换为 preview+reference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8212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src/services/api/claude.ts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消息域编译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normalizeMessagesForAPI()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5334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大结果外置：toolResultStorage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62000" y="5753100"/>
            <a:ext cx="14732000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工具结果可能很大（文件读取、日志输出、搜索返回）。直接塞进消息会快速耗尽上下文窗口。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toolResultStorage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将大结果落盘到 session 目录，消息中只保留 preview + reference。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模型需要完整内容时，通过 reference 按需加载——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懒加载模式节省上下文空间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。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 上下文治理 · 重锤页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消息域与协议域分离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4732000" cy="6985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97000"/>
            <a:ext cx="50800" cy="698500"/>
          </a:xfrm>
          <a:prstGeom prst="rect">
            <a:avLst/>
          </a:prstGeom>
          <a:solidFill>
            <a:srgbClr val="D94F1E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4986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核心判断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：UI message domain → transcript domain → API protocol domain 三者是不同域，需要显式映射。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4130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normalizeMessagesForAPI() 的五个变换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2000" y="2819400"/>
            <a:ext cx="7112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附件上浮重排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：附件从消息体提取到顶层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消息剔除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：UI 虚拟消息不发送给模型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Synthetic API error 剔除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：内部错误消息过滤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连续 user 消息合并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：符合 API 协议要求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工具引用剥离或修正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：确保 tool_use/tool_result 配对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82000" y="24130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ensureToolResultPairing() 三种修复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382000" y="2819400"/>
            <a:ext cx="7112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Forward repair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：缺失 tool_result 补 synthetic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Reverse repair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：孤立 tool_result 移除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Strict mode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：HFI 场景 fail fast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保证发送给 API 的消息总是结构合法的——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协议正确性优先于功能继续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2000" y="5270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解决了什么问题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62000" y="5676900"/>
            <a:ext cx="14732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很多 Agent 系统把 UI 消息和 API 消息混为一谈，导致虚拟消息泄漏给模型、附件格式错误、工具引用断裂。Claude Code 通过显式域分离和编译函数，保证了协议正确性。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2000" y="6731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优势与代价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62000" y="71374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2D7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优势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：UI 和协议完全解耦；虚拟消息不会泄漏给模型；工具引用始终合法；API 变更容易适配。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代价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：normalizeMessagesForAPI() 是热点函数（每轮调用都执行）；五个变换增加了 CPU 开销；需要维护三套消息表示。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9144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286000"/>
            <a:ext cx="4572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3556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远程与分布式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318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三种远程模式与端云协同演进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12000" y="4064000"/>
            <a:ext cx="812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远程协同是第一等架构能力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不是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事后补丁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 远程与分布式 · 重锤页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三种远程模式的设计意图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1397000"/>
            <a:ext cx="469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Remote Session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2000" y="1803400"/>
            <a:ext cx="4699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0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面向 CCR 远程会话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本地 CLI 承担 UI 和审批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WS 接收 SDKMessage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HTTP 发送用户消息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权限 request 跨端流转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模型执行在云端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78500" y="1397000"/>
            <a:ext cx="469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Bridge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778500" y="1803400"/>
            <a:ext cx="4699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0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面向常驻桥接环境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维护 environment/work item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Session spawn / heartbeat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Timeout / reconnect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Capacity control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支持多会话多 worktree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795000" y="1397000"/>
            <a:ext cx="469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Direct Connect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795000" y="1803400"/>
            <a:ext cx="4699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0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面向自建 server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HTTP 创建 session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WS 走 SDK 格式消息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自建基础设施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完全自主控制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企业私有化部署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2000" y="4064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共享交互模型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2000" y="44704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三类模式共享同一套 </a:t>
            </a:r>
            <a:pPr>
              <a:lnSpc>
                <a:spcPct val="170000"/>
              </a:lnSpc>
            </a:pPr>
            <a:r>
              <a:rPr lang="en-US" sz="10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SDKMessage / control_request / control_response</a:t>
            </a:r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交互模型。差异在于连接管理策略（长连接 vs 按需连接）和生命周期管理（会话级 vs 常驻 vs 自建）。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2000" y="5524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解决了什么问题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2000" y="59309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不同远程场景需要不同的连接策略。Remote Session 面向"偶尔远程"，Bridge 面向"持续桥接"，Direct Connect 面向"完全自建"。统一消息模型让三种模式共享核心逻辑，差异化只集中在连接管理层。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2000" y="6985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优势与代价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62000" y="73914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2D7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优势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：共享 SDKMessage 模型减少重复代码；三种模式覆盖全部远程场景；本地始终保有审批权。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代价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：三种模式的连接管理逻辑复杂；网络不稳定时恢复逻辑繁重；调试需要同时关注两端。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46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 远程与分布式 · 轻页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远程模块代码位置</a:t>
            </a:r>
            <a:endParaRPr lang="en-US" sz="28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97000"/>
          <a:ext cx="14732000" cy="3302000"/>
        </p:xfrm>
        <a:graphic>
          <a:graphicData uri="http://schemas.openxmlformats.org/drawingml/2006/table">
            <a:tbl>
              <a:tblPr/>
              <a:tblGrid>
                <a:gridCol w="5892800"/>
                <a:gridCol w="3683000"/>
                <a:gridCol w="5156200"/>
              </a:tblGrid>
              <a:tr h="550333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文件路径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职责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关键内容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503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src/remote/RemoteSessionManager.ts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远程会话管理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WS + HTTP 双通道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03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src/bridge/bridgeMain.ts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桥接主程序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长生命周期运行、心跳、重连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503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src/server/createDirectConnectSession.ts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直连会话创建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HTTP session + WS 消息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03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src/server/directConnectManager.ts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直连管理器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Session 生命周期管理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503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src/types/remote.ts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共享类型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SDKMessage / ControlRequest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5080000"/>
            <a:ext cx="14732000" cy="889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Shape 4"/>
          <p:cNvSpPr/>
          <p:nvPr/>
        </p:nvSpPr>
        <p:spPr>
          <a:xfrm>
            <a:off x="762000" y="5080000"/>
            <a:ext cx="50800" cy="889000"/>
          </a:xfrm>
          <a:prstGeom prst="rect">
            <a:avLst/>
          </a:prstGeom>
          <a:solidFill>
            <a:srgbClr val="D94F1E"/>
          </a:solidFill>
          <a:ln/>
        </p:spPr>
      </p:sp>
      <p:sp>
        <p:nvSpPr>
          <p:cNvPr id="8" name="Text 5"/>
          <p:cNvSpPr/>
          <p:nvPr/>
        </p:nvSpPr>
        <p:spPr>
          <a:xfrm>
            <a:off x="1016000" y="5181600"/>
            <a:ext cx="1422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架构特点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：remote/、bridge/、server/ 三个独立目录，共享 src/types/remote.ts 类型定义。远程能力是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第一等架构能力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，不是事后补丁。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 远程与分布式 · 重锤页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端云协同演进：不是迁移，而是分层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4699000" cy="2286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889000" y="14986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端侧 Client Runtime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9000" y="1905000"/>
            <a:ext cx="4445000" cy="172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200" dirty="0">
                <a:solidFill>
                  <a:srgbClr val="FFFFFF">
                    <a:alpha val="9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本地 UI / 审批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200" dirty="0">
                <a:solidFill>
                  <a:srgbClr val="FFFFFF">
                    <a:alpha val="9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本地沙箱执行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200" dirty="0">
                <a:solidFill>
                  <a:srgbClr val="FFFFFF">
                    <a:alpha val="9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资源代理（FS / Shell / Git）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200" dirty="0">
                <a:solidFill>
                  <a:srgbClr val="FFFFFF">
                    <a:alpha val="9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最终安全边界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200" dirty="0">
                <a:solidFill>
                  <a:srgbClr val="FFFFFF">
                    <a:alpha val="9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离线工作能力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78500" y="1397000"/>
            <a:ext cx="4699000" cy="2286000"/>
          </a:xfrm>
          <a:prstGeom prst="rect">
            <a:avLst/>
          </a:prstGeom>
          <a:solidFill>
            <a:srgbClr val="2A3A5A"/>
          </a:solidFill>
          <a:ln/>
        </p:spPr>
      </p:sp>
      <p:sp>
        <p:nvSpPr>
          <p:cNvPr id="9" name="Text 7"/>
          <p:cNvSpPr/>
          <p:nvPr/>
        </p:nvSpPr>
        <p:spPr>
          <a:xfrm>
            <a:off x="5905500" y="14986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云侧 Agent Control Plane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05500" y="1905000"/>
            <a:ext cx="4445000" cy="172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200" dirty="0">
                <a:solidFill>
                  <a:srgbClr val="FFFFFF">
                    <a:alpha val="9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会话管理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200" dirty="0">
                <a:solidFill>
                  <a:srgbClr val="FFFFFF">
                    <a:alpha val="9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任务编排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200" dirty="0">
                <a:solidFill>
                  <a:srgbClr val="FFFFFF">
                    <a:alpha val="9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策略下发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200" dirty="0">
                <a:solidFill>
                  <a:srgbClr val="FFFFFF">
                    <a:alpha val="9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插件管理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200" dirty="0">
                <a:solidFill>
                  <a:srgbClr val="FFFFFF">
                    <a:alpha val="9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观测汇聚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795000" y="1397000"/>
            <a:ext cx="4699000" cy="2286000"/>
          </a:xfrm>
          <a:prstGeom prst="rect">
            <a:avLst/>
          </a:prstGeom>
          <a:solidFill>
            <a:srgbClr val="D94F1E"/>
          </a:solidFill>
          <a:ln/>
        </p:spPr>
      </p:sp>
      <p:sp>
        <p:nvSpPr>
          <p:cNvPr id="12" name="Text 10"/>
          <p:cNvSpPr/>
          <p:nvPr/>
        </p:nvSpPr>
        <p:spPr>
          <a:xfrm>
            <a:off x="10922000" y="14986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云侧 Agent Execution Plane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22000" y="1905000"/>
            <a:ext cx="4445000" cy="172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200" dirty="0">
                <a:solidFill>
                  <a:srgbClr val="FFFFFF">
                    <a:alpha val="9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远程 Query Runtime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200" dirty="0">
                <a:solidFill>
                  <a:srgbClr val="FFFFFF">
                    <a:alpha val="9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远程 Tool Runtime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200" dirty="0">
                <a:solidFill>
                  <a:srgbClr val="FFFFFF">
                    <a:alpha val="9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工作区管理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200" dirty="0">
                <a:solidFill>
                  <a:srgbClr val="FFFFFF">
                    <a:alpha val="9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后台任务执行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200" dirty="0">
                <a:solidFill>
                  <a:srgbClr val="FFFFFF">
                    <a:alpha val="9333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弹性扩缩容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406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演进关键词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62000" y="44704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分层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（端/控/执三层分离）·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代理化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（端侧是云侧的资源代理）·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控制面/执行面分离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（策略与执行独立扩缩）·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端侧资源代理 + 云侧执行编排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62000" y="5524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解决了什么问题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2000" y="59309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纯本地模式无法满足"多设备协同""团队共享""弹性计算"需求，但纯云模式又失去了本地优先的可控性和低延迟。端云协同通过分层让各层做最擅长的事。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2000" y="6985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优势与代价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62000" y="73914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b="1" dirty="0">
                <a:solidFill>
                  <a:srgbClr val="2D7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优势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：端侧保持可控和低延迟；云侧提供弹性和共享；控制面/执行面分离独立扩缩。 </a:t>
            </a:r>
            <a:pPr>
              <a:lnSpc>
                <a:spcPct val="160000"/>
              </a:lnSpc>
            </a:pPr>
            <a:r>
              <a:rPr lang="en-US" sz="1300" b="1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代价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：架构复杂度大幅增加；网络依赖引入新故障模式；数据同步和状态一致性挑战。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 远程与分布式 · 轻页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端云协同六判据</a:t>
            </a:r>
            <a:endParaRPr lang="en-US" sz="28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97000"/>
          <a:ext cx="14732000" cy="5334000"/>
        </p:xfrm>
        <a:graphic>
          <a:graphicData uri="http://schemas.openxmlformats.org/drawingml/2006/table">
            <a:tbl>
              <a:tblPr/>
              <a:tblGrid>
                <a:gridCol w="3241040"/>
                <a:gridCol w="5598160"/>
                <a:gridCol w="5892800"/>
              </a:tblGrid>
              <a:tr h="633492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判据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含义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决策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78553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本地性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强依赖本地 FS / Shell / IDE 的能力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留在端侧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553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多租户平台化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组织级能力（策略/插件/观测）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上云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8553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数据重力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计算应靠近数据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数据在哪，计算在哪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553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安全边界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最终风险闸门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留在本地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8553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弹性与成本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高并发/大规模需求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上云（弹性扩缩）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286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一致性可恢复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跨设备连续状态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上云（状态同步）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7112000"/>
            <a:ext cx="14732000" cy="889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Shape 4"/>
          <p:cNvSpPr/>
          <p:nvPr/>
        </p:nvSpPr>
        <p:spPr>
          <a:xfrm>
            <a:off x="762000" y="7112000"/>
            <a:ext cx="50800" cy="889000"/>
          </a:xfrm>
          <a:prstGeom prst="rect">
            <a:avLst/>
          </a:prstGeom>
          <a:solidFill>
            <a:srgbClr val="D94F1E"/>
          </a:solidFill>
          <a:ln/>
        </p:spPr>
      </p:sp>
      <p:sp>
        <p:nvSpPr>
          <p:cNvPr id="8" name="Text 5"/>
          <p:cNvSpPr/>
          <p:nvPr/>
        </p:nvSpPr>
        <p:spPr>
          <a:xfrm>
            <a:off x="1016000" y="7213600"/>
            <a:ext cx="1422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核心原则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：不是"什么先进上什么云"，而是按能力属性分层——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本地性强的留本地，平台化强的上云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。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49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9144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286000"/>
            <a:ext cx="4572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3556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观测与实验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318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观测不是事后记录，而是运行时能力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12000" y="4064000"/>
            <a:ext cx="812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GrowthBook 不是 feature flag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而是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运行时控制子系统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 观测与实验 · 重锤页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观测直接参与 Runtime Decision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4732000" cy="6985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97000"/>
            <a:ext cx="50800" cy="698500"/>
          </a:xfrm>
          <a:prstGeom prst="rect">
            <a:avLst/>
          </a:prstGeom>
          <a:solidFill>
            <a:srgbClr val="D94F1E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4986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1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核心判断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：观测参数本身也是实验对象——GrowthBook 决定的不只是"开不开"，而是"怎么观测"。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349500"/>
            <a:ext cx="711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GrowthBook 决定的运行时参数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2000" y="2730500"/>
            <a:ext cx="711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是否启用 Datadog sink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事件采样率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1P 批量上报参数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是否启用 enhanced telemetry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业务功能 gate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82000" y="2349500"/>
            <a:ext cx="711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物理分离：内部 vs 客户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382000" y="2730500"/>
            <a:ext cx="711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1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analytics/*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：内部产品分析（BigQuery）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1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telemetry/*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：客户 OTel（自定义 endpoint）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双通道物理隔离，客户数据不进入内部系统。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2000" y="4445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双通道架构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62000" y="48260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1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内部通道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：BigQuery metrics exporter → 产品分析、性能监控。</a:t>
            </a:r>
            <a:pPr>
              <a:lnSpc>
                <a:spcPct val="160000"/>
              </a:lnSpc>
            </a:pPr>
            <a:r>
              <a:rPr lang="en-US" sz="11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客户通道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：自定义 OTLP endpoint → 客户自有 observability 基础设施。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2000" y="5778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优势与代价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62000" y="61595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100" b="1" dirty="0">
                <a:solidFill>
                  <a:srgbClr val="2D7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优势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：观测参数可动态调整；双通道物理隔离满足合规。 </a:t>
            </a:r>
            <a:pPr>
              <a:lnSpc>
                <a:spcPct val="160000"/>
              </a:lnSpc>
            </a:pPr>
            <a:r>
              <a:rPr lang="en-US" sz="1100" b="1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代价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：GrowthBook 依赖增加外部故障点。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51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 观测与实验 · 轻页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观测架构代码位置</a:t>
            </a:r>
            <a:endParaRPr lang="en-US" sz="28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97000"/>
          <a:ext cx="14732000" cy="3810000"/>
        </p:xfrm>
        <a:graphic>
          <a:graphicData uri="http://schemas.openxmlformats.org/drawingml/2006/table">
            <a:tbl>
              <a:tblPr/>
              <a:tblGrid>
                <a:gridCol w="6629400"/>
                <a:gridCol w="3683000"/>
                <a:gridCol w="4419600"/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文件路径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职责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关键机制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src/services/analytics/index.ts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logEvent 入口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统一事件上报接口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src/services/analytics/sink.ts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路由器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事件分发到多个 sink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src/services/analytics/growthbook.ts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控制面核心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Feature flag / 实验分组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src/services/analytics/firstPartyEventLogger.ts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内部事件发射器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1P 事件生成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src/services/analytics/firstPartyEventLoggingExporter.ts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可靠投递引擎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落盘重试 + 热重建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src/utils/telemetry/instrumentation.ts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OTel 初始化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OpenTelemetry 接入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src/utils/telemetry/events.ts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事件定义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类型安全的事件枚举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 观测与实验 · 重锤页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GrowthBook：控制面状态机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4732000" cy="6985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97000"/>
            <a:ext cx="50800" cy="698500"/>
          </a:xfrm>
          <a:prstGeom prst="rect">
            <a:avLst/>
          </a:prstGeom>
          <a:solidFill>
            <a:srgbClr val="D94F1E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4986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核心判断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：不是简单 feature flag，而是 runtime control subsystem——主动接管第三方 SDK 的"最终真值层"。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4130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三类读取语义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2000" y="2819400"/>
            <a:ext cx="7112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CACHED_MAY_BE_STALE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：启动快路径，允许使用缓存值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checkSecurityRestrictionGate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：安全保守，必须获取最新值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CACHED_OR_BLOCKING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：stale=true 可接受，stale=false 不可接受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不同场景选择不同一致性级别——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不是一刀切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82000" y="24130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曝光去重机制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382000" y="2819400"/>
            <a:ext cx="7112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pendingExposures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：延迟曝光，批量上报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loggedExposures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：会话级去重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同一用户同一会话多次命中同一实验只记录一次曝光，避免实验数据失真。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2000" y="5270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remoteEvalFeatureValues：接管真值层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62000" y="5676900"/>
            <a:ext cx="14732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主动接管第三方 SDK 的"最终真值层"——不是被动等待 SDK 回调，而是主动请求并缓存评估结果。这让 GrowthBook 成为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真正的控制面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，而不是简单的配置读取器。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2000" y="6731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优势与代价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62000" y="71374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2D7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优势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：三类读取语义平衡了性能与一致性；曝光去重保证实验数据准确；remoteEval 主动控制减少外部依赖不确定性。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代价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：三类读取语义增加理解成本；缓存与真值之间的差异可能导致不一致行为；GrowthBook 故障会影响运行时决策。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 观测与实验 · 轻页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1P Event Logging：可靠投递引擎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1397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四大算法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2000" y="1778000"/>
            <a:ext cx="7112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</a:t>
            </a:r>
            <a:pPr>
              <a:lnSpc>
                <a:spcPct val="160000"/>
              </a:lnSpc>
            </a:pPr>
            <a:r>
              <a:rPr lang="en-US" sz="11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Append-only 失败缓冲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（JSONL）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失败事件追加到本地磁盘，不覆盖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</a:t>
            </a:r>
            <a:pPr>
              <a:lnSpc>
                <a:spcPct val="160000"/>
              </a:lnSpc>
            </a:pPr>
            <a:r>
              <a:rPr lang="en-US" sz="11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首次失败短路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一个 batch 首次失败即短路剩余上报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</a:t>
            </a:r>
            <a:pPr>
              <a:lnSpc>
                <a:spcPct val="160000"/>
              </a:lnSpc>
            </a:pPr>
            <a:r>
              <a:rPr lang="en-US" sz="11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Quadratic backoff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：delay = base x attempts²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</a:t>
            </a:r>
            <a:pPr>
              <a:lnSpc>
                <a:spcPct val="160000"/>
              </a:lnSpc>
            </a:pPr>
            <a:r>
              <a:rPr lang="en-US" sz="11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成功后立即回捞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：flush 磁盘积压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0" y="1397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热重建 Swap 语义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382000" y="1778000"/>
            <a:ext cx="7112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Provider 替换时的原子操作：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① 置空当前 provider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② Flush 旧 provider 剩余数据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③ 重建新 provider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④ 失败则 rollback 到旧 provider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无空窗期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——替换过程中事件不丢失。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41275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src/services/analytics/firstPartyEventLoggingExporter.ts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四大算法：append-only / first-fail short-circuit / quadratic backoff / drain-on-success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Swap 语义：empty → flush old → rebuild new → rollback on failure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9144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286000"/>
            <a:ext cx="4572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3556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端云协同优化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318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跨端工具调用的开销治理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12000" y="4064000"/>
            <a:ext cx="812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真正的问题不是"网络慢"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而是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"调用粒度错了"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 端云协同优化 · 重锤页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问题本质：调用粒度错了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397000"/>
            <a:ext cx="14732000" cy="889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97000"/>
            <a:ext cx="50800" cy="889000"/>
          </a:xfrm>
          <a:prstGeom prst="rect">
            <a:avLst/>
          </a:prstGeom>
          <a:solidFill>
            <a:srgbClr val="D94F1E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498600"/>
            <a:ext cx="1422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0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最坏模式</a:t>
            </a:r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："网络回声式 Agent"——每次只拿到一点点信息，因信息不够又发起下一次调用，形成恶性循环。云侧 Agent 沿用本地细粒度工具习惯 → 每个小动作都跨端一次。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603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问题分析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2000" y="3009900"/>
            <a:ext cx="711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本地 Agent 调用工具是微秒级延迟，但跨端调用是毫秒级甚至百毫秒级。如果云侧 Agent 沿用本地细粒度调用习惯：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每个 read_file 都跨端一次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多次序列化 + 网络往返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每次都要权限检查 + 队列调度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82000" y="2603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解决方向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382000" y="3009900"/>
            <a:ext cx="711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把端侧从</a:t>
            </a:r>
            <a:pPr>
              <a:lnSpc>
                <a:spcPct val="170000"/>
              </a:lnSpc>
            </a:pPr>
            <a:r>
              <a:rPr lang="en-US" sz="10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"被动工具服务器"</a:t>
            </a:r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升级为</a:t>
            </a:r>
            <a:pPr>
              <a:lnSpc>
                <a:spcPct val="170000"/>
              </a:lnSpc>
            </a:pPr>
            <a:r>
              <a:rPr lang="en-US" sz="10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"带缓存、带索引、可批处理、可短时自治的本地执行代理"</a:t>
            </a:r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减少跨端调用次数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增大每次调用的信息量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端侧局部自治决策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2000" y="4826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优势与代价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62000" y="52324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000" b="1" dirty="0">
                <a:solidFill>
                  <a:srgbClr val="2D7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优势</a:t>
            </a:r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：跨端调用次数数量级减少；端侧缓存降低延迟；批处理提高吞吐；短时自治减少网络依赖。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000" b="1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代价</a:t>
            </a:r>
            <a:pPr>
              <a:lnSpc>
                <a:spcPct val="170000"/>
              </a:lnSpc>
            </a:pPr>
            <a:r>
              <a:rPr lang="en-US" sz="1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：端侧逻辑复杂度增加；缓存一致性需要维护；自治决策可能偏离云侧意图；调试需要同时理解两端状态。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56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 端云协同优化 · 轻页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四层优化模型与工具分类</a:t>
            </a:r>
            <a:endParaRPr lang="en-US" sz="28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97000"/>
          <a:ext cx="8890000" cy="3048000"/>
        </p:xfrm>
        <a:graphic>
          <a:graphicData uri="http://schemas.openxmlformats.org/drawingml/2006/table">
            <a:tbl>
              <a:tblPr/>
              <a:tblGrid>
                <a:gridCol w="1333500"/>
                <a:gridCol w="3111500"/>
                <a:gridCol w="444500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层级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策略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示例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L1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工具粒度优化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batch_read 替代多次 read_file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L2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端侧缓存与快照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workspace snapshot + file hash + git HEAD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L3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端侧局部自治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plan bundle + bounded autonomy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L4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云侧规划与分叉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云侧规划任务，端侧分叉执行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160000" y="1397000"/>
            <a:ext cx="533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工具三分法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160000" y="1816100"/>
            <a:ext cx="533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Cloud-native tools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云端执行（搜索、知识库）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Local-bound tools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端侧执行（FS、Shell、Git）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tools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优先云侧，必要时回源端侧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62000" y="4826000"/>
            <a:ext cx="14732000" cy="889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9" name="Shape 6"/>
          <p:cNvSpPr/>
          <p:nvPr/>
        </p:nvSpPr>
        <p:spPr>
          <a:xfrm>
            <a:off x="762000" y="4826000"/>
            <a:ext cx="50800" cy="889000"/>
          </a:xfrm>
          <a:prstGeom prst="rect">
            <a:avLst/>
          </a:prstGeom>
          <a:solidFill>
            <a:srgbClr val="D94F1E"/>
          </a:solidFill>
          <a:ln/>
        </p:spPr>
      </p:sp>
      <p:sp>
        <p:nvSpPr>
          <p:cNvPr id="10" name="Text 7"/>
          <p:cNvSpPr/>
          <p:nvPr/>
        </p:nvSpPr>
        <p:spPr>
          <a:xfrm>
            <a:off x="1016000" y="4927600"/>
            <a:ext cx="1422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核心原则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：工具必须按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资源绑定类型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分类，不是按"是否先进"分类。本地性强的工具不应强行云化，云化收益高的工具不应留在本地。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9144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286000"/>
            <a:ext cx="4572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3556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设计哲学总结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318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从源码中提炼的架构智慧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12000" y="4064000"/>
            <a:ext cx="812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不是"让模型调用函数"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而是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让 Agent 安全可控地持续运行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 设计哲学总结 · 重锤页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八条稳定的设计原则</a:t>
            </a:r>
            <a:endParaRPr lang="en-US" sz="28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97000"/>
          <a:ext cx="14732000" cy="6350000"/>
        </p:xfrm>
        <a:graphic>
          <a:graphicData uri="http://schemas.openxmlformats.org/drawingml/2006/table">
            <a:tbl>
              <a:tblPr/>
              <a:tblGrid>
                <a:gridCol w="736600"/>
                <a:gridCol w="3683000"/>
                <a:gridCol w="10312400"/>
              </a:tblGrid>
              <a:tr h="62996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#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原则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体现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71815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复杂度按层切开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QueryEngine（会话编排）/ query.ts（Turn 状态机）/ claude.ts（API 协议编译）三层分离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15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消息是一等公民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所有能力映射为消息变换（Skill→Command→SkillTool→Message）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1815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错误是正常分支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prompt_too_long / max_output_tokens / streaming fallback 都有显式恢复路径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15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协议正确性优先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normalizeMessagesForAPI() + ensureToolResultPairing() 保证 API 消息结构合法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1815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默认保守局部放开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buildTool() 安全默认值：isConcurrencySafe→false, isReadOnly→false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15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观测即运行时能力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GrowthBook 直接参与运行时决策（采样率、功能 gate、telemetry 开关）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1815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7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隐私先于观测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analytics（内部）与 telemetry（客户）物理分离，客户数据不进入内部系统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295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8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动态配置是热控制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GrowthBook 三类读取语义 + 1P Event Logging 热重建 swap 语义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59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 设计哲学总结 · 轻页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关键设计红线</a:t>
            </a:r>
            <a:endParaRPr lang="en-US" sz="28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97000"/>
          <a:ext cx="14732000" cy="4826000"/>
        </p:xfrm>
        <a:graphic>
          <a:graphicData uri="http://schemas.openxmlformats.org/drawingml/2006/table">
            <a:tbl>
              <a:tblPr/>
              <a:tblGrid>
                <a:gridCol w="736600"/>
                <a:gridCol w="6629400"/>
                <a:gridCol w="7366000"/>
              </a:tblGrid>
              <a:tr h="60325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#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红线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原因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不要破坏 Command/Tool/Message 三大协议面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三大抽象是整个系统的稳定边界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不要让云端越过本地最终安全边界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本地审批权是用户信任的底线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不要把 AppState 直接服务端化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状态分层（UI/运行时/持久化）不可混淆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不要忽视断网/弱网模式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Agent 必须优雅降级，不能网络一断就崩溃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工具必须按资源绑定类型分类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不是按"是否先进"分类，local-bound 不应强行云化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不要混用 UI 消息域和 API 协议域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normalizeMessagesForAPI() 的存在就是为了隔离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7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PermissionResult 不能退化为布尔值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可解释、可追踪、可审计是权限系统的底线</a:t>
                      </a:r>
                      <a:endParaRPr lang="en-US" sz="16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6604000"/>
            <a:ext cx="14732000" cy="889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Shape 4"/>
          <p:cNvSpPr/>
          <p:nvPr/>
        </p:nvSpPr>
        <p:spPr>
          <a:xfrm>
            <a:off x="762000" y="6604000"/>
            <a:ext cx="50800" cy="889000"/>
          </a:xfrm>
          <a:prstGeom prst="rect">
            <a:avLst/>
          </a:prstGeom>
          <a:solidFill>
            <a:srgbClr val="D94F1E"/>
          </a:solidFill>
          <a:ln/>
        </p:spPr>
      </p:sp>
      <p:sp>
        <p:nvSpPr>
          <p:cNvPr id="8" name="Text 5"/>
          <p:cNvSpPr/>
          <p:nvPr/>
        </p:nvSpPr>
        <p:spPr>
          <a:xfrm>
            <a:off x="1016000" y="6705600"/>
            <a:ext cx="1422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这些红线不是"建议"，而是架构的底线约束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。违反任何一条都会导致系统逐渐失去可控性和可维护性。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5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 设计哲学总结 · 重锤页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代价与权衡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2000" y="1397000"/>
            <a:ext cx="711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集中式 Composition Root 的代价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2000" y="17780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main.tsx / REPL.tsx / claude.ts 体量很大，承担过多编排责任。修改影响面广。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0" y="1397000"/>
            <a:ext cx="711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分支复杂度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382000" y="17780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flag / env / 用户类型 / 远程模式叠加后分支复杂度高，组合爆炸是真实风险。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2794000"/>
            <a:ext cx="711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全局状态的维护负担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62000" y="31750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bootstrap/state.ts 范围很广——长期维护负担。全局状态让副作用难以隔离。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82000" y="2794000"/>
            <a:ext cx="711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三层状态的交叉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382000" y="31750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UI 状态 / 运行时状态 / 持久化状态三层交叉较多——理解成本高。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4318000"/>
            <a:ext cx="14732000" cy="889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4318000"/>
            <a:ext cx="50800" cy="889000"/>
          </a:xfrm>
          <a:prstGeom prst="rect">
            <a:avLst/>
          </a:prstGeom>
          <a:solidFill>
            <a:srgbClr val="D94F1E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4419600"/>
            <a:ext cx="1422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但这些不是"过度工程"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，而是 Agent Runtime 在真实生产场景下的</a:t>
            </a:r>
            <a:pPr>
              <a:lnSpc>
                <a:spcPct val="160000"/>
              </a:lnSpc>
            </a:pPr>
            <a:r>
              <a:rPr lang="en-US" sz="13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必需复杂度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。简单系统无法处理权限审批、上下文压缩、远程协同的组合需求。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61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096000" cy="9144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2540000"/>
            <a:ext cx="4572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谢谢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3810000"/>
            <a:ext cx="482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源码是最好的架构文档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Claude Code 的设计哲学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12000" y="3048000"/>
            <a:ext cx="8128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不是"让模型调用函数"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2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而是</a:t>
            </a:r>
            <a:pPr>
              <a:lnSpc>
                <a:spcPct val="180000"/>
              </a:lnSpc>
            </a:pPr>
            <a:r>
              <a:rPr lang="en-US" sz="2200" b="1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在真实生产环境中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200" b="1" dirty="0">
                <a:solidFill>
                  <a:srgbClr val="D94F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让 Agent 安全、可控、可恢复地持续运行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12000" y="5080000"/>
            <a:ext cx="812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 个章节 · 62 页 · 4 小时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从架构视角深入源码，逐层拆解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执行内核 · 命令工具 · MCP · 插件 · 权限 · 上下文 · 远程 · 观测 · 端云协同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从架构视角深入源码：Claude Code 的 Harness 设计哲学</dc:title>
  <dc:subject>从架构视角深入源码：Claude Code 的 Harness 设计哲学</dc:subject>
  <dc:creator>Kimi</dc:creator>
  <cp:lastModifiedBy>Kimi</cp:lastModifiedBy>
  <cp:revision>1</cp:revision>
  <dcterms:created xsi:type="dcterms:W3CDTF">2026-04-23T11:47:29Z</dcterms:created>
  <dcterms:modified xsi:type="dcterms:W3CDTF">2026-04-23T11:47:29Z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{"Label":"从架构视角深入源码：Claude Code 的 Harness 设计哲学","ContentProducer":"001191110108MACG2KBH8F10000","ProduceID":"19db9d28-8152-8971-8000-0000c39bb938","ReservedCode1":"","ContentPropagator":"001191110108MACG2KBH8F20000","PropagateID":"19db9d28-8152-8971-8000-0000c39bb938","ReservedCode2":""}</vt:lpwstr>
  </property>
</Properties>
</file>